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8" userDrawn="1">
          <p15:clr>
            <a:srgbClr val="A4A3A4"/>
          </p15:clr>
        </p15:guide>
        <p15:guide id="2" pos="29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248"/>
        <p:guide pos="292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image" Target="../media/image14.jpeg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4.jpeg"/><Relationship Id="rId1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479847"/>
            <a:ext cx="18415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第十八届挑战杯　·　主体赛特等奖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1648" y="1479847"/>
            <a:ext cx="996751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2026 / 10 / 18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035472"/>
            <a:ext cx="9956800" cy="25789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719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C8A870"/>
                </a:solidFill>
                <a:latin typeface="Cambria" panose="02040503050406030204"/>
                <a:ea typeface="Noto Sans SC" panose="020B0200000000000000" charset="-122"/>
              </a:rPr>
              <a:t>御磁坚盾</a:t>
            </a:r>
            <a:r>
              <a:rPr sz="6200" b="1">
                <a:solidFill>
                  <a:srgbClr val="E2DCD0"/>
                </a:solidFill>
                <a:latin typeface="Cambria" panose="02040503050406030204"/>
                <a:ea typeface="Noto Sans SC" panose="020B0200000000000000" charset="-122"/>
              </a:rPr>
              <a:t>——国内首创超轻高</a:t>
            </a:r>
            <a:endParaRPr sz="6200" b="1">
              <a:solidFill>
                <a:srgbClr val="E2DCD0"/>
              </a:solidFill>
              <a:latin typeface="Cambria" panose="02040503050406030204"/>
              <a:ea typeface="Noto Sans SC" panose="020B0200000000000000" charset="-122"/>
            </a:endParaRPr>
          </a:p>
          <a:p>
            <a:pPr algn="l">
              <a:lnSpc>
                <a:spcPts val="719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E2DCD0"/>
                </a:solidFill>
                <a:latin typeface="Cambria" panose="02040503050406030204"/>
                <a:ea typeface="Noto Sans SC" panose="020B0200000000000000" charset="-122"/>
              </a:rPr>
              <a:t>强韧镁锂基电磁屏蔽材料</a:t>
            </a:r>
            <a:endParaRPr sz="6200" b="1">
              <a:solidFill>
                <a:srgbClr val="E2DCD0"/>
              </a:solidFill>
              <a:latin typeface="Cambria" panose="02040503050406030204"/>
              <a:ea typeface="Noto Sans SC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4351039"/>
            <a:ext cx="1979513" cy="25685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汇报人：翔安校科创 C 组</a:t>
            </a:r>
            <a:endParaRPr sz="1350" b="0">
              <a:solidFill>
                <a:srgbClr val="E2DCD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98713" y="4471689"/>
            <a:ext cx="495300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6 名成员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4824710"/>
            <a:ext cx="2343150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朱雅琪</a:t>
            </a:r>
            <a:r>
              <a:rPr sz="9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　资料搜集、策划书制作、推文完善</a:t>
            </a:r>
            <a:endParaRPr sz="9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87267" y="4824710"/>
            <a:ext cx="2221011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江佳忆</a:t>
            </a:r>
            <a:r>
              <a:rPr sz="9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　PPT 完善、资料搜集、汇报答辩</a:t>
            </a:r>
            <a:endParaRPr sz="9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60233" y="4824710"/>
            <a:ext cx="1617761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黄道然</a:t>
            </a:r>
            <a:r>
              <a:rPr sz="9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　资料搜集、PPT 完善</a:t>
            </a:r>
            <a:endParaRPr sz="9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5133181"/>
            <a:ext cx="1376461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叶国为</a:t>
            </a:r>
            <a:r>
              <a:rPr sz="9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　PPT 制作、汇报</a:t>
            </a:r>
            <a:endParaRPr sz="9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87267" y="5133181"/>
            <a:ext cx="893861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易安</a:t>
            </a:r>
            <a:r>
              <a:rPr sz="9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　PPT 制作</a:t>
            </a:r>
            <a:endParaRPr sz="9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60233" y="5133181"/>
            <a:ext cx="895350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袁浩</a:t>
            </a:r>
            <a:r>
              <a:rPr sz="9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　推文制作</a:t>
            </a:r>
            <a:endParaRPr sz="9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1"/>
          <a:srcRect l="34729" t="15824" r="9672" b="54241"/>
          <a:stretch>
            <a:fillRect/>
          </a:stretch>
        </p:blipFill>
        <p:spPr>
          <a:xfrm>
            <a:off x="0" y="-1270"/>
            <a:ext cx="12192000" cy="68586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8300"/>
            <a:ext cx="5080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御磁坚盾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01094" y="39878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02 / 28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7580" y="945415"/>
            <a:ext cx="15240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内容导航</a:t>
            </a:r>
            <a:endParaRPr sz="29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227330" y="1853684"/>
            <a:ext cx="334010" cy="173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01</a:t>
            </a:r>
            <a:endParaRPr b="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741680" y="1847334"/>
            <a:ext cx="1219200" cy="250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A2030"/>
                </a:solidFill>
                <a:latin typeface="DM Sans"/>
                <a:ea typeface="Noto Sans SC" panose="020B0200000000000000" charset="-122"/>
              </a:rPr>
              <a:t>开场引入</a:t>
            </a:r>
            <a:endParaRPr sz="2400" b="0">
              <a:solidFill>
                <a:srgbClr val="1A203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2567543" y="1853684"/>
            <a:ext cx="254000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挑战杯赛事与项目荣誉</a:t>
            </a:r>
            <a:endParaRPr sz="20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233680" y="3088084"/>
            <a:ext cx="334010" cy="173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02</a:t>
            </a:r>
            <a:endParaRPr b="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741680" y="3081734"/>
            <a:ext cx="1524000" cy="250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A2030"/>
                </a:solidFill>
                <a:latin typeface="DM Sans"/>
                <a:ea typeface="Noto Sans SC" panose="020B0200000000000000" charset="-122"/>
              </a:rPr>
              <a:t>背景与灵感</a:t>
            </a:r>
            <a:endParaRPr sz="2400" b="0">
              <a:solidFill>
                <a:srgbClr val="1A203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2567543" y="3088084"/>
            <a:ext cx="330200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航空电磁之困与弹球游戏启发</a:t>
            </a:r>
            <a:endParaRPr sz="20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233680" y="4532034"/>
            <a:ext cx="334010" cy="173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03</a:t>
            </a:r>
            <a:endParaRPr b="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9"/>
            </p:custDataLst>
          </p:nvPr>
        </p:nvSpPr>
        <p:spPr>
          <a:xfrm>
            <a:off x="741680" y="4525684"/>
            <a:ext cx="1219200" cy="250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A2030"/>
                </a:solidFill>
                <a:latin typeface="DM Sans"/>
                <a:ea typeface="Noto Sans SC" panose="020B0200000000000000" charset="-122"/>
              </a:rPr>
              <a:t>项目概况</a:t>
            </a:r>
            <a:endParaRPr sz="2400" b="0">
              <a:solidFill>
                <a:srgbClr val="1A203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10"/>
            </p:custDataLst>
          </p:nvPr>
        </p:nvSpPr>
        <p:spPr>
          <a:xfrm>
            <a:off x="2285603" y="4532034"/>
            <a:ext cx="358394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基础信息 · 项目内容 · 名师支撑</a:t>
            </a:r>
            <a:endParaRPr sz="20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11"/>
            </p:custDataLst>
          </p:nvPr>
        </p:nvSpPr>
        <p:spPr>
          <a:xfrm>
            <a:off x="6121400" y="1847334"/>
            <a:ext cx="334010" cy="173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04</a:t>
            </a:r>
            <a:endParaRPr b="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6635750" y="1840984"/>
            <a:ext cx="1524000" cy="250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A2030"/>
                </a:solidFill>
                <a:latin typeface="DM Sans"/>
                <a:ea typeface="Noto Sans SC" panose="020B0200000000000000" charset="-122"/>
              </a:rPr>
              <a:t>创新与成果</a:t>
            </a:r>
            <a:endParaRPr sz="2400" b="0">
              <a:solidFill>
                <a:srgbClr val="1A203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13"/>
            </p:custDataLst>
          </p:nvPr>
        </p:nvSpPr>
        <p:spPr>
          <a:xfrm>
            <a:off x="8727440" y="1765300"/>
            <a:ext cx="3140075" cy="10788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三项创新 · 核心指标 </a:t>
            </a:r>
            <a:endParaRPr sz="20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endParaRPr sz="20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学术成果 · 产业化</a:t>
            </a:r>
            <a:endParaRPr sz="20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4"/>
            </p:custDataLst>
          </p:nvPr>
        </p:nvSpPr>
        <p:spPr>
          <a:xfrm>
            <a:off x="6127750" y="3081734"/>
            <a:ext cx="334010" cy="173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05</a:t>
            </a:r>
            <a:endParaRPr b="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5"/>
            </p:custDataLst>
          </p:nvPr>
        </p:nvSpPr>
        <p:spPr>
          <a:xfrm>
            <a:off x="6635750" y="3075384"/>
            <a:ext cx="1219200" cy="250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A2030"/>
                </a:solidFill>
                <a:latin typeface="DM Sans"/>
                <a:ea typeface="Noto Sans SC" panose="020B0200000000000000" charset="-122"/>
              </a:rPr>
              <a:t>团队介绍</a:t>
            </a:r>
            <a:endParaRPr sz="2400" b="0">
              <a:solidFill>
                <a:srgbClr val="1A203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6"/>
            </p:custDataLst>
          </p:nvPr>
        </p:nvSpPr>
        <p:spPr>
          <a:xfrm>
            <a:off x="8159789" y="3075384"/>
            <a:ext cx="358394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八人分工 · 团队形成 · 协作传承</a:t>
            </a:r>
            <a:endParaRPr sz="20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7"/>
            </p:custDataLst>
          </p:nvPr>
        </p:nvSpPr>
        <p:spPr>
          <a:xfrm>
            <a:off x="6127750" y="4525684"/>
            <a:ext cx="334010" cy="173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06</a:t>
            </a:r>
            <a:endParaRPr b="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8"/>
            </p:custDataLst>
          </p:nvPr>
        </p:nvSpPr>
        <p:spPr>
          <a:xfrm>
            <a:off x="6635750" y="4519334"/>
            <a:ext cx="1524000" cy="250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A2030"/>
                </a:solidFill>
                <a:latin typeface="DM Sans"/>
                <a:ea typeface="Noto Sans SC" panose="020B0200000000000000" charset="-122"/>
              </a:rPr>
              <a:t>历程与启示</a:t>
            </a:r>
            <a:endParaRPr sz="2400" b="0">
              <a:solidFill>
                <a:srgbClr val="1A203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9"/>
            </p:custDataLst>
          </p:nvPr>
        </p:nvSpPr>
        <p:spPr>
          <a:xfrm>
            <a:off x="8429664" y="4525684"/>
            <a:ext cx="306197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发展历程 · 总结与科创启示</a:t>
            </a:r>
            <a:endParaRPr sz="20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04814"/>
            <a:ext cx="321567" cy="2482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86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01</a:t>
            </a:r>
            <a:endParaRPr sz="1300" b="0" spc="286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5350" y="2576314"/>
            <a:ext cx="8940800" cy="204030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“</a:t>
            </a:r>
            <a:r>
              <a:rPr sz="48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挑战杯</a:t>
            </a:r>
            <a:r>
              <a:rPr sz="4800" b="1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”</a:t>
            </a:r>
            <a:r>
              <a:rPr sz="48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全国大学生课外学术科</a:t>
            </a:r>
            <a:endParaRPr sz="48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  <a:p>
            <a:pPr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技作品竞赛</a:t>
            </a:r>
            <a:endParaRPr sz="48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4242395"/>
            <a:ext cx="5765800" cy="7540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挑战杯，大学生科创的最高舞台</a:t>
            </a:r>
            <a:endParaRPr sz="13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认识“大挑”，看懂这份荣誉的分量</a:t>
            </a:r>
            <a:endParaRPr sz="13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lide04_a.png"/>
          <p:cNvPicPr>
            <a:picLocks noChangeAspect="1"/>
          </p:cNvPicPr>
          <p:nvPr/>
        </p:nvPicPr>
        <p:blipFill>
          <a:blip r:embed="rId2"/>
          <a:srcRect t="10400" r="75196"/>
          <a:stretch>
            <a:fillRect/>
          </a:stretch>
        </p:blipFill>
        <p:spPr>
          <a:xfrm>
            <a:off x="984250" y="2802890"/>
            <a:ext cx="1206500" cy="2445385"/>
          </a:xfrm>
          <a:prstGeom prst="rect">
            <a:avLst/>
          </a:prstGeom>
        </p:spPr>
      </p:pic>
      <p:pic>
        <p:nvPicPr>
          <p:cNvPr id="4" name="Picture 3" descr="slide04_b.png"/>
          <p:cNvPicPr>
            <a:picLocks noChangeAspect="1"/>
          </p:cNvPicPr>
          <p:nvPr/>
        </p:nvPicPr>
        <p:blipFill>
          <a:blip r:embed="rId3"/>
          <a:srcRect t="87766"/>
          <a:stretch>
            <a:fillRect/>
          </a:stretch>
        </p:blipFill>
        <p:spPr>
          <a:xfrm>
            <a:off x="6343650" y="4979035"/>
            <a:ext cx="48641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68300"/>
            <a:ext cx="5080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开场引入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9827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04 / 28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1700" y="1177528"/>
            <a:ext cx="5116413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认识</a:t>
            </a:r>
            <a:r>
              <a:rPr sz="2900" b="1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“</a:t>
            </a:r>
            <a:r>
              <a:rPr sz="29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大挑</a:t>
            </a:r>
            <a:r>
              <a:rPr sz="2900" b="1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”</a:t>
            </a:r>
            <a:r>
              <a:rPr sz="29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：赛事介绍与含金量</a:t>
            </a:r>
            <a:endParaRPr sz="29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1731466"/>
            <a:ext cx="1937841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0A8"/>
                </a:solidFill>
                <a:latin typeface="DM Sans"/>
                <a:ea typeface="Noto Sans SC" panose="020B0200000000000000" charset="-122"/>
              </a:rPr>
              <a:t>“大挑”赛事要点——理解这份荣誉的分量</a:t>
            </a:r>
            <a:endParaRPr sz="850" b="0">
              <a:solidFill>
                <a:srgbClr val="9AA0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213371"/>
            <a:ext cx="18593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01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38435" y="2118121"/>
            <a:ext cx="11176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一、基础信息</a:t>
            </a:r>
            <a:endParaRPr sz="14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73800" y="2207021"/>
            <a:ext cx="18593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05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97835" y="2118121"/>
            <a:ext cx="18288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二、赛事含金量与价值</a:t>
            </a:r>
            <a:endParaRPr sz="14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5512891"/>
            <a:ext cx="4257476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0A8"/>
                </a:solidFill>
                <a:latin typeface="DM Sans"/>
                <a:ea typeface="Noto Sans SC" panose="020B0200000000000000" charset="-122"/>
              </a:rPr>
              <a:t>左图：“大挑”赛事基础信息　　右图：赛事含金量与价值　（素材整理自“大挑”赛事介绍）</a:t>
            </a:r>
            <a:endParaRPr sz="850" b="0">
              <a:solidFill>
                <a:srgbClr val="9AA0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  <p:pic>
        <p:nvPicPr>
          <p:cNvPr id="15" name="图片 14" descr="修改图片白色字体为黑色"/>
          <p:cNvPicPr>
            <a:picLocks noChangeAspect="1"/>
          </p:cNvPicPr>
          <p:nvPr/>
        </p:nvPicPr>
        <p:blipFill>
          <a:blip r:embed="rId4"/>
          <a:srcRect r="7622" b="6097"/>
          <a:stretch>
            <a:fillRect/>
          </a:stretch>
        </p:blipFill>
        <p:spPr>
          <a:xfrm>
            <a:off x="965200" y="2689860"/>
            <a:ext cx="4927600" cy="2233930"/>
          </a:xfrm>
          <a:prstGeom prst="rect">
            <a:avLst/>
          </a:prstGeom>
        </p:spPr>
      </p:pic>
      <p:pic>
        <p:nvPicPr>
          <p:cNvPr id="19" name="图片 18" descr="修改图片白色字体为黑色"/>
          <p:cNvPicPr>
            <a:picLocks noChangeAspect="1"/>
          </p:cNvPicPr>
          <p:nvPr/>
        </p:nvPicPr>
        <p:blipFill>
          <a:blip r:embed="rId4"/>
          <a:srcRect t="85969" b="12897"/>
          <a:stretch>
            <a:fillRect/>
          </a:stretch>
        </p:blipFill>
        <p:spPr>
          <a:xfrm>
            <a:off x="965200" y="4923790"/>
            <a:ext cx="4899025" cy="123825"/>
          </a:xfrm>
          <a:prstGeom prst="rect">
            <a:avLst/>
          </a:prstGeom>
        </p:spPr>
      </p:pic>
      <p:pic>
        <p:nvPicPr>
          <p:cNvPr id="20" name="Picture 3" descr="slide04_b.png"/>
          <p:cNvPicPr>
            <a:picLocks noChangeAspect="1"/>
          </p:cNvPicPr>
          <p:nvPr/>
        </p:nvPicPr>
        <p:blipFill>
          <a:blip r:embed="rId3"/>
          <a:srcRect t="20299" b="15791"/>
          <a:stretch>
            <a:fillRect/>
          </a:stretch>
        </p:blipFill>
        <p:spPr>
          <a:xfrm>
            <a:off x="6224905" y="2880995"/>
            <a:ext cx="5029200" cy="18522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8300"/>
            <a:ext cx="5080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开场引入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05 / 28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084486"/>
            <a:ext cx="41021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挑战杯舞台上的御磁坚盾</a:t>
            </a:r>
            <a:endParaRPr sz="29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632075"/>
            <a:ext cx="2425700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挑战杯被誉为当代大学生科技创新的奥林匹克盛会</a:t>
            </a:r>
            <a:endParaRPr sz="85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3196530"/>
            <a:ext cx="7594600" cy="336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挑战杯舞台之上，</a:t>
            </a:r>
            <a:r>
              <a:rPr sz="1800" b="0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御磁坚盾</a:t>
            </a:r>
            <a:r>
              <a:rPr sz="18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以材料之韧守护科技之梦，点亮青年创新之光。</a:t>
            </a:r>
            <a:endParaRPr sz="18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916560"/>
            <a:ext cx="804763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01　赛事影响力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68400" y="4145160"/>
            <a:ext cx="298450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第十八届</a:t>
            </a:r>
            <a:r>
              <a:rPr sz="10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挑战杯全国大学生课外学术科技作品竞赛</a:t>
            </a:r>
            <a:endParaRPr sz="10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68400" y="4464050"/>
            <a:ext cx="231775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全国</a:t>
            </a:r>
            <a:r>
              <a:rPr sz="105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最具影响力</a:t>
            </a:r>
            <a:r>
              <a:rPr sz="10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的大学生科创赛事之一</a:t>
            </a:r>
            <a:endParaRPr sz="10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29150" y="3916560"/>
            <a:ext cx="7015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02　团队登台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83150" y="4145160"/>
            <a:ext cx="181987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哈尔滨工程大学</a:t>
            </a:r>
            <a:r>
              <a:rPr sz="105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 御磁坚盾</a:t>
            </a:r>
            <a:r>
              <a:rPr sz="10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团队</a:t>
            </a:r>
            <a:endParaRPr sz="10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83150" y="4464050"/>
            <a:ext cx="205105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荣获第十八届挑战杯主体赛</a:t>
            </a:r>
            <a:r>
              <a:rPr sz="1050" b="0">
                <a:solidFill>
                  <a:srgbClr val="C8A870"/>
                </a:solidFill>
                <a:latin typeface="DM Sans"/>
                <a:ea typeface="Noto Sans SC" panose="020B0200000000000000" charset="-122"/>
              </a:rPr>
              <a:t>特等奖</a:t>
            </a:r>
            <a:endParaRPr sz="1050" b="0">
              <a:solidFill>
                <a:srgbClr val="C8A8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77200" y="3916560"/>
            <a:ext cx="7015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03　项目定位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77200" y="4195960"/>
            <a:ext cx="3251200" cy="604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国内首个</a:t>
            </a:r>
            <a:r>
              <a:rPr sz="10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集超轻、高强韧、高电磁屏蔽性于一体的</a:t>
            </a:r>
            <a:endParaRPr sz="10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多功能镁锂基复合材料</a:t>
            </a:r>
            <a:endParaRPr sz="10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370534"/>
            <a:ext cx="321567" cy="2482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86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02</a:t>
            </a:r>
            <a:endParaRPr sz="1300" b="0" spc="286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935684"/>
            <a:ext cx="2489200" cy="857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项目概况</a:t>
            </a:r>
            <a:endParaRPr sz="48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870325"/>
            <a:ext cx="5765800" cy="7540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八人团队，三年探索</a:t>
            </a:r>
            <a:endParaRPr sz="135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从学院课堂到国家需求的完整项目画像</a:t>
            </a:r>
            <a:endParaRPr sz="135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8300"/>
            <a:ext cx="5080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项目概况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07 / 28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607343"/>
            <a:ext cx="22606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基础信息一览</a:t>
            </a:r>
            <a:endParaRPr sz="29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440682"/>
            <a:ext cx="812800" cy="217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DCD0"/>
                </a:solidFill>
                <a:latin typeface="DM Sans Medium"/>
                <a:ea typeface="Noto Sans SC Medium" panose="020B0200000000000000" charset="-122"/>
              </a:rPr>
              <a:t>项目名称</a:t>
            </a:r>
            <a:endParaRPr sz="1600" b="0">
              <a:solidFill>
                <a:srgbClr val="E2DCD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71750" y="2440682"/>
            <a:ext cx="360680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御磁坚盾——超轻高强韧镁锂基电磁屏蔽材料</a:t>
            </a:r>
            <a:endParaRPr sz="140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802632"/>
            <a:ext cx="812800" cy="217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DCD0"/>
                </a:solidFill>
                <a:latin typeface="DM Sans Medium"/>
                <a:ea typeface="Noto Sans SC Medium" panose="020B0200000000000000" charset="-122"/>
              </a:rPr>
              <a:t>参赛赛事</a:t>
            </a:r>
            <a:endParaRPr sz="1600" b="0">
              <a:solidFill>
                <a:srgbClr val="E2DCD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65400" y="2802632"/>
            <a:ext cx="302260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第十八届挑战杯课外学术科技作品竞赛</a:t>
            </a:r>
            <a:endParaRPr sz="140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164582"/>
            <a:ext cx="812800" cy="217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DCD0"/>
                </a:solidFill>
                <a:latin typeface="DM Sans Medium"/>
                <a:ea typeface="Noto Sans SC Medium" panose="020B0200000000000000" charset="-122"/>
              </a:rPr>
              <a:t>参赛赛道</a:t>
            </a:r>
            <a:endParaRPr sz="1600" b="0">
              <a:solidFill>
                <a:srgbClr val="E2DCD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65400" y="3164582"/>
            <a:ext cx="53340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主体赛</a:t>
            </a:r>
            <a:endParaRPr sz="140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3526532"/>
            <a:ext cx="812800" cy="217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DCD0"/>
                </a:solidFill>
                <a:latin typeface="DM Sans Medium"/>
                <a:ea typeface="Noto Sans SC Medium" panose="020B0200000000000000" charset="-122"/>
              </a:rPr>
              <a:t>推报学院</a:t>
            </a:r>
            <a:endParaRPr sz="1600" b="0">
              <a:solidFill>
                <a:srgbClr val="E2DCD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65400" y="3526532"/>
            <a:ext cx="195580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材料科学与化学工程学院</a:t>
            </a:r>
            <a:endParaRPr sz="140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3888482"/>
            <a:ext cx="812800" cy="217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DCD0"/>
                </a:solidFill>
                <a:latin typeface="DM Sans Medium"/>
                <a:ea typeface="Noto Sans SC Medium" panose="020B0200000000000000" charset="-122"/>
              </a:rPr>
              <a:t>团队规模</a:t>
            </a:r>
            <a:endParaRPr sz="1600" b="0">
              <a:solidFill>
                <a:srgbClr val="E2DCD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65400" y="3888482"/>
            <a:ext cx="3057525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8 名本科生（大四 4 人、大三 4 人）</a:t>
            </a:r>
            <a:endParaRPr sz="140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4250432"/>
            <a:ext cx="812800" cy="217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DCD0"/>
                </a:solidFill>
                <a:latin typeface="DM Sans Medium"/>
                <a:ea typeface="Noto Sans SC Medium" panose="020B0200000000000000" charset="-122"/>
              </a:rPr>
              <a:t>指导教师</a:t>
            </a:r>
            <a:endParaRPr sz="1600" b="0">
              <a:solidFill>
                <a:srgbClr val="E2DCD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65400" y="4250432"/>
            <a:ext cx="195580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巫瑞智、张万顺、侯乐干</a:t>
            </a:r>
            <a:endParaRPr sz="140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4612382"/>
            <a:ext cx="812800" cy="217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DCD0"/>
                </a:solidFill>
                <a:latin typeface="DM Sans Medium"/>
                <a:ea typeface="Noto Sans SC Medium" panose="020B0200000000000000" charset="-122"/>
              </a:rPr>
              <a:t>获奖等级</a:t>
            </a:r>
            <a:endParaRPr sz="1600" b="0">
              <a:solidFill>
                <a:srgbClr val="E2DCD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65400" y="4612382"/>
            <a:ext cx="106680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主体赛特等奖</a:t>
            </a:r>
            <a:endParaRPr sz="140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" y="4974332"/>
            <a:ext cx="812800" cy="217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DCD0"/>
                </a:solidFill>
                <a:latin typeface="DM Sans Medium"/>
                <a:ea typeface="Noto Sans SC Medium" panose="020B0200000000000000" charset="-122"/>
              </a:rPr>
              <a:t>研究周期</a:t>
            </a:r>
            <a:endParaRPr sz="1600" b="0">
              <a:solidFill>
                <a:srgbClr val="E2DCD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65400" y="4974332"/>
            <a:ext cx="446659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探索约三年，2022 年 8 月至 2023 年 5 月集中实验</a:t>
            </a:r>
            <a:endParaRPr sz="140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8300"/>
            <a:ext cx="5080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项目概况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9827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08 / 28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780976"/>
            <a:ext cx="41021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项目内容：面向国家需求</a:t>
            </a:r>
            <a:endParaRPr sz="29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334914"/>
            <a:ext cx="2857500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0A8"/>
                </a:solidFill>
                <a:latin typeface="DM Sans"/>
                <a:ea typeface="Noto Sans SC" panose="020B0200000000000000" charset="-122"/>
              </a:rPr>
              <a:t>超轻高强韧镁锂基电磁屏蔽材料，面向新质生产力应用需求</a:t>
            </a:r>
            <a:endParaRPr sz="850" b="0">
              <a:solidFill>
                <a:srgbClr val="9AA0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912070"/>
            <a:ext cx="513080" cy="134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项目名称</a:t>
            </a:r>
            <a:endParaRPr sz="9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22500" y="2816820"/>
            <a:ext cx="3200400" cy="269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chemeClr val="tx1"/>
                </a:solidFill>
                <a:latin typeface="Cambria" panose="02040503050406030204"/>
                <a:ea typeface="Noto Sans SC Medium" panose="020B0200000000000000" charset="-122"/>
              </a:rPr>
              <a:t>超轻高强韧镁锂基电磁屏蔽材料</a:t>
            </a:r>
            <a:endParaRPr b="0">
              <a:solidFill>
                <a:schemeClr val="tx1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369270"/>
            <a:ext cx="513080" cy="134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价值定位</a:t>
            </a:r>
            <a:endParaRPr sz="9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22500" y="3274020"/>
            <a:ext cx="6578600" cy="2686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9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DM Sans"/>
                <a:ea typeface="Noto Sans SC" panose="020B0200000000000000" charset="-122"/>
              </a:rPr>
              <a:t>在传统基础制造业基础上，面向工业互联网、新能源智能汽车等新质生产力应用需求</a:t>
            </a:r>
            <a:endParaRPr sz="1400" b="0">
              <a:solidFill>
                <a:schemeClr val="tx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3844627"/>
            <a:ext cx="513080" cy="134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核心功能</a:t>
            </a:r>
            <a:endParaRPr sz="9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22500" y="3749377"/>
            <a:ext cx="6756400" cy="2686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9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DM Sans"/>
                <a:ea typeface="Noto Sans SC" panose="020B0200000000000000" charset="-122"/>
              </a:rPr>
              <a:t>为航空航天、雷达通信等设备提供电磁屏蔽防护，同时提高材料强度和韧性、降低重量</a:t>
            </a:r>
            <a:endParaRPr sz="1400" b="0">
              <a:solidFill>
                <a:schemeClr val="tx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4319984"/>
            <a:ext cx="513080" cy="134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应用场景</a:t>
            </a:r>
            <a:endParaRPr sz="9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22500" y="4224734"/>
            <a:ext cx="3733800" cy="2686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9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DM Sans"/>
                <a:ea typeface="Noto Sans SC" panose="020B0200000000000000" charset="-122"/>
              </a:rPr>
              <a:t>航空航天、雷达通信、信息安全、民生电子消费</a:t>
            </a:r>
            <a:endParaRPr sz="1400" b="0">
              <a:solidFill>
                <a:schemeClr val="tx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4795341"/>
            <a:ext cx="641350" cy="134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产业化进展</a:t>
            </a:r>
            <a:endParaRPr sz="9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22500" y="4700091"/>
            <a:ext cx="8001000" cy="2686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9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DM Sans"/>
                <a:ea typeface="Noto Sans SC" panose="020B0200000000000000" charset="-122"/>
              </a:rPr>
              <a:t>在负责人郭政佑牵头下达成代工合作协议，实现超薄箔材的产业化成形验证，同多家企业开展密切合作</a:t>
            </a:r>
            <a:endParaRPr sz="1400" b="0">
              <a:solidFill>
                <a:schemeClr val="tx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8300"/>
            <a:ext cx="5080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项目概况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09 / 28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383010"/>
            <a:ext cx="33655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名师领航与学科支撑</a:t>
            </a:r>
            <a:endParaRPr sz="29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930598"/>
            <a:ext cx="1993900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强大导师团队与学科平台是项目坚实后盾</a:t>
            </a:r>
            <a:endParaRPr sz="85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355353"/>
            <a:ext cx="1193800" cy="336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巫瑞智教授</a:t>
            </a:r>
            <a:endParaRPr sz="18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764234"/>
            <a:ext cx="12700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全球前 2% 顶尖科学家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123009"/>
            <a:ext cx="276721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spc="-76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1</a:t>
            </a:r>
            <a:endParaRPr sz="3800" b="1" spc="-76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30821" y="3314779"/>
            <a:ext cx="1016000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终身成就榜入选者</a:t>
            </a:r>
            <a:endParaRPr sz="95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3853259"/>
            <a:ext cx="276721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spc="-76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1</a:t>
            </a:r>
            <a:endParaRPr sz="3800" b="1" spc="-76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30821" y="4045029"/>
            <a:ext cx="1257300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稀土科学技术奖一等奖</a:t>
            </a:r>
            <a:endParaRPr sz="95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4583509"/>
            <a:ext cx="276721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spc="-76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1</a:t>
            </a:r>
            <a:endParaRPr sz="3800" b="1" spc="-76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30821" y="4775279"/>
            <a:ext cx="1972071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国际镁科学与技术 2022 年度青年奖</a:t>
            </a:r>
            <a:endParaRPr sz="95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5313759"/>
            <a:ext cx="1778000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指导教师：巫瑞智、张万顺、侯乐干</a:t>
            </a:r>
            <a:endParaRPr sz="85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37101" y="2349003"/>
            <a:ext cx="7015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01　学科平台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37101" y="2564903"/>
            <a:ext cx="4102100" cy="2139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材料科学与工程学科，依托</a:t>
            </a:r>
            <a:r>
              <a:rPr sz="11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超轻材料与表面技术教育部重点实验室</a:t>
            </a:r>
            <a:endParaRPr sz="1100" b="0">
              <a:solidFill>
                <a:srgbClr val="E2DCD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37101" y="3066752"/>
            <a:ext cx="804763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02　学术影响力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37101" y="3358852"/>
            <a:ext cx="276721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spc="-76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5</a:t>
            </a:r>
            <a:endParaRPr sz="3800" b="1" spc="-76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37101" y="3981152"/>
            <a:ext cx="1093886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ESI 热点论文（篇）</a:t>
            </a:r>
            <a:endParaRPr sz="95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55867" y="3358852"/>
            <a:ext cx="502542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spc="-76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13</a:t>
            </a:r>
            <a:endParaRPr sz="3800" b="1" spc="-76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55867" y="3981152"/>
            <a:ext cx="1016000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高被引论文（篇）</a:t>
            </a:r>
            <a:endParaRPr sz="95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774634" y="3358852"/>
            <a:ext cx="502542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spc="-76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53</a:t>
            </a:r>
            <a:endParaRPr sz="3800" b="1" spc="-76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774634" y="3981152"/>
            <a:ext cx="679846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个人 H 因子</a:t>
            </a:r>
            <a:endParaRPr sz="95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370534"/>
            <a:ext cx="321567" cy="2482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86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03</a:t>
            </a:r>
            <a:endParaRPr sz="1300" b="0" spc="286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942034"/>
            <a:ext cx="3098800" cy="857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背景与灵感</a:t>
            </a:r>
            <a:endParaRPr sz="48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870325"/>
            <a:ext cx="5765800" cy="7540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灵感藏在生活的细节里</a:t>
            </a:r>
            <a:endParaRPr sz="135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一个弹球小游戏，打开电磁屏蔽新思路</a:t>
            </a:r>
            <a:endParaRPr sz="135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lide11_s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2410321"/>
            <a:ext cx="3924300" cy="30064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背景与灵感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11 / 28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271984"/>
            <a:ext cx="41021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航空设备的电磁干扰之困</a:t>
            </a:r>
            <a:endParaRPr sz="29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819572"/>
            <a:ext cx="1130300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电磁屏蔽的困局与破局</a:t>
            </a:r>
            <a:endParaRPr sz="85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5293360" y="1699895"/>
            <a:ext cx="1058545" cy="2266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01　用途</a:t>
            </a:r>
            <a:endParaRPr sz="14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5293171" y="1901293"/>
            <a:ext cx="1551802" cy="241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电磁屏蔽用途</a:t>
            </a:r>
            <a:endParaRPr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5293171" y="2208757"/>
            <a:ext cx="5287622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解决</a:t>
            </a:r>
            <a:r>
              <a:rPr sz="16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电磁泄漏</a:t>
            </a:r>
            <a:r>
              <a:rPr sz="16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与</a:t>
            </a:r>
            <a:r>
              <a:rPr sz="16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电磁干扰</a:t>
            </a:r>
            <a:endParaRPr sz="1600" b="0">
              <a:solidFill>
                <a:srgbClr val="E2DCD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在信息安全、航空航天、民用设备领域都是研发重点</a:t>
            </a:r>
            <a:endParaRPr sz="16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5293360" y="2803525"/>
            <a:ext cx="1058545" cy="2266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02　危害</a:t>
            </a:r>
            <a:endParaRPr sz="14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5293171" y="3004720"/>
            <a:ext cx="1293168" cy="241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电磁波危害</a:t>
            </a:r>
            <a:endParaRPr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5293171" y="3312184"/>
            <a:ext cx="7126794" cy="2330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外层空间复杂电磁波环境会造成设备</a:t>
            </a:r>
            <a:r>
              <a:rPr sz="16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精度下降、错误操作乃至系统崩溃</a:t>
            </a:r>
            <a:endParaRPr sz="1600" b="0">
              <a:solidFill>
                <a:srgbClr val="E2DCD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5293360" y="3743325"/>
            <a:ext cx="1058545" cy="2266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03　痛点</a:t>
            </a:r>
            <a:endParaRPr sz="14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10"/>
            </p:custDataLst>
          </p:nvPr>
        </p:nvSpPr>
        <p:spPr>
          <a:xfrm>
            <a:off x="5293171" y="3944319"/>
            <a:ext cx="1551802" cy="241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传统材料痛点</a:t>
            </a:r>
            <a:endParaRPr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1"/>
            </p:custDataLst>
          </p:nvPr>
        </p:nvSpPr>
        <p:spPr>
          <a:xfrm>
            <a:off x="5293171" y="4251783"/>
            <a:ext cx="505772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常用金属基屏蔽材料以铁、银、镍、铜、铝为代表</a:t>
            </a:r>
            <a:endParaRPr sz="16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屏蔽性能优异但</a:t>
            </a:r>
            <a:r>
              <a:rPr sz="16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重量不够轻、加工性差</a:t>
            </a:r>
            <a:endParaRPr sz="1600" b="0">
              <a:solidFill>
                <a:srgbClr val="E2DCD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5293360" y="4764405"/>
            <a:ext cx="1058545" cy="2266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04　方向</a:t>
            </a:r>
            <a:endParaRPr sz="14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3"/>
            </p:custDataLst>
          </p:nvPr>
        </p:nvSpPr>
        <p:spPr>
          <a:xfrm>
            <a:off x="5293171" y="4965832"/>
            <a:ext cx="1551802" cy="241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镁锂合金方向</a:t>
            </a:r>
            <a:endParaRPr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4"/>
            </p:custDataLst>
          </p:nvPr>
        </p:nvSpPr>
        <p:spPr>
          <a:xfrm>
            <a:off x="5293171" y="5273296"/>
            <a:ext cx="5287622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世界上最轻的金属结构材料</a:t>
            </a:r>
            <a:r>
              <a:rPr sz="16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，是理想选材</a:t>
            </a:r>
            <a:endParaRPr sz="16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但工程应用需协同提高功能、结构、工艺三方面性能</a:t>
            </a:r>
            <a:endParaRPr sz="16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背景与灵感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9827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12 / 28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41797"/>
            <a:ext cx="33655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弹球游戏撞开新思路</a:t>
            </a:r>
            <a:endParaRPr sz="29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389385"/>
            <a:ext cx="3289300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0A8"/>
                </a:solidFill>
                <a:latin typeface="DM Sans"/>
                <a:ea typeface="Noto Sans SC" panose="020B0200000000000000" charset="-122"/>
              </a:rPr>
              <a:t>如果在材料内部设置一道道墙壁，电磁波就会在反复反射中不断损耗</a:t>
            </a:r>
            <a:endParaRPr sz="850" b="0">
              <a:solidFill>
                <a:srgbClr val="9AA0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915741"/>
            <a:ext cx="6584255" cy="336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灵感来自游戏，原理归于物理——让电磁波在</a:t>
            </a:r>
            <a:r>
              <a:rPr sz="1800" b="0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反复反射</a:t>
            </a:r>
            <a:r>
              <a:rPr sz="18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中自然消减</a:t>
            </a:r>
            <a:endParaRPr sz="18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584971"/>
            <a:ext cx="159414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灵感来源　生活现象 · 科学启发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68400" y="3900566"/>
            <a:ext cx="4800600" cy="244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团队负责人</a:t>
            </a:r>
            <a:r>
              <a:rPr b="0">
                <a:solidFill>
                  <a:srgbClr val="1A2030"/>
                </a:solidFill>
                <a:latin typeface="DM Sans"/>
                <a:ea typeface="Noto Sans SC" panose="020B0200000000000000" charset="-122"/>
              </a:rPr>
              <a:t>郭政佑</a:t>
            </a:r>
            <a:r>
              <a:rPr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从微信弹球小游戏中获得灵感</a:t>
            </a:r>
            <a:endParaRPr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68400" y="4707770"/>
            <a:ext cx="3886200" cy="244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弹球在墙壁间反复碰撞会不断消耗能量</a:t>
            </a:r>
            <a:endParaRPr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05575" y="3584971"/>
            <a:ext cx="169723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科学转化　理论建模 · 可行性验证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53225" y="3877071"/>
            <a:ext cx="3886200" cy="4895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类比到材料：在内部设置多道平行界面</a:t>
            </a:r>
            <a:endParaRPr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增加电磁波反射次数</a:t>
            </a:r>
            <a:endParaRPr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53225" y="4513460"/>
            <a:ext cx="3657600" cy="4895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结合传统电磁反射损耗原理</a:t>
            </a:r>
            <a:endParaRPr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建立多维平行界面电磁损耗计算模型</a:t>
            </a:r>
            <a:endParaRPr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53225" y="5149850"/>
            <a:ext cx="4800600" cy="4895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成功计算出电磁波进入材料后的反射路径与损耗</a:t>
            </a:r>
            <a:endParaRPr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从理论上证明设想的可行性</a:t>
            </a:r>
            <a:endParaRPr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  <p:pic>
        <p:nvPicPr>
          <p:cNvPr id="16" name="Picture 1" descr="s12.png"/>
          <p:cNvPicPr>
            <a:picLocks noChangeAspect="1"/>
          </p:cNvPicPr>
          <p:nvPr/>
        </p:nvPicPr>
        <p:blipFill>
          <a:blip r:embed="rId1"/>
          <a:srcRect l="6979" t="59722" r="91068" b="35722"/>
          <a:stretch>
            <a:fillRect/>
          </a:stretch>
        </p:blipFill>
        <p:spPr>
          <a:xfrm>
            <a:off x="865505" y="4639945"/>
            <a:ext cx="238125" cy="312420"/>
          </a:xfrm>
          <a:prstGeom prst="rect">
            <a:avLst/>
          </a:prstGeom>
        </p:spPr>
      </p:pic>
      <p:pic>
        <p:nvPicPr>
          <p:cNvPr id="17" name="Picture 1" descr="s12.png"/>
          <p:cNvPicPr>
            <a:picLocks noChangeAspect="1"/>
          </p:cNvPicPr>
          <p:nvPr/>
        </p:nvPicPr>
        <p:blipFill>
          <a:blip r:embed="rId1"/>
          <a:srcRect l="6979" t="59722" r="90063" b="37787"/>
          <a:stretch>
            <a:fillRect/>
          </a:stretch>
        </p:blipFill>
        <p:spPr>
          <a:xfrm>
            <a:off x="756920" y="4218940"/>
            <a:ext cx="360680" cy="170815"/>
          </a:xfrm>
          <a:prstGeom prst="rect">
            <a:avLst/>
          </a:prstGeom>
        </p:spPr>
      </p:pic>
      <p:pic>
        <p:nvPicPr>
          <p:cNvPr id="18" name="Picture 1" descr="s12.png"/>
          <p:cNvPicPr>
            <a:picLocks noChangeAspect="1"/>
          </p:cNvPicPr>
          <p:nvPr/>
        </p:nvPicPr>
        <p:blipFill>
          <a:blip r:embed="rId1"/>
          <a:srcRect l="6979" t="59722" r="90063" b="37787"/>
          <a:stretch>
            <a:fillRect/>
          </a:stretch>
        </p:blipFill>
        <p:spPr>
          <a:xfrm>
            <a:off x="6319520" y="4218940"/>
            <a:ext cx="360680" cy="170815"/>
          </a:xfrm>
          <a:prstGeom prst="rect">
            <a:avLst/>
          </a:prstGeom>
        </p:spPr>
      </p:pic>
      <p:pic>
        <p:nvPicPr>
          <p:cNvPr id="19" name="Picture 1" descr="s12.png"/>
          <p:cNvPicPr>
            <a:picLocks noChangeAspect="1"/>
          </p:cNvPicPr>
          <p:nvPr/>
        </p:nvPicPr>
        <p:blipFill>
          <a:blip r:embed="rId1"/>
          <a:srcRect l="6979" t="61787" r="91068" b="35722"/>
          <a:stretch>
            <a:fillRect/>
          </a:stretch>
        </p:blipFill>
        <p:spPr>
          <a:xfrm>
            <a:off x="6442075" y="5194935"/>
            <a:ext cx="238125" cy="1708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lide13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1744662"/>
            <a:ext cx="3670300" cy="2024360"/>
          </a:xfrm>
          <a:prstGeom prst="rect">
            <a:avLst/>
          </a:prstGeom>
        </p:spPr>
      </p:pic>
      <p:pic>
        <p:nvPicPr>
          <p:cNvPr id="4" name="Picture 3" descr="slide13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50" y="4035722"/>
            <a:ext cx="3670300" cy="20340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背景与灵感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13 / 28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746918"/>
            <a:ext cx="3643213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把电磁波消灭在</a:t>
            </a:r>
            <a:r>
              <a:rPr sz="2900" b="1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“</a:t>
            </a:r>
            <a:r>
              <a:rPr sz="29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墙</a:t>
            </a:r>
            <a:r>
              <a:rPr sz="2900" b="1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”</a:t>
            </a:r>
            <a:r>
              <a:rPr sz="29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内</a:t>
            </a:r>
            <a:endParaRPr sz="29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1294507"/>
            <a:ext cx="2749550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E5A6E"/>
                </a:solidFill>
                <a:latin typeface="DM Sans"/>
                <a:ea typeface="Noto Sans SC" panose="020B0200000000000000" charset="-122"/>
              </a:rPr>
              <a:t>多维平行界面结构示意：让电磁波在反复反射中持续损耗</a:t>
            </a:r>
            <a:endParaRPr sz="850" b="0">
              <a:solidFill>
                <a:srgbClr val="4E5A6E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30800" y="3030934"/>
            <a:ext cx="749300" cy="984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</a:pPr>
            <a:r>
              <a:rPr sz="5500" b="0">
                <a:solidFill>
                  <a:srgbClr val="C8A870"/>
                </a:solidFill>
                <a:latin typeface="Cambria" panose="02040503050406030204"/>
                <a:ea typeface="Noto Sans SC" panose="020B0200000000000000" charset="-122"/>
              </a:rPr>
              <a:t>「</a:t>
            </a:r>
            <a:endParaRPr sz="5500" b="0">
              <a:solidFill>
                <a:srgbClr val="C8A870"/>
              </a:solidFill>
              <a:latin typeface="Cambria" panose="02040503050406030204"/>
              <a:ea typeface="Noto Sans SC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30800" y="3780234"/>
            <a:ext cx="6197600" cy="1031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2DCD0"/>
                </a:solidFill>
                <a:latin typeface="Cambria" panose="02040503050406030204"/>
                <a:ea typeface="Noto Sans SC" panose="020B0200000000000000" charset="-122"/>
              </a:rPr>
              <a:t>在材料内部竖起一道道‘墙壁’，增加电磁波在‘墙壁’间的</a:t>
            </a:r>
            <a:endParaRPr sz="2000" b="0">
              <a:solidFill>
                <a:srgbClr val="E2DCD0"/>
              </a:solidFill>
              <a:latin typeface="Cambria" panose="02040503050406030204"/>
              <a:ea typeface="Noto Sans SC" panose="020B0200000000000000" charset="-122"/>
            </a:endParaRPr>
          </a:p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2DCD0"/>
                </a:solidFill>
                <a:latin typeface="Cambria" panose="02040503050406030204"/>
                <a:ea typeface="Noto Sans SC" panose="020B0200000000000000" charset="-122"/>
              </a:rPr>
              <a:t>反射次数，让它的力量逐渐减弱，难以穿透材料。</a:t>
            </a:r>
            <a:endParaRPr sz="2000" b="0">
              <a:solidFill>
                <a:srgbClr val="E2DCD0"/>
              </a:solidFill>
              <a:latin typeface="Cambria" panose="02040503050406030204"/>
              <a:ea typeface="Noto Sans SC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370534"/>
            <a:ext cx="321567" cy="2482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86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04</a:t>
            </a:r>
            <a:endParaRPr sz="1300" b="0" spc="286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935684"/>
            <a:ext cx="3098800" cy="857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创新与成果</a:t>
            </a:r>
            <a:endParaRPr sz="48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870325"/>
            <a:ext cx="5765800" cy="7540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把电磁波消灭在墙内</a:t>
            </a:r>
            <a:endParaRPr sz="135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屏蔽效能提升 15%-25%，重量降低 20%</a:t>
            </a:r>
            <a:endParaRPr sz="135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创新与成果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15 / 28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643459"/>
            <a:ext cx="41021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三重突破破解跷跷板难题</a:t>
            </a:r>
            <a:endParaRPr sz="29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191047"/>
            <a:ext cx="2965450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功能、结构、工艺三方面性能的协同提升，如同跷跷板找平衡</a:t>
            </a:r>
            <a:endParaRPr sz="85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609453"/>
            <a:ext cx="563880" cy="134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三大矛盾</a:t>
            </a:r>
            <a:endParaRPr sz="10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996803"/>
            <a:ext cx="1016000" cy="250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功能方面</a:t>
            </a:r>
            <a:endParaRPr sz="20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277393"/>
            <a:ext cx="5080000" cy="2330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传统提升屏蔽性能的方法往往使材料强度变差或重量上升</a:t>
            </a:r>
            <a:endParaRPr sz="160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857724"/>
            <a:ext cx="1016000" cy="250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结构方面</a:t>
            </a:r>
            <a:endParaRPr sz="20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4138314"/>
            <a:ext cx="3657600" cy="2330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镁锂基材料强度提高时，塑韧性相应降低</a:t>
            </a:r>
            <a:endParaRPr sz="160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4718645"/>
            <a:ext cx="1016000" cy="250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工艺方面</a:t>
            </a:r>
            <a:endParaRPr sz="20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4999235"/>
            <a:ext cx="3251200" cy="2330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传统复合工艺危险性高且复合效果差</a:t>
            </a:r>
            <a:endParaRPr sz="160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05575" y="2609453"/>
            <a:ext cx="563880" cy="134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三项创新</a:t>
            </a:r>
            <a:endParaRPr sz="10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05575" y="3003153"/>
            <a:ext cx="2032000" cy="5022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01</a:t>
            </a:r>
            <a:endParaRPr sz="1400" b="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多维平行界面损耗</a:t>
            </a:r>
            <a:endParaRPr sz="20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05575" y="3594893"/>
            <a:ext cx="3302000" cy="5022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02</a:t>
            </a:r>
            <a:endParaRPr sz="1400" b="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镁锂合金强塑性协同提升技术</a:t>
            </a:r>
            <a:endParaRPr sz="20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05575" y="4186634"/>
            <a:ext cx="3556000" cy="5022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03</a:t>
            </a:r>
            <a:endParaRPr sz="1400" b="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纳米碳基镁锂合金固态复合工艺</a:t>
            </a:r>
            <a:endParaRPr sz="20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lide16_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2277864"/>
            <a:ext cx="4913610" cy="31196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创新与成果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9827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16 / 28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412775"/>
            <a:ext cx="63119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创新一　跌轧造多界面，减重提升屏蔽</a:t>
            </a:r>
            <a:endParaRPr sz="29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16960" y="2195314"/>
            <a:ext cx="907851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01　累积叠轧工艺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77310" y="2436614"/>
            <a:ext cx="418465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把材料反复擀平、切开、叠起、再擀，形成数量巨大的高平行度界面。</a:t>
            </a:r>
            <a:endParaRPr sz="105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23310" y="2806303"/>
            <a:ext cx="5004990" cy="604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调整叠轧温度参数、反复优化单次压下量，</a:t>
            </a:r>
            <a:r>
              <a:rPr sz="1050" b="0">
                <a:solidFill>
                  <a:srgbClr val="C8A870"/>
                </a:solidFill>
                <a:latin typeface="DM Sans"/>
                <a:ea typeface="Noto Sans SC" panose="020B0200000000000000" charset="-122"/>
              </a:rPr>
              <a:t>反复实验五次</a:t>
            </a:r>
            <a:r>
              <a:rPr sz="10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后得到理想的多维平行</a:t>
            </a:r>
            <a:endParaRPr sz="105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界面。</a:t>
            </a:r>
            <a:endParaRPr sz="105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77310" y="3317081"/>
            <a:ext cx="378460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有效屏蔽波段范围</a:t>
            </a:r>
            <a:r>
              <a:rPr sz="1050" b="0">
                <a:solidFill>
                  <a:srgbClr val="1A2030"/>
                </a:solidFill>
                <a:latin typeface="DM Sans"/>
                <a:ea typeface="Noto Sans SC" panose="020B0200000000000000" charset="-122"/>
              </a:rPr>
              <a:t>远超</a:t>
            </a:r>
            <a:r>
              <a:rPr sz="10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现有铜、铝、铁等金属基屏蔽结构材料。</a:t>
            </a:r>
            <a:endParaRPr sz="105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23310" y="3820120"/>
            <a:ext cx="463351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对比维度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699849" y="3820120"/>
            <a:ext cx="463351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提升幅度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23310" y="4048720"/>
            <a:ext cx="20828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 panose="020B0200000000000000" charset="-122"/>
              </a:rPr>
              <a:t>屏蔽效能（对比国外先进镁基材料）</a:t>
            </a:r>
            <a:endParaRPr sz="1000" b="0">
              <a:solidFill>
                <a:srgbClr val="1A203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80352" y="4048720"/>
            <a:ext cx="927298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ts val="25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15%—25%</a:t>
            </a:r>
            <a:endParaRPr sz="1500" b="1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23310" y="4518620"/>
            <a:ext cx="5588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 panose="020B0200000000000000" charset="-122"/>
              </a:rPr>
              <a:t>重量降低</a:t>
            </a:r>
            <a:endParaRPr sz="1000" b="0">
              <a:solidFill>
                <a:srgbClr val="1A203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764043" y="4512270"/>
            <a:ext cx="41185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ts val="25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20%</a:t>
            </a:r>
            <a:endParaRPr sz="1500" b="1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lide17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511" y="1777305"/>
            <a:ext cx="4986238" cy="41207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创新与成果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17 / 28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918567"/>
            <a:ext cx="66802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创新二：优化合金配比，强度韧性双提升</a:t>
            </a:r>
            <a:endParaRPr sz="29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776835"/>
            <a:ext cx="1391443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镁锂合金强塑性协同提升技术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246735"/>
            <a:ext cx="463351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时间跨度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82800" y="3164185"/>
            <a:ext cx="1850032" cy="2139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2022 年 8 月至 2023 年 5 月</a:t>
            </a:r>
            <a:endParaRPr sz="1100" b="0">
              <a:solidFill>
                <a:srgbClr val="E2DCD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843833"/>
            <a:ext cx="66962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合金元素配比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82800" y="3761283"/>
            <a:ext cx="1231900" cy="2139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8A870"/>
                </a:solidFill>
                <a:latin typeface="DM Sans"/>
                <a:ea typeface="Noto Sans SC" panose="020B0200000000000000" charset="-122"/>
              </a:rPr>
              <a:t>15 种以上</a:t>
            </a:r>
            <a:r>
              <a:rPr sz="11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 优化成分</a:t>
            </a:r>
            <a:endParaRPr sz="11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4440932"/>
            <a:ext cx="2570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机理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82800" y="4358382"/>
            <a:ext cx="3764061" cy="629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纳米析出强化</a:t>
            </a:r>
            <a:r>
              <a:rPr sz="11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 与</a:t>
            </a:r>
            <a:r>
              <a:rPr sz="11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 剧烈塑性变形晶粒微细化</a:t>
            </a:r>
            <a:r>
              <a:rPr sz="11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，实现强度与塑韧</a:t>
            </a:r>
            <a:endParaRPr sz="11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性协同提升</a:t>
            </a:r>
            <a:endParaRPr sz="11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lide18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2248693"/>
            <a:ext cx="4838700" cy="28930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创新与成果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9827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18 / 28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389955"/>
            <a:ext cx="63119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创新三：碳管电泳复合，制备超薄屏蔽</a:t>
            </a:r>
            <a:endParaRPr sz="29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5306814"/>
            <a:ext cx="3406179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0A8"/>
                </a:solidFill>
                <a:latin typeface="DM Sans"/>
                <a:ea typeface="Noto Sans SC" panose="020B0200000000000000" charset="-122"/>
              </a:rPr>
              <a:t>固态复合后材料的结构示意图：镁锂合金基体 + 多壁碳纳米管复合夹层</a:t>
            </a:r>
            <a:endParaRPr sz="850" b="0">
              <a:solidFill>
                <a:srgbClr val="9AA0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99200" y="3216473"/>
            <a:ext cx="1494631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纳米碳基镁锂合金固态复合工艺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53200" y="3470473"/>
            <a:ext cx="3217366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增强体：多壁碳纳米管——</a:t>
            </a:r>
            <a:r>
              <a:rPr sz="1050" b="0">
                <a:solidFill>
                  <a:srgbClr val="1A2030"/>
                </a:solidFill>
                <a:latin typeface="DM Sans"/>
                <a:ea typeface="Noto Sans SC" panose="020B0200000000000000" charset="-122"/>
              </a:rPr>
              <a:t>抗变形、高导电性、低密度</a:t>
            </a:r>
            <a:endParaRPr sz="1050" b="0">
              <a:solidFill>
                <a:srgbClr val="1A203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53200" y="3789362"/>
            <a:ext cx="218440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工艺：</a:t>
            </a:r>
            <a:r>
              <a:rPr sz="1050" b="0">
                <a:solidFill>
                  <a:srgbClr val="1A2030"/>
                </a:solidFill>
                <a:latin typeface="DM Sans"/>
                <a:ea typeface="Noto Sans SC" panose="020B0200000000000000" charset="-122"/>
              </a:rPr>
              <a:t>电泳沉积</a:t>
            </a:r>
            <a:r>
              <a:rPr sz="10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工艺，紧密结合均匀</a:t>
            </a:r>
            <a:endParaRPr sz="105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53200" y="4108251"/>
            <a:ext cx="378460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成果：多功能镁锂基复合材料，制备出</a:t>
            </a:r>
            <a:r>
              <a:rPr sz="1050" b="0">
                <a:solidFill>
                  <a:srgbClr val="1A2030"/>
                </a:solidFill>
                <a:latin typeface="DM Sans"/>
                <a:ea typeface="Noto Sans SC" panose="020B0200000000000000" charset="-122"/>
              </a:rPr>
              <a:t>超薄镁锂基电磁屏蔽箔片</a:t>
            </a:r>
            <a:endParaRPr sz="1050" b="0">
              <a:solidFill>
                <a:srgbClr val="1A203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创新与成果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19 / 28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624210"/>
            <a:ext cx="37338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学术成果结出累累硕果</a:t>
            </a:r>
            <a:endParaRPr sz="29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400399"/>
            <a:ext cx="875803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五类成果数量对比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52041" y="4375249"/>
            <a:ext cx="179387" cy="393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spc="-42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4</a:t>
            </a:r>
            <a:endParaRPr sz="2100" b="1" spc="-42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10110" y="4362549"/>
            <a:ext cx="179387" cy="393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spc="-42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1</a:t>
            </a:r>
            <a:endParaRPr sz="2100" b="1" spc="-42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80878" y="4362549"/>
            <a:ext cx="179387" cy="393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spc="-42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1</a:t>
            </a:r>
            <a:endParaRPr sz="2100" b="1" spc="-42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64347" y="4368899"/>
            <a:ext cx="179387" cy="393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spc="-42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3</a:t>
            </a:r>
            <a:endParaRPr sz="2100" b="1" spc="-42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22416" y="4362549"/>
            <a:ext cx="179387" cy="393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spc="-42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1</a:t>
            </a:r>
            <a:endParaRPr sz="2100" b="1" spc="-42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6409" y="4673699"/>
            <a:ext cx="412551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E5A6E"/>
                </a:solidFill>
                <a:latin typeface="DM Sans"/>
                <a:ea typeface="Noto Sans SC" panose="020B0200000000000000" charset="-122"/>
              </a:rPr>
              <a:t>SCI 论文</a:t>
            </a:r>
            <a:endParaRPr sz="750" b="0">
              <a:solidFill>
                <a:srgbClr val="4E5A6E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82303" y="4673699"/>
            <a:ext cx="6223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E5A6E"/>
                </a:solidFill>
                <a:latin typeface="DM Sans"/>
                <a:ea typeface="Noto Sans SC" panose="020B0200000000000000" charset="-122"/>
              </a:rPr>
              <a:t>北大核心论文</a:t>
            </a:r>
            <a:endParaRPr sz="750" b="0">
              <a:solidFill>
                <a:srgbClr val="4E5A6E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46722" y="4673699"/>
            <a:ext cx="6223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E5A6E"/>
                </a:solidFill>
                <a:latin typeface="DM Sans"/>
                <a:ea typeface="Noto Sans SC" panose="020B0200000000000000" charset="-122"/>
              </a:rPr>
              <a:t>授权发明专利</a:t>
            </a:r>
            <a:endParaRPr sz="750" b="0">
              <a:solidFill>
                <a:srgbClr val="4E5A6E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23841" y="4673699"/>
            <a:ext cx="6223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E5A6E"/>
                </a:solidFill>
                <a:latin typeface="DM Sans"/>
                <a:ea typeface="Noto Sans SC" panose="020B0200000000000000" charset="-122"/>
              </a:rPr>
              <a:t>实用新型专利</a:t>
            </a:r>
            <a:endParaRPr sz="750" b="0">
              <a:solidFill>
                <a:srgbClr val="4E5A6E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42135" y="4673699"/>
            <a:ext cx="52705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E5A6E"/>
                </a:solidFill>
                <a:latin typeface="DM Sans"/>
                <a:ea typeface="Noto Sans SC" panose="020B0200000000000000" charset="-122"/>
              </a:rPr>
              <a:t>软件著作权</a:t>
            </a:r>
            <a:endParaRPr sz="750" b="0">
              <a:solidFill>
                <a:srgbClr val="4E5A6E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5045174"/>
            <a:ext cx="5150544" cy="37680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E5A6E"/>
                </a:solidFill>
                <a:latin typeface="DM Sans"/>
                <a:ea typeface="Noto Sans SC" panose="020B0200000000000000" charset="-122"/>
              </a:rPr>
              <a:t>发文与知识产权成果总计</a:t>
            </a:r>
            <a:endParaRPr sz="850" b="0">
              <a:solidFill>
                <a:srgbClr val="4E5A6E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10</a:t>
            </a:r>
            <a:endParaRPr sz="1300" b="1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E5A6E"/>
                </a:solidFill>
                <a:latin typeface="DM Sans"/>
                <a:ea typeface="Noto Sans SC" panose="020B0200000000000000" charset="-122"/>
              </a:rPr>
              <a:t>项</a:t>
            </a:r>
            <a:endParaRPr sz="850" b="0">
              <a:solidFill>
                <a:srgbClr val="4E5A6E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20544" y="2400399"/>
            <a:ext cx="463351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成果明细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20544" y="2743299"/>
            <a:ext cx="535086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2DCD0"/>
                </a:solidFill>
                <a:latin typeface="DM Sans Medium"/>
                <a:ea typeface="Noto Sans SC Medium" panose="020B0200000000000000" charset="-122"/>
              </a:rPr>
              <a:t>SCI 论文</a:t>
            </a:r>
            <a:endParaRPr sz="1000" b="0">
              <a:solidFill>
                <a:srgbClr val="E2DCD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90544" y="2743299"/>
            <a:ext cx="1498203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4 篇，含 3 篇学生第一作者</a:t>
            </a:r>
            <a:endParaRPr sz="9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20544" y="3105249"/>
            <a:ext cx="8128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2DCD0"/>
                </a:solidFill>
                <a:latin typeface="DM Sans Medium"/>
                <a:ea typeface="Noto Sans SC Medium" panose="020B0200000000000000" charset="-122"/>
              </a:rPr>
              <a:t>北大核心论文</a:t>
            </a:r>
            <a:endParaRPr sz="1000" b="0">
              <a:solidFill>
                <a:srgbClr val="E2DCD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90544" y="3105249"/>
            <a:ext cx="241200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1 篇</a:t>
            </a:r>
            <a:endParaRPr sz="9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20544" y="3467199"/>
            <a:ext cx="8128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2DCD0"/>
                </a:solidFill>
                <a:latin typeface="DM Sans Medium"/>
                <a:ea typeface="Noto Sans SC Medium" panose="020B0200000000000000" charset="-122"/>
              </a:rPr>
              <a:t>授权发明专利</a:t>
            </a:r>
            <a:endParaRPr sz="1000" b="0">
              <a:solidFill>
                <a:srgbClr val="E2DCD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90544" y="3467199"/>
            <a:ext cx="241200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1 项</a:t>
            </a:r>
            <a:endParaRPr sz="9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20544" y="3829149"/>
            <a:ext cx="8128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2DCD0"/>
                </a:solidFill>
                <a:latin typeface="DM Sans Medium"/>
                <a:ea typeface="Noto Sans SC Medium" panose="020B0200000000000000" charset="-122"/>
              </a:rPr>
              <a:t>实用新型专利</a:t>
            </a:r>
            <a:endParaRPr sz="1000" b="0">
              <a:solidFill>
                <a:srgbClr val="E2DCD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90544" y="3829149"/>
            <a:ext cx="274935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3 项</a:t>
            </a:r>
            <a:endParaRPr sz="9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20544" y="4191099"/>
            <a:ext cx="6858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2DCD0"/>
                </a:solidFill>
                <a:latin typeface="DM Sans Medium"/>
                <a:ea typeface="Noto Sans SC Medium" panose="020B0200000000000000" charset="-122"/>
              </a:rPr>
              <a:t>软件著作权</a:t>
            </a:r>
            <a:endParaRPr sz="1000" b="0">
              <a:solidFill>
                <a:srgbClr val="E2DCD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90544" y="4191099"/>
            <a:ext cx="241200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1 项</a:t>
            </a:r>
            <a:endParaRPr sz="9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20544" y="4616549"/>
            <a:ext cx="1670050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8A870"/>
                </a:solidFill>
                <a:latin typeface="DM Sans"/>
                <a:ea typeface="Noto Sans SC" panose="020B0200000000000000" charset="-122"/>
              </a:rPr>
              <a:t>学术成果丰硕，知识产权布局完整</a:t>
            </a:r>
            <a:endParaRPr sz="850" b="0">
              <a:solidFill>
                <a:srgbClr val="C8A8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创新与成果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9827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20 / 28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167804"/>
            <a:ext cx="33655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产业化迈出坚实一步</a:t>
            </a:r>
            <a:endParaRPr sz="29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715392"/>
            <a:ext cx="2965450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0A8"/>
                </a:solidFill>
                <a:latin typeface="DM Sans"/>
                <a:ea typeface="Noto Sans SC" panose="020B0200000000000000" charset="-122"/>
              </a:rPr>
              <a:t>项目已从实验室走向产业化验证，收获多家头部企业合作意向</a:t>
            </a:r>
            <a:endParaRPr sz="850" b="0">
              <a:solidFill>
                <a:srgbClr val="9AA0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16403" y="1746448"/>
            <a:ext cx="66962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代工合作落地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01931" y="1746448"/>
            <a:ext cx="566439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产业化验证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84271" y="1746448"/>
            <a:ext cx="66962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头部企业关注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69798" y="1746448"/>
            <a:ext cx="463351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转化对接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93800" y="2267148"/>
            <a:ext cx="769143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第 1 步　落地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93800" y="2444948"/>
            <a:ext cx="11938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代工合作落地</a:t>
            </a:r>
            <a:endParaRPr sz="15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93800" y="2743398"/>
            <a:ext cx="41148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团队负责人</a:t>
            </a:r>
            <a:r>
              <a:rPr sz="1000" b="0">
                <a:solidFill>
                  <a:srgbClr val="C8A870"/>
                </a:solidFill>
                <a:latin typeface="DM Sans"/>
                <a:ea typeface="Noto Sans SC" panose="020B0200000000000000" charset="-122"/>
              </a:rPr>
              <a:t>郭政佑</a:t>
            </a:r>
            <a:r>
              <a:rPr sz="10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牵头达成代工合作协议，完成超薄箔材产业化成形验证</a:t>
            </a:r>
            <a:endParaRPr sz="10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93800" y="3164978"/>
            <a:ext cx="769143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第 2 步　关注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93800" y="3349128"/>
            <a:ext cx="11938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头部企业关注</a:t>
            </a:r>
            <a:endParaRPr sz="15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93800" y="3653928"/>
            <a:ext cx="4563467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第二届全国先进技术成果转化大会上，收获</a:t>
            </a:r>
            <a:r>
              <a:rPr sz="1000" b="0">
                <a:solidFill>
                  <a:srgbClr val="1A2030"/>
                </a:solidFill>
                <a:latin typeface="DM Sans"/>
                <a:ea typeface="Noto Sans SC" panose="020B0200000000000000" charset="-122"/>
              </a:rPr>
              <a:t> 宝钢金属、长安汽车</a:t>
            </a:r>
            <a:r>
              <a:rPr sz="10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 等企业合作意向</a:t>
            </a:r>
            <a:endParaRPr sz="10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93800" y="4088209"/>
            <a:ext cx="769143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第 3 步　亮相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93800" y="4266009"/>
            <a:ext cx="13843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国家级路演亮相</a:t>
            </a:r>
            <a:endParaRPr sz="15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93800" y="4564459"/>
            <a:ext cx="5301654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工信部 2023 年专项路演（雄安站）开幕式，全场仅</a:t>
            </a:r>
            <a:r>
              <a:rPr sz="1000" b="0">
                <a:solidFill>
                  <a:srgbClr val="1A2030"/>
                </a:solidFill>
                <a:latin typeface="DM Sans"/>
                <a:ea typeface="Noto Sans SC" panose="020B0200000000000000" charset="-122"/>
              </a:rPr>
              <a:t> 4 个</a:t>
            </a:r>
            <a:r>
              <a:rPr sz="10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 亮相项目之一，郭政佑为唯一本科生</a:t>
            </a:r>
            <a:endParaRPr sz="10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93800" y="4986039"/>
            <a:ext cx="769143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第 4 步　升级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93800" y="5176539"/>
            <a:ext cx="10033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下一步方向</a:t>
            </a:r>
            <a:endParaRPr sz="15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93800" y="5474989"/>
            <a:ext cx="44958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开发更先进、更高效、更高质量的新型电磁屏蔽材料，拓展民生电子消费等领域</a:t>
            </a:r>
            <a:endParaRPr sz="10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370534"/>
            <a:ext cx="321567" cy="2482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86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05</a:t>
            </a:r>
            <a:endParaRPr sz="1300" b="0" spc="286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942034"/>
            <a:ext cx="2489200" cy="857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团队介绍</a:t>
            </a:r>
            <a:endParaRPr sz="48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870325"/>
            <a:ext cx="5765800" cy="7540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八名本科生，各展所长</a:t>
            </a:r>
            <a:endParaRPr sz="13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从机理研究到成果整理的完整协作</a:t>
            </a:r>
            <a:endParaRPr sz="13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2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lide22_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2372121"/>
            <a:ext cx="3162300" cy="14698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68300"/>
            <a:ext cx="5080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团队介绍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9827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22 / 28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526083"/>
            <a:ext cx="33655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八人团队与分工总览</a:t>
            </a:r>
            <a:endParaRPr sz="29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34636" y="1845071"/>
            <a:ext cx="1693763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成员年级：大四 4 人、大三 4 人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9650" y="4083248"/>
            <a:ext cx="463351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机理研究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76201" y="4083248"/>
            <a:ext cx="463351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成分设计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42753" y="4083248"/>
            <a:ext cx="463351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成形复合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09304" y="4083248"/>
            <a:ext cx="463351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表征测试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75856" y="4083248"/>
            <a:ext cx="463351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成果整理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4337248"/>
            <a:ext cx="2587625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0A8"/>
                </a:solidFill>
                <a:latin typeface="DM Sans"/>
                <a:ea typeface="Noto Sans SC" panose="020B0200000000000000" charset="-122"/>
              </a:rPr>
              <a:t>团队分工覆盖上述五大环节，环环相扣（原稿信息）。</a:t>
            </a:r>
            <a:endParaRPr sz="850" b="0">
              <a:solidFill>
                <a:srgbClr val="9AA0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0" y="2391171"/>
            <a:ext cx="360263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成　员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524500" y="2391171"/>
            <a:ext cx="1391443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角色与主要分工（依据原稿）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0" y="2619771"/>
            <a:ext cx="4318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 panose="020B0200000000000000" charset="-122"/>
              </a:rPr>
              <a:t>郭政佑</a:t>
            </a:r>
            <a:endParaRPr sz="1000" b="0">
              <a:solidFill>
                <a:srgbClr val="1A203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524500" y="2594610"/>
            <a:ext cx="5448935" cy="4394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DM Sans"/>
                <a:ea typeface="Noto Sans SC" panose="020B0200000000000000" charset="-122"/>
              </a:rPr>
              <a:t>团队负责人：统筹项目整体；提出弹球游戏灵感；建立电磁损耗模型</a:t>
            </a:r>
            <a:endParaRPr sz="1400" b="0">
              <a:solidFill>
                <a:schemeClr val="tx1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DM Sans"/>
                <a:ea typeface="Noto Sans SC" panose="020B0200000000000000" charset="-122"/>
              </a:rPr>
              <a:t>开展时效热处理实验；主导电泳沉积工艺；牵头达成代工合作协议</a:t>
            </a:r>
            <a:endParaRPr sz="1400" b="0">
              <a:solidFill>
                <a:schemeClr val="tx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0" y="3175992"/>
            <a:ext cx="4318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 panose="020B0200000000000000" charset="-122"/>
              </a:rPr>
              <a:t>李佳睿</a:t>
            </a:r>
            <a:endParaRPr sz="1000" b="0">
              <a:solidFill>
                <a:srgbClr val="1A203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24500" y="3221712"/>
            <a:ext cx="609219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DM Sans"/>
                <a:ea typeface="Noto Sans SC" panose="020B0200000000000000" charset="-122"/>
              </a:rPr>
              <a:t>团队成员：参与材料成分优化与性能平衡；参与超过 15 种合金元素配比实验</a:t>
            </a:r>
            <a:endParaRPr sz="1400" b="0">
              <a:solidFill>
                <a:schemeClr val="tx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0" y="3537942"/>
            <a:ext cx="4318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 panose="020B0200000000000000" charset="-122"/>
              </a:rPr>
              <a:t>张　弛</a:t>
            </a:r>
            <a:endParaRPr sz="1000" b="0">
              <a:solidFill>
                <a:srgbClr val="1A203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524500" y="3537942"/>
            <a:ext cx="231140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DM Sans"/>
                <a:ea typeface="Noto Sans SC" panose="020B0200000000000000" charset="-122"/>
              </a:rPr>
              <a:t>团队成员：北大核心论文作者</a:t>
            </a:r>
            <a:endParaRPr sz="1400" b="0">
              <a:solidFill>
                <a:schemeClr val="tx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0" y="3899892"/>
            <a:ext cx="4318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 panose="020B0200000000000000" charset="-122"/>
              </a:rPr>
              <a:t>贾昊阳</a:t>
            </a:r>
            <a:endParaRPr sz="1000" b="0">
              <a:solidFill>
                <a:srgbClr val="1A203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524500" y="3899892"/>
            <a:ext cx="321056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DM Sans"/>
                <a:ea typeface="Noto Sans SC" panose="020B0200000000000000" charset="-122"/>
              </a:rPr>
              <a:t>团队成员：北大核心论文作者、SCI 一作</a:t>
            </a:r>
            <a:endParaRPr sz="1400" b="0">
              <a:solidFill>
                <a:schemeClr val="tx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0" y="4261842"/>
            <a:ext cx="4318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 panose="020B0200000000000000" charset="-122"/>
              </a:rPr>
              <a:t>刘锦洋</a:t>
            </a:r>
            <a:endParaRPr sz="1000" b="0">
              <a:solidFill>
                <a:srgbClr val="1A203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524500" y="4261842"/>
            <a:ext cx="337820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DM Sans"/>
                <a:ea typeface="Noto Sans SC" panose="020B0200000000000000" charset="-122"/>
              </a:rPr>
              <a:t>团队成员：参与合金材料研发，专利发明人</a:t>
            </a:r>
            <a:endParaRPr sz="1400" b="0">
              <a:solidFill>
                <a:schemeClr val="tx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0" y="4623792"/>
            <a:ext cx="1003300" cy="764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 panose="020B0200000000000000" charset="-122"/>
              </a:rPr>
              <a:t>蒋筱钰</a:t>
            </a:r>
            <a:endParaRPr sz="1000" b="0">
              <a:solidFill>
                <a:srgbClr val="1A2030"/>
              </a:solidFill>
              <a:latin typeface="DM Sans Medium"/>
              <a:ea typeface="Noto Sans SC Medium" panose="020B0200000000000000" charset="-122"/>
            </a:endParaRP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 panose="020B0200000000000000" charset="-122"/>
              </a:rPr>
              <a:t>周子晴</a:t>
            </a:r>
            <a:endParaRPr sz="1000" b="0">
              <a:solidFill>
                <a:srgbClr val="1A2030"/>
              </a:solidFill>
              <a:latin typeface="DM Sans Medium"/>
              <a:ea typeface="Noto Sans SC Medium" panose="020B0200000000000000" charset="-122"/>
            </a:endParaRP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 panose="020B0200000000000000" charset="-122"/>
              </a:rPr>
              <a:t>刘奕彤</a:t>
            </a:r>
            <a:endParaRPr sz="1000" b="0">
              <a:solidFill>
                <a:srgbClr val="1A203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524500" y="4902557"/>
            <a:ext cx="320040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DM Sans"/>
                <a:ea typeface="Noto Sans SC" panose="020B0200000000000000" charset="-122"/>
              </a:rPr>
              <a:t>团队成员：参与项目实验检测和资料整理</a:t>
            </a:r>
            <a:endParaRPr sz="1400" b="0">
              <a:solidFill>
                <a:schemeClr val="tx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2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8300"/>
            <a:ext cx="5080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团队介绍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23 / 28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719460"/>
            <a:ext cx="41021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故事的起点：一堂导论课</a:t>
            </a:r>
            <a:endParaRPr sz="29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267049"/>
            <a:ext cx="1778000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一群志同道合的伙伴，从一堂课出发</a:t>
            </a:r>
            <a:endParaRPr sz="85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768004"/>
            <a:ext cx="28956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兴趣是最强引擎，从</a:t>
            </a:r>
            <a:r>
              <a:rPr sz="1600" b="0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一堂课</a:t>
            </a:r>
            <a:r>
              <a:rPr sz="16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开始</a:t>
            </a:r>
            <a:endParaRPr sz="16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376314"/>
            <a:ext cx="459779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阶段 01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528714"/>
            <a:ext cx="229195" cy="546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60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1</a:t>
            </a:r>
            <a:endParaRPr sz="3000" b="1" spc="-60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4011314"/>
            <a:ext cx="10033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导论课初识</a:t>
            </a:r>
            <a:endParaRPr sz="15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68400" y="4366914"/>
            <a:ext cx="71755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专业导论课</a:t>
            </a:r>
            <a:endParaRPr sz="10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4692153"/>
            <a:ext cx="3225800" cy="5729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大二时，郭政佑在巫瑞智教授的专业导论课上第一次接触</a:t>
            </a:r>
            <a:endParaRPr sz="10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到</a:t>
            </a:r>
            <a:r>
              <a:rPr sz="1000" b="0">
                <a:solidFill>
                  <a:srgbClr val="C8A870"/>
                </a:solidFill>
                <a:latin typeface="DM Sans"/>
                <a:ea typeface="Noto Sans SC" panose="020B0200000000000000" charset="-122"/>
              </a:rPr>
              <a:t>镁锂合金</a:t>
            </a:r>
            <a:endParaRPr sz="1000" b="0">
              <a:solidFill>
                <a:srgbClr val="C8A8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54550" y="3376314"/>
            <a:ext cx="459779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阶段 02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54550" y="3528714"/>
            <a:ext cx="229195" cy="546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60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2</a:t>
            </a:r>
            <a:endParaRPr sz="3000" b="1" spc="-60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54550" y="4011314"/>
            <a:ext cx="8128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加入课题</a:t>
            </a:r>
            <a:endParaRPr sz="15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08550" y="4366914"/>
            <a:ext cx="58420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浓厚兴趣</a:t>
            </a:r>
            <a:endParaRPr sz="10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54550" y="4692153"/>
            <a:ext cx="2933700" cy="5729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带着浓厚兴趣，加入巫教授带领的</a:t>
            </a:r>
            <a:r>
              <a:rPr sz="1000" b="0">
                <a:solidFill>
                  <a:srgbClr val="C8A870"/>
                </a:solidFill>
                <a:latin typeface="DM Sans"/>
                <a:ea typeface="Noto Sans SC" panose="020B0200000000000000" charset="-122"/>
              </a:rPr>
              <a:t>“镁锂基电磁屏蔽</a:t>
            </a:r>
            <a:endParaRPr sz="1000" b="0">
              <a:solidFill>
                <a:srgbClr val="C8A8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A870"/>
                </a:solidFill>
                <a:latin typeface="DM Sans"/>
                <a:ea typeface="Noto Sans SC" panose="020B0200000000000000" charset="-122"/>
              </a:rPr>
              <a:t>材料”</a:t>
            </a:r>
            <a:r>
              <a:rPr sz="10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课题研究</a:t>
            </a:r>
            <a:endParaRPr sz="10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02600" y="3376314"/>
            <a:ext cx="459779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阶段 03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02600" y="3528714"/>
            <a:ext cx="229195" cy="546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60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3</a:t>
            </a:r>
            <a:endParaRPr sz="3000" b="1" spc="-60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02600" y="4011314"/>
            <a:ext cx="8128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开启研究</a:t>
            </a:r>
            <a:endParaRPr sz="15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56600" y="4366914"/>
            <a:ext cx="58420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志同道合</a:t>
            </a:r>
            <a:endParaRPr sz="10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02600" y="4692153"/>
            <a:ext cx="3225800" cy="5729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与一群志同道合的小伙伴，开启</a:t>
            </a:r>
            <a:r>
              <a:rPr sz="1000" b="0">
                <a:solidFill>
                  <a:srgbClr val="C8A870"/>
                </a:solidFill>
                <a:latin typeface="DM Sans"/>
                <a:ea typeface="Noto Sans SC" panose="020B0200000000000000" charset="-122"/>
              </a:rPr>
              <a:t>镁锂合金材料综合性能提</a:t>
            </a:r>
            <a:endParaRPr sz="1000" b="0">
              <a:solidFill>
                <a:srgbClr val="C8A8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A870"/>
                </a:solidFill>
                <a:latin typeface="DM Sans"/>
                <a:ea typeface="Noto Sans SC" panose="020B0200000000000000" charset="-122"/>
              </a:rPr>
              <a:t>升</a:t>
            </a:r>
            <a:r>
              <a:rPr sz="10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的研究之路</a:t>
            </a:r>
            <a:endParaRPr sz="10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2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8300"/>
            <a:ext cx="5080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团队介绍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9827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24 / 28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11635"/>
            <a:ext cx="37338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并肩同行，共赢的力量</a:t>
            </a:r>
            <a:endParaRPr sz="29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359223"/>
            <a:ext cx="1562100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0A8"/>
                </a:solidFill>
                <a:latin typeface="DM Sans"/>
                <a:ea typeface="Noto Sans SC" panose="020B0200000000000000" charset="-122"/>
              </a:rPr>
              <a:t>学习与科创，是相辅相成的两翼</a:t>
            </a:r>
            <a:endParaRPr sz="850" b="0">
              <a:solidFill>
                <a:srgbClr val="9AA0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860178"/>
            <a:ext cx="461674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团队行稳致远的三个关键词：</a:t>
            </a:r>
            <a:r>
              <a:rPr sz="1600" b="0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协作 · 传承 · 学业基石</a:t>
            </a:r>
            <a:endParaRPr sz="1600" b="0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914400" y="3601839"/>
            <a:ext cx="787400" cy="279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协作共赢</a:t>
            </a:r>
            <a:endParaRPr sz="145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914400" y="3897709"/>
            <a:ext cx="5156200" cy="2330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团队成员各展所长，从材料选择、复合制备到性能检验环环推进。</a:t>
            </a:r>
            <a:endParaRPr sz="14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6299200" y="3601839"/>
            <a:ext cx="603250" cy="279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传帮带</a:t>
            </a:r>
            <a:endParaRPr sz="145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6299200" y="3897709"/>
            <a:ext cx="4089400" cy="2330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师兄师姐传帮带，师生接力把课题一步步做深做实。</a:t>
            </a:r>
            <a:endParaRPr sz="14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914400" y="4408189"/>
            <a:ext cx="787400" cy="279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代工合作</a:t>
            </a:r>
            <a:endParaRPr sz="145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914400" y="4704060"/>
            <a:ext cx="4978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郭政佑牵头达成代工合作协议，实现超薄箔材的产业化成形验证</a:t>
            </a:r>
            <a:endParaRPr sz="14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同多家企业密切合作。</a:t>
            </a:r>
            <a:endParaRPr sz="14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6299200" y="4408189"/>
            <a:ext cx="787400" cy="279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学业基石</a:t>
            </a:r>
            <a:endParaRPr sz="145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6299200" y="4704060"/>
            <a:ext cx="4089400" cy="2330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团队一直坚信：好的学习成绩是科创道路上的基石。</a:t>
            </a:r>
            <a:endParaRPr sz="14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370534"/>
            <a:ext cx="321567" cy="2482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86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06</a:t>
            </a:r>
            <a:endParaRPr sz="1300" b="0" spc="286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935684"/>
            <a:ext cx="3098800" cy="857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历程与启示</a:t>
            </a:r>
            <a:endParaRPr sz="48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870325"/>
            <a:ext cx="5765800" cy="7540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从起点到诞生，是持续迭代的成果</a:t>
            </a:r>
            <a:endParaRPr sz="13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致敬每一位并肩前行的追光者</a:t>
            </a:r>
            <a:endParaRPr sz="13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2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1" name="Picture 1" descr="s26.png"/>
          <p:cNvPicPr>
            <a:picLocks noChangeAspect="1"/>
          </p:cNvPicPr>
          <p:nvPr/>
        </p:nvPicPr>
        <p:blipFill>
          <a:blip r:embed="rId1"/>
          <a:srcRect l="61302" t="24074" r="5182" b="22583"/>
          <a:stretch>
            <a:fillRect/>
          </a:stretch>
        </p:blipFill>
        <p:spPr>
          <a:xfrm>
            <a:off x="7985125" y="1599565"/>
            <a:ext cx="4086225" cy="3658235"/>
          </a:xfrm>
          <a:prstGeom prst="rect">
            <a:avLst/>
          </a:prstGeom>
        </p:spPr>
      </p:pic>
      <p:pic>
        <p:nvPicPr>
          <p:cNvPr id="3" name="Picture 2" descr="slide26_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450" y="2400796"/>
            <a:ext cx="3162300" cy="22680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历程与启示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9827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26 / 28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345902"/>
            <a:ext cx="44704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发展历程：从课堂到领奖台</a:t>
            </a:r>
            <a:endParaRPr sz="29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8050" y="1893490"/>
            <a:ext cx="2478186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chemeClr val="tx1"/>
                </a:solidFill>
                <a:latin typeface="DM Sans"/>
                <a:ea typeface="Noto Sans SC" panose="020B0200000000000000" charset="-122"/>
              </a:rPr>
              <a:t>2022 年 8 月—2023 年 5 月集中实验，探索约三年</a:t>
            </a:r>
            <a:endParaRPr sz="850" b="0">
              <a:solidFill>
                <a:schemeClr val="tx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93800" y="2369046"/>
            <a:ext cx="1082040" cy="134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01　课堂起点</a:t>
            </a:r>
            <a:endParaRPr sz="12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93800" y="2534146"/>
            <a:ext cx="4502150" cy="4432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郭政佑大二在专业导论课初识镁锂合金</a:t>
            </a:r>
            <a:endParaRPr sz="16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随后加入巫瑞智教授“镁锂基电磁屏蔽材料”课题组</a:t>
            </a:r>
            <a:endParaRPr sz="16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93800" y="3174722"/>
            <a:ext cx="1082040" cy="134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02　功能攻关</a:t>
            </a:r>
            <a:endParaRPr sz="12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93800" y="3339822"/>
            <a:ext cx="3657600" cy="2216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反复实验五次，得到理想的多维平行界面</a:t>
            </a:r>
            <a:endParaRPr sz="16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93800" y="3756243"/>
            <a:ext cx="1082040" cy="134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03　配方探索</a:t>
            </a:r>
            <a:endParaRPr sz="12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93800" y="3921343"/>
            <a:ext cx="4298950" cy="4432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先后尝试超过 15 种合金元素配比</a:t>
            </a:r>
            <a:endParaRPr sz="16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比例不当时成形性不足，累积叠轧“一轧就断裂”</a:t>
            </a:r>
            <a:endParaRPr sz="16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93800" y="4504134"/>
            <a:ext cx="1082040" cy="134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04　参数攻坚</a:t>
            </a:r>
            <a:endParaRPr sz="12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93800" y="4669234"/>
            <a:ext cx="5892800" cy="4432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不断调整叠轧温度、优化单次压下量</a:t>
            </a:r>
            <a:endParaRPr sz="16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因实验强度大、初期参数不当，报废过一台电源、两台磁力搅拌器</a:t>
            </a:r>
            <a:endParaRPr sz="16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93800" y="5212020"/>
            <a:ext cx="1082040" cy="134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05　材料诞生</a:t>
            </a:r>
            <a:endParaRPr sz="12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93800" y="5377120"/>
            <a:ext cx="6908800" cy="2216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集超轻、高强韧、高电磁屏蔽性于一体的多功能镁锂基复合材料在实验室诞生</a:t>
            </a:r>
            <a:endParaRPr sz="16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23300" y="4872672"/>
            <a:ext cx="2562423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0A8"/>
                </a:solidFill>
                <a:latin typeface="DM Sans"/>
                <a:ea typeface="Noto Sans SC" panose="020B0200000000000000" charset="-122"/>
              </a:rPr>
              <a:t>▲ 实验攻坚中报废的电源与制备的箔材（原稿素材）</a:t>
            </a:r>
            <a:endParaRPr sz="850" b="0">
              <a:solidFill>
                <a:srgbClr val="9AA0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51850" y="5310127"/>
            <a:ext cx="2744589" cy="254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“从起点到诞生，是持续迭代的成果。”</a:t>
            </a:r>
            <a:endParaRPr sz="13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2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历程与启示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27 / 28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71067"/>
            <a:ext cx="18923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总结与启示</a:t>
            </a:r>
            <a:endParaRPr sz="29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418655"/>
            <a:ext cx="3584078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项目成功的关键因素 · 对大学生科创团队建设的启示（依据原稿内容整理）</a:t>
            </a:r>
            <a:endParaRPr sz="85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906910"/>
            <a:ext cx="1040130" cy="134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项目成功的关键因素</a:t>
            </a:r>
            <a:endParaRPr sz="8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68400" y="3148210"/>
            <a:ext cx="3505200" cy="244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兴趣驱动</a:t>
            </a:r>
            <a:r>
              <a:rPr sz="12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　从一堂专业导论课出发，兴趣是最强引擎</a:t>
            </a:r>
            <a:endParaRPr sz="12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68400" y="3467100"/>
            <a:ext cx="4876800" cy="244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名师领航</a:t>
            </a:r>
            <a:r>
              <a:rPr sz="12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　巫瑞智教授团队与超轻材料与表面技术教育部重点实验室支撑</a:t>
            </a:r>
            <a:endParaRPr sz="12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68400" y="3785989"/>
            <a:ext cx="5029200" cy="244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分工协作</a:t>
            </a:r>
            <a:r>
              <a:rPr sz="12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　机理研究、成分设计、成形复合、表征测试、成果整理环环相扣</a:t>
            </a:r>
            <a:endParaRPr sz="12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68400" y="4104878"/>
            <a:ext cx="4114800" cy="244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迭代攻坚</a:t>
            </a:r>
            <a:r>
              <a:rPr sz="12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　五次修整、十五种配比，报废设备仍坚持迭代改进</a:t>
            </a:r>
            <a:endParaRPr sz="12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05575" y="2906910"/>
            <a:ext cx="1271270" cy="134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对大学生科创团队的启示</a:t>
            </a:r>
            <a:endParaRPr sz="8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53225" y="3148210"/>
            <a:ext cx="4419600" cy="244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学业为基</a:t>
            </a:r>
            <a:r>
              <a:rPr sz="12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　学习与科创相辅相成，好的学习成绩是科创道路的基石</a:t>
            </a:r>
            <a:endParaRPr sz="12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53225" y="3467100"/>
            <a:ext cx="4114800" cy="244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传帮带</a:t>
            </a:r>
            <a:r>
              <a:rPr sz="12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　师兄师姐传帮带、师生接力，把课题一步步做深做实</a:t>
            </a:r>
            <a:endParaRPr sz="12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53225" y="3785989"/>
            <a:ext cx="3962400" cy="244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需求牵引</a:t>
            </a:r>
            <a:r>
              <a:rPr sz="12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　面向真实需求选题，成果才能从实验室走向产业</a:t>
            </a:r>
            <a:endParaRPr sz="12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53225" y="4104878"/>
            <a:ext cx="4267200" cy="244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坚持迭代</a:t>
            </a:r>
            <a:r>
              <a:rPr sz="12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　明确分工＋长期坚持，让想法一步步变成特等奖成果</a:t>
            </a:r>
            <a:endParaRPr sz="12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8100" y="5560417"/>
            <a:ext cx="44958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御磁坚盾：以材料之韧守护科技之梦，点亮青年创新之光</a:t>
            </a:r>
            <a:endParaRPr sz="14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2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25414"/>
            <a:ext cx="833139" cy="2139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22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THE END</a:t>
            </a:r>
            <a:endParaRPr sz="1100" b="0" spc="22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103264"/>
            <a:ext cx="7734300" cy="984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500" b="1">
                <a:solidFill>
                  <a:srgbClr val="E2DCD0"/>
                </a:solidFill>
                <a:latin typeface="Cambria" panose="02040503050406030204"/>
                <a:ea typeface="Noto Sans SC" panose="020B0200000000000000" charset="-122"/>
              </a:rPr>
              <a:t>致敬每一位</a:t>
            </a:r>
            <a:r>
              <a:rPr sz="5500" b="1">
                <a:solidFill>
                  <a:srgbClr val="C8A870"/>
                </a:solidFill>
                <a:latin typeface="Cambria" panose="02040503050406030204"/>
                <a:ea typeface="Noto Sans SC" panose="020B0200000000000000" charset="-122"/>
              </a:rPr>
              <a:t>追光</a:t>
            </a:r>
            <a:r>
              <a:rPr sz="5500" b="1">
                <a:solidFill>
                  <a:srgbClr val="E2DCD0"/>
                </a:solidFill>
                <a:latin typeface="Cambria" panose="02040503050406030204"/>
                <a:ea typeface="Noto Sans SC" panose="020B0200000000000000" charset="-122"/>
              </a:rPr>
              <a:t>的科创人</a:t>
            </a:r>
            <a:endParaRPr sz="5500" b="1">
              <a:solidFill>
                <a:srgbClr val="E2DCD0"/>
              </a:solidFill>
              <a:latin typeface="Cambria" panose="02040503050406030204"/>
              <a:ea typeface="Noto Sans SC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4180185"/>
            <a:ext cx="267870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chemeClr val="bg1"/>
                </a:solidFill>
                <a:latin typeface="IBM Plex Mono Medium"/>
                <a:ea typeface="Noto Sans SC Medium" panose="020B0200000000000000" charset="-122"/>
              </a:rPr>
              <a:t>御磁坚盾　·　第十八届挑战杯　·　2026 / 10 / 18</a:t>
            </a:r>
            <a:endParaRPr sz="700" b="0" spc="112">
              <a:solidFill>
                <a:schemeClr val="bg1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5.64370078740149,&quot;left&quot;:17.9,&quot;top&quot;:130.40937007874018,&quot;width&quot;:987.5030708661418}"/>
</p:tagLst>
</file>

<file path=ppt/tags/tag2.xml><?xml version="1.0" encoding="utf-8"?>
<p:tagLst xmlns:p="http://schemas.openxmlformats.org/presentationml/2006/main">
  <p:tag name="KSO_WM_DIAGRAM_VIRTUALLY_FRAME" val="{&quot;height&quot;:245.64370078740149,&quot;left&quot;:17.9,&quot;top&quot;:130.40937007874018,&quot;width&quot;:987.5030708661418}"/>
</p:tagLst>
</file>

<file path=ppt/tags/tag3.xml><?xml version="1.0" encoding="utf-8"?>
<p:tagLst xmlns:p="http://schemas.openxmlformats.org/presentationml/2006/main">
  <p:tag name="KSO_WM_DIAGRAM_VIRTUALLY_FRAME" val="{&quot;height&quot;:245.64370078740149,&quot;left&quot;:17.9,&quot;top&quot;:130.40937007874018,&quot;width&quot;:987.5030708661418}"/>
</p:tagLst>
</file>

<file path=ppt/tags/tag4.xml><?xml version="1.0" encoding="utf-8"?>
<p:tagLst xmlns:p="http://schemas.openxmlformats.org/presentationml/2006/main">
  <p:tag name="KSO_WM_DIAGRAM_VIRTUALLY_FRAME" val="{&quot;height&quot;:245.64370078740149,&quot;left&quot;:17.9,&quot;top&quot;:130.40937007874018,&quot;width&quot;:987.5030708661418}"/>
</p:tagLst>
</file>

<file path=ppt/tags/tag5.xml><?xml version="1.0" encoding="utf-8"?>
<p:tagLst xmlns:p="http://schemas.openxmlformats.org/presentationml/2006/main">
  <p:tag name="KSO_WM_DIAGRAM_VIRTUALLY_FRAME" val="{&quot;height&quot;:245.64370078740149,&quot;left&quot;:17.9,&quot;top&quot;:130.40937007874018,&quot;width&quot;:987.5030708661418}"/>
</p:tagLst>
</file>

<file path=ppt/tags/tag6.xml><?xml version="1.0" encoding="utf-8"?>
<p:tagLst xmlns:p="http://schemas.openxmlformats.org/presentationml/2006/main">
  <p:tag name="KSO_WM_DIAGRAM_VIRTUALLY_FRAME" val="{&quot;height&quot;:245.64370078740149,&quot;left&quot;:17.9,&quot;top&quot;:130.40937007874018,&quot;width&quot;:987.5030708661418}"/>
</p:tagLst>
</file>

<file path=ppt/tags/tag7.xml><?xml version="1.0" encoding="utf-8"?>
<p:tagLst xmlns:p="http://schemas.openxmlformats.org/presentationml/2006/main">
  <p:tag name="KSO_WM_DIAGRAM_VIRTUALLY_FRAME" val="{&quot;height&quot;:245.64370078740149,&quot;left&quot;:17.9,&quot;top&quot;:130.40937007874018,&quot;width&quot;:987.5030708661418}"/>
</p:tagLst>
</file>

<file path=ppt/tags/tag8.xml><?xml version="1.0" encoding="utf-8"?>
<p:tagLst xmlns:p="http://schemas.openxmlformats.org/presentationml/2006/main">
  <p:tag name="KSO_WM_DIAGRAM_VIRTUALLY_FRAME" val="{&quot;height&quot;:245.64370078740149,&quot;left&quot;:17.9,&quot;top&quot;:130.40937007874018,&quot;width&quot;:987.5030708661418}"/>
</p:tagLst>
</file>

<file path=ppt/tags/tag9.xml><?xml version="1.0" encoding="utf-8"?>
<p:tagLst xmlns:p="http://schemas.openxmlformats.org/presentationml/2006/main">
  <p:tag name="KSO_WM_DIAGRAM_VIRTUALLY_FRAME" val="{&quot;height&quot;:245.64370078740149,&quot;left&quot;:17.9,&quot;top&quot;:130.40937007874018,&quot;width&quot;:987.5030708661418}"/>
</p:tagLst>
</file>

<file path=ppt/tags/tag10.xml><?xml version="1.0" encoding="utf-8"?>
<p:tagLst xmlns:p="http://schemas.openxmlformats.org/presentationml/2006/main">
  <p:tag name="KSO_WM_DIAGRAM_VIRTUALLY_FRAME" val="{&quot;height&quot;:245.64370078740149,&quot;left&quot;:17.9,&quot;top&quot;:130.40937007874018,&quot;width&quot;:987.5030708661418}"/>
</p:tagLst>
</file>

<file path=ppt/tags/tag11.xml><?xml version="1.0" encoding="utf-8"?>
<p:tagLst xmlns:p="http://schemas.openxmlformats.org/presentationml/2006/main">
  <p:tag name="KSO_WM_DIAGRAM_VIRTUALLY_FRAME" val="{&quot;height&quot;:245.64370078740149,&quot;left&quot;:17.9,&quot;top&quot;:130.40937007874018,&quot;width&quot;:987.5030708661418}"/>
</p:tagLst>
</file>

<file path=ppt/tags/tag12.xml><?xml version="1.0" encoding="utf-8"?>
<p:tagLst xmlns:p="http://schemas.openxmlformats.org/presentationml/2006/main">
  <p:tag name="KSO_WM_DIAGRAM_VIRTUALLY_FRAME" val="{&quot;height&quot;:245.64370078740149,&quot;left&quot;:17.9,&quot;top&quot;:130.40937007874018,&quot;width&quot;:987.5030708661418}"/>
</p:tagLst>
</file>

<file path=ppt/tags/tag13.xml><?xml version="1.0" encoding="utf-8"?>
<p:tagLst xmlns:p="http://schemas.openxmlformats.org/presentationml/2006/main">
  <p:tag name="KSO_WM_DIAGRAM_VIRTUALLY_FRAME" val="{&quot;height&quot;:245.64370078740149,&quot;left&quot;:17.9,&quot;top&quot;:130.40937007874018,&quot;width&quot;:987.5030708661418}"/>
</p:tagLst>
</file>

<file path=ppt/tags/tag14.xml><?xml version="1.0" encoding="utf-8"?>
<p:tagLst xmlns:p="http://schemas.openxmlformats.org/presentationml/2006/main">
  <p:tag name="KSO_WM_DIAGRAM_VIRTUALLY_FRAME" val="{&quot;height&quot;:245.64370078740149,&quot;left&quot;:17.9,&quot;top&quot;:130.40937007874018,&quot;width&quot;:987.5030708661418}"/>
</p:tagLst>
</file>

<file path=ppt/tags/tag15.xml><?xml version="1.0" encoding="utf-8"?>
<p:tagLst xmlns:p="http://schemas.openxmlformats.org/presentationml/2006/main">
  <p:tag name="KSO_WM_DIAGRAM_VIRTUALLY_FRAME" val="{&quot;height&quot;:245.64370078740149,&quot;left&quot;:17.9,&quot;top&quot;:130.40937007874018,&quot;width&quot;:987.5030708661418}"/>
</p:tagLst>
</file>

<file path=ppt/tags/tag16.xml><?xml version="1.0" encoding="utf-8"?>
<p:tagLst xmlns:p="http://schemas.openxmlformats.org/presentationml/2006/main">
  <p:tag name="KSO_WM_DIAGRAM_VIRTUALLY_FRAME" val="{&quot;height&quot;:245.64370078740149,&quot;left&quot;:17.9,&quot;top&quot;:130.40937007874018,&quot;width&quot;:987.5030708661418}"/>
</p:tagLst>
</file>

<file path=ppt/tags/tag17.xml><?xml version="1.0" encoding="utf-8"?>
<p:tagLst xmlns:p="http://schemas.openxmlformats.org/presentationml/2006/main">
  <p:tag name="KSO_WM_DIAGRAM_VIRTUALLY_FRAME" val="{&quot;height&quot;:245.64370078740149,&quot;left&quot;:17.9,&quot;top&quot;:130.40937007874018,&quot;width&quot;:987.5030708661418}"/>
</p:tagLst>
</file>

<file path=ppt/tags/tag18.xml><?xml version="1.0" encoding="utf-8"?>
<p:tagLst xmlns:p="http://schemas.openxmlformats.org/presentationml/2006/main">
  <p:tag name="KSO_WM_DIAGRAM_VIRTUALLY_FRAME" val="{&quot;height&quot;:245.64370078740149,&quot;left&quot;:17.9,&quot;top&quot;:130.40937007874018,&quot;width&quot;:987.5030708661418}"/>
</p:tagLst>
</file>

<file path=ppt/tags/tag19.xml><?xml version="1.0" encoding="utf-8"?>
<p:tagLst xmlns:p="http://schemas.openxmlformats.org/presentationml/2006/main">
  <p:tag name="KSO_WM_DIAGRAM_VIRTUALLY_FRAME" val="{&quot;height&quot;:322.94842519685034,&quot;left&quot;:416.78508907829837,&quot;top&quot;:133.85,&quot;width&quot;:737.1649109217017}"/>
</p:tagLst>
</file>

<file path=ppt/tags/tag20.xml><?xml version="1.0" encoding="utf-8"?>
<p:tagLst xmlns:p="http://schemas.openxmlformats.org/presentationml/2006/main">
  <p:tag name="KSO_WM_DIAGRAM_VIRTUALLY_FRAME" val="{&quot;height&quot;:322.94842519685034,&quot;left&quot;:416.78508907829837,&quot;top&quot;:133.85,&quot;width&quot;:737.1649109217017}"/>
</p:tagLst>
</file>

<file path=ppt/tags/tag21.xml><?xml version="1.0" encoding="utf-8"?>
<p:tagLst xmlns:p="http://schemas.openxmlformats.org/presentationml/2006/main">
  <p:tag name="KSO_WM_DIAGRAM_VIRTUALLY_FRAME" val="{&quot;height&quot;:322.94842519685034,&quot;left&quot;:416.78508907829837,&quot;top&quot;:133.85,&quot;width&quot;:737.1649109217017}"/>
</p:tagLst>
</file>

<file path=ppt/tags/tag22.xml><?xml version="1.0" encoding="utf-8"?>
<p:tagLst xmlns:p="http://schemas.openxmlformats.org/presentationml/2006/main">
  <p:tag name="KSO_WM_DIAGRAM_VIRTUALLY_FRAME" val="{&quot;height&quot;:322.94842519685034,&quot;left&quot;:416.78508907829837,&quot;top&quot;:133.85,&quot;width&quot;:737.1649109217017}"/>
</p:tagLst>
</file>

<file path=ppt/tags/tag23.xml><?xml version="1.0" encoding="utf-8"?>
<p:tagLst xmlns:p="http://schemas.openxmlformats.org/presentationml/2006/main">
  <p:tag name="KSO_WM_DIAGRAM_VIRTUALLY_FRAME" val="{&quot;height&quot;:322.94842519685034,&quot;left&quot;:416.78508907829837,&quot;top&quot;:133.85,&quot;width&quot;:737.1649109217017}"/>
</p:tagLst>
</file>

<file path=ppt/tags/tag24.xml><?xml version="1.0" encoding="utf-8"?>
<p:tagLst xmlns:p="http://schemas.openxmlformats.org/presentationml/2006/main">
  <p:tag name="KSO_WM_DIAGRAM_VIRTUALLY_FRAME" val="{&quot;height&quot;:322.94842519685034,&quot;left&quot;:416.78508907829837,&quot;top&quot;:133.85,&quot;width&quot;:737.1649109217017}"/>
</p:tagLst>
</file>

<file path=ppt/tags/tag25.xml><?xml version="1.0" encoding="utf-8"?>
<p:tagLst xmlns:p="http://schemas.openxmlformats.org/presentationml/2006/main">
  <p:tag name="KSO_WM_DIAGRAM_VIRTUALLY_FRAME" val="{&quot;height&quot;:322.94842519685034,&quot;left&quot;:416.78508907829837,&quot;top&quot;:133.85,&quot;width&quot;:737.1649109217017}"/>
</p:tagLst>
</file>

<file path=ppt/tags/tag26.xml><?xml version="1.0" encoding="utf-8"?>
<p:tagLst xmlns:p="http://schemas.openxmlformats.org/presentationml/2006/main">
  <p:tag name="KSO_WM_DIAGRAM_VIRTUALLY_FRAME" val="{&quot;height&quot;:322.94842519685034,&quot;left&quot;:416.78508907829837,&quot;top&quot;:133.85,&quot;width&quot;:737.1649109217017}"/>
</p:tagLst>
</file>

<file path=ppt/tags/tag27.xml><?xml version="1.0" encoding="utf-8"?>
<p:tagLst xmlns:p="http://schemas.openxmlformats.org/presentationml/2006/main">
  <p:tag name="KSO_WM_DIAGRAM_VIRTUALLY_FRAME" val="{&quot;height&quot;:322.94842519685034,&quot;left&quot;:416.78508907829837,&quot;top&quot;:133.85,&quot;width&quot;:737.1649109217017}"/>
</p:tagLst>
</file>

<file path=ppt/tags/tag28.xml><?xml version="1.0" encoding="utf-8"?>
<p:tagLst xmlns:p="http://schemas.openxmlformats.org/presentationml/2006/main">
  <p:tag name="KSO_WM_DIAGRAM_VIRTUALLY_FRAME" val="{&quot;height&quot;:322.94842519685034,&quot;left&quot;:416.78508907829837,&quot;top&quot;:133.85,&quot;width&quot;:737.1649109217017}"/>
</p:tagLst>
</file>

<file path=ppt/tags/tag29.xml><?xml version="1.0" encoding="utf-8"?>
<p:tagLst xmlns:p="http://schemas.openxmlformats.org/presentationml/2006/main">
  <p:tag name="KSO_WM_DIAGRAM_VIRTUALLY_FRAME" val="{&quot;height&quot;:322.94842519685034,&quot;left&quot;:416.78508907829837,&quot;top&quot;:133.85,&quot;width&quot;:737.1649109217017}"/>
</p:tagLst>
</file>

<file path=ppt/tags/tag30.xml><?xml version="1.0" encoding="utf-8"?>
<p:tagLst xmlns:p="http://schemas.openxmlformats.org/presentationml/2006/main">
  <p:tag name="KSO_WM_DIAGRAM_VIRTUALLY_FRAME" val="{&quot;height&quot;:322.94842519685034,&quot;left&quot;:416.78508907829837,&quot;top&quot;:133.85,&quot;width&quot;:737.1649109217017}"/>
</p:tagLst>
</file>

<file path=ppt/tags/tag31.xml><?xml version="1.0" encoding="utf-8"?>
<p:tagLst xmlns:p="http://schemas.openxmlformats.org/presentationml/2006/main">
  <p:tag name="KSO_WM_DIAGRAM_VIRTUALLY_FRAME" val="{&quot;height&quot;:123.53905511811021,&quot;left&quot;:72,&quot;top&quot;:283.6093700787402,&quot;width&quot;:746}"/>
</p:tagLst>
</file>

<file path=ppt/tags/tag32.xml><?xml version="1.0" encoding="utf-8"?>
<p:tagLst xmlns:p="http://schemas.openxmlformats.org/presentationml/2006/main">
  <p:tag name="KSO_WM_DIAGRAM_VIRTUALLY_FRAME" val="{&quot;height&quot;:123.53905511811021,&quot;left&quot;:72,&quot;top&quot;:283.6093700787402,&quot;width&quot;:746}"/>
</p:tagLst>
</file>

<file path=ppt/tags/tag33.xml><?xml version="1.0" encoding="utf-8"?>
<p:tagLst xmlns:p="http://schemas.openxmlformats.org/presentationml/2006/main">
  <p:tag name="KSO_WM_DIAGRAM_VIRTUALLY_FRAME" val="{&quot;height&quot;:123.53905511811021,&quot;left&quot;:72,&quot;top&quot;:283.6093700787402,&quot;width&quot;:746}"/>
</p:tagLst>
</file>

<file path=ppt/tags/tag34.xml><?xml version="1.0" encoding="utf-8"?>
<p:tagLst xmlns:p="http://schemas.openxmlformats.org/presentationml/2006/main">
  <p:tag name="KSO_WM_DIAGRAM_VIRTUALLY_FRAME" val="{&quot;height&quot;:123.53905511811021,&quot;left&quot;:72,&quot;top&quot;:283.6093700787402,&quot;width&quot;:746}"/>
</p:tagLst>
</file>

<file path=ppt/tags/tag35.xml><?xml version="1.0" encoding="utf-8"?>
<p:tagLst xmlns:p="http://schemas.openxmlformats.org/presentationml/2006/main">
  <p:tag name="KSO_WM_DIAGRAM_VIRTUALLY_FRAME" val="{&quot;height&quot;:123.53905511811021,&quot;left&quot;:72,&quot;top&quot;:283.6093700787402,&quot;width&quot;:746}"/>
</p:tagLst>
</file>

<file path=ppt/tags/tag36.xml><?xml version="1.0" encoding="utf-8"?>
<p:tagLst xmlns:p="http://schemas.openxmlformats.org/presentationml/2006/main">
  <p:tag name="KSO_WM_DIAGRAM_VIRTUALLY_FRAME" val="{&quot;height&quot;:123.53905511811021,&quot;left&quot;:72,&quot;top&quot;:283.6093700787402,&quot;width&quot;:746}"/>
</p:tagLst>
</file>

<file path=ppt/tags/tag37.xml><?xml version="1.0" encoding="utf-8"?>
<p:tagLst xmlns:p="http://schemas.openxmlformats.org/presentationml/2006/main">
  <p:tag name="KSO_WM_DIAGRAM_VIRTUALLY_FRAME" val="{&quot;height&quot;:123.53905511811021,&quot;left&quot;:72,&quot;top&quot;:283.6093700787402,&quot;width&quot;:746}"/>
</p:tagLst>
</file>

<file path=ppt/tags/tag38.xml><?xml version="1.0" encoding="utf-8"?>
<p:tagLst xmlns:p="http://schemas.openxmlformats.org/presentationml/2006/main">
  <p:tag name="KSO_WM_DIAGRAM_VIRTUALLY_FRAME" val="{&quot;height&quot;:123.53905511811021,&quot;left&quot;:72,&quot;top&quot;:283.6093700787402,&quot;width&quot;:74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4770</Words>
  <Application>WPS 演示</Application>
  <PresentationFormat>On-screen Show (4:3)</PresentationFormat>
  <Paragraphs>765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9" baseType="lpstr">
      <vt:lpstr>Arial</vt:lpstr>
      <vt:lpstr>宋体</vt:lpstr>
      <vt:lpstr>Wingdings</vt:lpstr>
      <vt:lpstr>Arial</vt:lpstr>
      <vt:lpstr>IBM Plex Mono Medium</vt:lpstr>
      <vt:lpstr>Segoe Print</vt:lpstr>
      <vt:lpstr>Noto Sans SC Medium</vt:lpstr>
      <vt:lpstr>Cambria</vt:lpstr>
      <vt:lpstr>Noto Sans SC</vt:lpstr>
      <vt:lpstr>DM Sans</vt:lpstr>
      <vt:lpstr>DM Sans Medium</vt:lpstr>
      <vt:lpstr>微软雅黑</vt:lpstr>
      <vt:lpstr>Arial Unicode MS</vt:lpstr>
      <vt:lpstr>Calibri</vt:lpstr>
      <vt:lpstr>Cambria</vt:lpstr>
      <vt:lpstr>DM Sans</vt:lpstr>
      <vt:lpstr>DM Sans Medium</vt:lpstr>
      <vt:lpstr>IBM Plex Mono Medium</vt:lpstr>
      <vt:lpstr>Mona Medium</vt:lpstr>
      <vt:lpstr>Saturday Sans Regular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X</cp:lastModifiedBy>
  <cp:revision>2</cp:revision>
  <dcterms:created xsi:type="dcterms:W3CDTF">2013-01-27T09:14:00Z</dcterms:created>
  <dcterms:modified xsi:type="dcterms:W3CDTF">2026-10-14T10:19:53Z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CED8091458F74CA08238B004E564BB18_12</vt:lpwstr>
  </property>
</Properties>
</file>