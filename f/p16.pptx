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24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7.png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8.pn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9.png"/><Relationship Id="rId2" Type="http://schemas.openxmlformats.org/officeDocument/2006/relationships/image" Target="media/image30.png"/><Relationship Id="rId3" Type="http://schemas.openxmlformats.org/officeDocument/2006/relationships/image" Target="media/image31.png"/><Relationship Id="rId4" Type="http://schemas.openxmlformats.org/officeDocument/2006/relationships/image" Target="media/image32.pn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33.png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.pn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34.pn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35.png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36.png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3.png"/><Relationship Id="rId2" Type="http://schemas.openxmlformats.org/officeDocument/2006/relationships/image" Target="media/image4.jpeg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5.pn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6.png"/><Relationship Id="rId2" Type="http://schemas.openxmlformats.org/officeDocument/2006/relationships/image" Target="media/image7.png"/><Relationship Id="rId3" Type="http://schemas.openxmlformats.org/officeDocument/2006/relationships/image" Target="media/image8.png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.png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9.pn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0.png"/><Relationship Id="rId2" Type="http://schemas.openxmlformats.org/officeDocument/2006/relationships/image" Target="media/image11.pn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2.png"/><Relationship Id="rId2" Type="http://schemas.openxmlformats.org/officeDocument/2006/relationships/image" Target="media/image13.png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4.png"/><Relationship Id="rId2" Type="http://schemas.openxmlformats.org/officeDocument/2006/relationships/image" Target="media/image15.png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6.png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8.png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9.png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0.png"/><Relationship Id="rId2" Type="http://schemas.openxmlformats.org/officeDocument/2006/relationships/image" Target="media/image21.png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2.png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3.png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19.png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4.png"/><Relationship Id="rId2" Type="http://schemas.openxmlformats.org/officeDocument/2006/relationships/image" Target="media/image25.jpeg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6.png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Relationship Id="rId1" Type="http://schemas.openxmlformats.org/officeDocument/2006/relationships/image" Target="media/image27.png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79847"/>
            <a:ext cx="18415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第十八届挑战杯　·　主体赛特等奖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1648" y="1479847"/>
            <a:ext cx="9967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2026 / 10 / 18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35472"/>
            <a:ext cx="9956800" cy="25789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19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C8A870"/>
                </a:solidFill>
                <a:latin typeface="Cambria" panose="02040503050406030204"/>
                <a:ea typeface="Noto Sans SC" panose="020B0200000000000000" charset="-122"/>
              </a:rPr>
              <a:t>御磁坚盾</a:t>
            </a:r>
            <a:r>
              <a:rPr sz="62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——国内首创超轻高</a:t>
            </a:r>
            <a:endParaRPr sz="6200" b="1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  <a:p>
            <a:pPr algn="l">
              <a:lnSpc>
                <a:spcPts val="719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强韧镁锂基电磁屏蔽材料</a:t>
            </a:r>
            <a:endParaRPr sz="6200" b="1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351039"/>
            <a:ext cx="1979513" cy="25685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汇报人：翔安校科创 C 组</a:t>
            </a:r>
            <a:endParaRPr sz="135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98713" y="4471689"/>
            <a:ext cx="495300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6 名成员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24710"/>
            <a:ext cx="2838450" cy="215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朱雅琪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　资料搜集、策划书制作、推文完善</a:t>
            </a:r>
            <a:r>
              <a:rPr lang="zh-CN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、</a:t>
            </a:r>
            <a:r>
              <a:rPr lang="en-US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PPT</a:t>
            </a:r>
            <a:r>
              <a:rPr lang="zh-CN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完善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7267" y="4824710"/>
            <a:ext cx="2749550" cy="215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江佳忆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　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PPT 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完善、资料搜集、汇报答辩</a:t>
            </a:r>
            <a:r>
              <a:rPr lang="zh-CN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、海报制作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60233" y="4824710"/>
            <a:ext cx="161776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黄道然</a:t>
            </a: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资料搜集、PPT 完善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133181"/>
            <a:ext cx="2025650" cy="215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叶国为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　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PPT 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制作、汇报</a:t>
            </a:r>
            <a:r>
              <a:rPr lang="zh-CN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、策划书完善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7267" y="5133181"/>
            <a:ext cx="2146300" cy="215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易安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　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PPT 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制作</a:t>
            </a:r>
            <a:r>
              <a:rPr lang="zh-CN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、介绍书完善、海报完善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0233" y="5133181"/>
            <a:ext cx="1568450" cy="215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2DCD0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袁浩</a:t>
            </a:r>
            <a:r>
              <a:rPr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　推文制作</a:t>
            </a:r>
            <a:r>
              <a:rPr lang="zh-CN" sz="950" b="0">
                <a:solidFill>
                  <a:srgbClr val="8A96A8">
                    <a:alpha val="100000"/>
                  </a:srgbClr>
                </a:solidFill>
                <a:latin typeface="DM Sans"/>
                <a:ea typeface="Noto Sans SC"/>
                <a:cs typeface="+mn-cs"/>
              </a:rPr>
              <a:t>、策划书完善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Picture 1" descr="s02.png"/>
          <p:cNvPicPr>
            <a:picLocks noChangeAspect="1"/>
          </p:cNvPicPr>
          <p:nvPr/>
        </p:nvPicPr>
        <p:blipFill>
          <a:blip r:embed="rId1"/>
          <a:srcRect l="34729" t="15824" r="9672" b="54241"/>
          <a:stretch>
            <a:fillRect/>
          </a:stretch>
        </p:blipFill>
        <p:spPr>
          <a:xfrm>
            <a:off x="0" y="-1270"/>
            <a:ext cx="12192000" cy="6858635"/>
          </a:xfrm>
          <a:prstGeom prst="rect">
            <a:avLst/>
          </a:prstGeom>
        </p:spPr>
      </p:pic>
      <p:sp>
        <p:nvSpPr>
          <p:cNvPr id="167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御磁坚盾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68" name="TextBox 3"/>
          <p:cNvSpPr txBox="1"/>
          <p:nvPr/>
        </p:nvSpPr>
        <p:spPr>
          <a:xfrm>
            <a:off x="10501094" y="39878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02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69" name="TextBox 4"/>
          <p:cNvSpPr txBox="1"/>
          <p:nvPr/>
        </p:nvSpPr>
        <p:spPr>
          <a:xfrm>
            <a:off x="957580" y="945415"/>
            <a:ext cx="15240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内容导航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70" name="TextBox 5"/>
          <p:cNvSpPr txBox="1"/>
          <p:nvPr/>
        </p:nvSpPr>
        <p:spPr>
          <a:xfrm>
            <a:off x="227330" y="185368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71" name="TextBox 6"/>
          <p:cNvSpPr txBox="1"/>
          <p:nvPr/>
        </p:nvSpPr>
        <p:spPr>
          <a:xfrm>
            <a:off x="741680" y="1847334"/>
            <a:ext cx="12192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开场引入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2" name="TextBox 7"/>
          <p:cNvSpPr txBox="1"/>
          <p:nvPr/>
        </p:nvSpPr>
        <p:spPr>
          <a:xfrm>
            <a:off x="2567543" y="1853684"/>
            <a:ext cx="25400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挑战杯赛事与项目荣誉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3" name="TextBox 8"/>
          <p:cNvSpPr txBox="1"/>
          <p:nvPr/>
        </p:nvSpPr>
        <p:spPr>
          <a:xfrm>
            <a:off x="233680" y="308808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74" name="TextBox 9"/>
          <p:cNvSpPr txBox="1"/>
          <p:nvPr/>
        </p:nvSpPr>
        <p:spPr>
          <a:xfrm>
            <a:off x="741680" y="308173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项目概况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5" name="TextBox 10"/>
          <p:cNvSpPr txBox="1"/>
          <p:nvPr/>
        </p:nvSpPr>
        <p:spPr>
          <a:xfrm>
            <a:off x="2567543" y="3088084"/>
            <a:ext cx="33020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基础信息 · 项目内容 · 名师支撑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6" name="TextBox 11"/>
          <p:cNvSpPr txBox="1"/>
          <p:nvPr/>
        </p:nvSpPr>
        <p:spPr>
          <a:xfrm>
            <a:off x="233680" y="453203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77" name="TextBox 12"/>
          <p:cNvSpPr txBox="1"/>
          <p:nvPr/>
        </p:nvSpPr>
        <p:spPr>
          <a:xfrm>
            <a:off x="741680" y="452568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背景与灵感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8" name="TextBox 13"/>
          <p:cNvSpPr txBox="1"/>
          <p:nvPr/>
        </p:nvSpPr>
        <p:spPr>
          <a:xfrm>
            <a:off x="2567543" y="4532034"/>
            <a:ext cx="358394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航空电磁之困与弹球游戏启发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79" name="TextBox 14"/>
          <p:cNvSpPr txBox="1"/>
          <p:nvPr/>
        </p:nvSpPr>
        <p:spPr>
          <a:xfrm>
            <a:off x="6121400" y="184733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80" name="TextBox 15"/>
          <p:cNvSpPr txBox="1"/>
          <p:nvPr/>
        </p:nvSpPr>
        <p:spPr>
          <a:xfrm>
            <a:off x="6635750" y="184098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创新与成果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1" name="TextBox 16"/>
          <p:cNvSpPr txBox="1"/>
          <p:nvPr/>
        </p:nvSpPr>
        <p:spPr>
          <a:xfrm>
            <a:off x="8727440" y="1765300"/>
            <a:ext cx="3140075" cy="1078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三项创新 · 核心指标 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学术成果 · 产业化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2" name="TextBox 17"/>
          <p:cNvSpPr txBox="1"/>
          <p:nvPr/>
        </p:nvSpPr>
        <p:spPr>
          <a:xfrm>
            <a:off x="6127750" y="308173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83" name="TextBox 18"/>
          <p:cNvSpPr txBox="1"/>
          <p:nvPr/>
        </p:nvSpPr>
        <p:spPr>
          <a:xfrm>
            <a:off x="6635750" y="3075384"/>
            <a:ext cx="12192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团队介绍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4" name="TextBox 19"/>
          <p:cNvSpPr txBox="1"/>
          <p:nvPr/>
        </p:nvSpPr>
        <p:spPr>
          <a:xfrm>
            <a:off x="8159789" y="3075384"/>
            <a:ext cx="358394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八人分工 · 团队形成 · 协作传承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5" name="TextBox 20"/>
          <p:cNvSpPr txBox="1"/>
          <p:nvPr/>
        </p:nvSpPr>
        <p:spPr>
          <a:xfrm>
            <a:off x="6127750" y="4525684"/>
            <a:ext cx="334010" cy="173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06</a:t>
            </a:r>
            <a:endParaRPr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86" name="TextBox 21"/>
          <p:cNvSpPr txBox="1"/>
          <p:nvPr/>
        </p:nvSpPr>
        <p:spPr>
          <a:xfrm>
            <a:off x="6635750" y="4519334"/>
            <a:ext cx="1524000" cy="250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历程与启示</a:t>
            </a:r>
            <a:endParaRPr sz="240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7" name="TextBox 22"/>
          <p:cNvSpPr txBox="1"/>
          <p:nvPr/>
        </p:nvSpPr>
        <p:spPr>
          <a:xfrm>
            <a:off x="8429664" y="4525684"/>
            <a:ext cx="306197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发展历程 · 总结与科创启示</a:t>
            </a:r>
            <a:endParaRPr sz="2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88" name="TextBox 2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Picture 1" descr="s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5" name="TextBox 2"/>
          <p:cNvSpPr txBox="1"/>
          <p:nvPr/>
        </p:nvSpPr>
        <p:spPr>
          <a:xfrm>
            <a:off x="914400" y="200481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36" name="TextBox 3"/>
          <p:cNvSpPr txBox="1"/>
          <p:nvPr/>
        </p:nvSpPr>
        <p:spPr>
          <a:xfrm>
            <a:off x="895350" y="2576314"/>
            <a:ext cx="8940800" cy="204030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“</a:t>
            </a: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挑战杯</a:t>
            </a:r>
            <a:r>
              <a:rPr sz="48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”</a:t>
            </a: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全国大学生课外学术科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技作品竞赛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37" name="TextBox 4"/>
          <p:cNvSpPr txBox="1"/>
          <p:nvPr/>
        </p:nvSpPr>
        <p:spPr>
          <a:xfrm>
            <a:off x="914400" y="424239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挑战杯，大学生科创的最高舞台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认识“大挑”，看懂这份荣誉的分量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Picture 1" descr="s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0" name="Picture 2" descr="slide04_a.png"/>
          <p:cNvPicPr>
            <a:picLocks noChangeAspect="1"/>
          </p:cNvPicPr>
          <p:nvPr/>
        </p:nvPicPr>
        <p:blipFill>
          <a:blip r:embed="rId2"/>
          <a:srcRect t="10400" r="75196"/>
          <a:stretch>
            <a:fillRect/>
          </a:stretch>
        </p:blipFill>
        <p:spPr>
          <a:xfrm>
            <a:off x="984250" y="2802890"/>
            <a:ext cx="1206500" cy="2445385"/>
          </a:xfrm>
          <a:prstGeom prst="rect">
            <a:avLst/>
          </a:prstGeom>
        </p:spPr>
      </p:pic>
      <p:pic>
        <p:nvPicPr>
          <p:cNvPr id="341" name="Picture 3" descr="slide04_b.png"/>
          <p:cNvPicPr>
            <a:picLocks noChangeAspect="1"/>
          </p:cNvPicPr>
          <p:nvPr/>
        </p:nvPicPr>
        <p:blipFill>
          <a:blip r:embed="rId3"/>
          <a:srcRect t="87766"/>
          <a:stretch>
            <a:fillRect/>
          </a:stretch>
        </p:blipFill>
        <p:spPr>
          <a:xfrm>
            <a:off x="6343650" y="4979035"/>
            <a:ext cx="4864100" cy="342900"/>
          </a:xfrm>
          <a:prstGeom prst="rect">
            <a:avLst/>
          </a:prstGeom>
        </p:spPr>
      </p:pic>
      <p:sp>
        <p:nvSpPr>
          <p:cNvPr id="342" name="TextBox 4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开场引入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43" name="TextBox 5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04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44" name="TextBox 6"/>
          <p:cNvSpPr txBox="1"/>
          <p:nvPr/>
        </p:nvSpPr>
        <p:spPr>
          <a:xfrm>
            <a:off x="901700" y="1177528"/>
            <a:ext cx="5116413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认识</a:t>
            </a:r>
            <a:r>
              <a:rPr sz="2900" b="1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“</a:t>
            </a: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大挑</a:t>
            </a:r>
            <a:r>
              <a:rPr sz="2900" b="1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”</a:t>
            </a: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：赛事介绍与含金量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45" name="TextBox 7"/>
          <p:cNvSpPr txBox="1"/>
          <p:nvPr/>
        </p:nvSpPr>
        <p:spPr>
          <a:xfrm>
            <a:off x="914400" y="1731466"/>
            <a:ext cx="1937841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“大挑”赛事要点——理解这份荣誉的分量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46" name="TextBox 8"/>
          <p:cNvSpPr txBox="1"/>
          <p:nvPr/>
        </p:nvSpPr>
        <p:spPr>
          <a:xfrm>
            <a:off x="914400" y="2213371"/>
            <a:ext cx="18593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47" name="TextBox 9"/>
          <p:cNvSpPr txBox="1"/>
          <p:nvPr/>
        </p:nvSpPr>
        <p:spPr>
          <a:xfrm>
            <a:off x="1138435" y="2118121"/>
            <a:ext cx="11176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一、基础信息</a:t>
            </a:r>
            <a:endParaRPr sz="14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48" name="TextBox 10"/>
          <p:cNvSpPr txBox="1"/>
          <p:nvPr/>
        </p:nvSpPr>
        <p:spPr>
          <a:xfrm>
            <a:off x="6273800" y="2207021"/>
            <a:ext cx="18593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49" name="TextBox 11"/>
          <p:cNvSpPr txBox="1"/>
          <p:nvPr/>
        </p:nvSpPr>
        <p:spPr>
          <a:xfrm>
            <a:off x="6497835" y="2118121"/>
            <a:ext cx="182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二、赛事含金量与价值</a:t>
            </a:r>
            <a:endParaRPr sz="14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50" name="TextBox 12"/>
          <p:cNvSpPr txBox="1"/>
          <p:nvPr/>
        </p:nvSpPr>
        <p:spPr>
          <a:xfrm>
            <a:off x="914400" y="5512891"/>
            <a:ext cx="4257476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左图：“大挑”赛事基础信息　　右图：赛事含金量与价值　（素材整理自“大挑”赛事介绍）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51" name="TextBox 1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pic>
        <p:nvPicPr>
          <p:cNvPr id="352" name="图片 14" descr="修改图片白色字体为黑色"/>
          <p:cNvPicPr>
            <a:picLocks noChangeAspect="1"/>
          </p:cNvPicPr>
          <p:nvPr/>
        </p:nvPicPr>
        <p:blipFill>
          <a:blip r:embed="rId4"/>
          <a:srcRect r="7622" b="6097"/>
          <a:stretch>
            <a:fillRect/>
          </a:stretch>
        </p:blipFill>
        <p:spPr>
          <a:xfrm>
            <a:off x="965200" y="2689860"/>
            <a:ext cx="4927600" cy="2233930"/>
          </a:xfrm>
          <a:prstGeom prst="rect">
            <a:avLst/>
          </a:prstGeom>
        </p:spPr>
      </p:pic>
      <p:pic>
        <p:nvPicPr>
          <p:cNvPr id="353" name="图片 18" descr="修改图片白色字体为黑色"/>
          <p:cNvPicPr>
            <a:picLocks noChangeAspect="1"/>
          </p:cNvPicPr>
          <p:nvPr/>
        </p:nvPicPr>
        <p:blipFill>
          <a:blip r:embed="rId4"/>
          <a:srcRect t="85969" b="12897"/>
          <a:stretch>
            <a:fillRect/>
          </a:stretch>
        </p:blipFill>
        <p:spPr>
          <a:xfrm>
            <a:off x="965200" y="4923790"/>
            <a:ext cx="4899025" cy="123825"/>
          </a:xfrm>
          <a:prstGeom prst="rect">
            <a:avLst/>
          </a:prstGeom>
        </p:spPr>
      </p:pic>
      <p:pic>
        <p:nvPicPr>
          <p:cNvPr id="354" name="Picture 3" descr="slide04_b.png"/>
          <p:cNvPicPr>
            <a:picLocks noChangeAspect="1"/>
          </p:cNvPicPr>
          <p:nvPr/>
        </p:nvPicPr>
        <p:blipFill>
          <a:blip r:embed="rId3"/>
          <a:srcRect t="20299" b="15791"/>
          <a:stretch>
            <a:fillRect/>
          </a:stretch>
        </p:blipFill>
        <p:spPr>
          <a:xfrm>
            <a:off x="6224905" y="2880995"/>
            <a:ext cx="5029200" cy="1852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Picture 1" descr="s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7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开场引入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58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05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59" name="TextBox 4"/>
          <p:cNvSpPr txBox="1"/>
          <p:nvPr/>
        </p:nvSpPr>
        <p:spPr>
          <a:xfrm>
            <a:off x="914400" y="2084486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挑战杯舞台上的御磁坚盾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60" name="TextBox 5"/>
          <p:cNvSpPr txBox="1"/>
          <p:nvPr/>
        </p:nvSpPr>
        <p:spPr>
          <a:xfrm>
            <a:off x="914400" y="2632075"/>
            <a:ext cx="24257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挑战杯被誉为当代大学生科技创新的奥林匹克盛会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61" name="TextBox 6"/>
          <p:cNvSpPr txBox="1"/>
          <p:nvPr/>
        </p:nvSpPr>
        <p:spPr>
          <a:xfrm>
            <a:off x="914400" y="3196530"/>
            <a:ext cx="7594600" cy="336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挑战杯舞台之上，</a:t>
            </a:r>
            <a:r>
              <a:rPr sz="18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御磁坚盾</a:t>
            </a:r>
            <a:r>
              <a:rPr sz="1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以材料之韧守护科技之梦，点亮青年创新之光。</a:t>
            </a:r>
            <a:endParaRPr sz="1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62" name="TextBox 7"/>
          <p:cNvSpPr txBox="1"/>
          <p:nvPr/>
        </p:nvSpPr>
        <p:spPr>
          <a:xfrm>
            <a:off x="914400" y="3916560"/>
            <a:ext cx="8047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赛事影响力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63" name="TextBox 8"/>
          <p:cNvSpPr txBox="1"/>
          <p:nvPr/>
        </p:nvSpPr>
        <p:spPr>
          <a:xfrm>
            <a:off x="1168400" y="4145160"/>
            <a:ext cx="29845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第十八届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挑战杯全国大学生课外学术科技作品竞赛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64" name="TextBox 9"/>
          <p:cNvSpPr txBox="1"/>
          <p:nvPr/>
        </p:nvSpPr>
        <p:spPr>
          <a:xfrm>
            <a:off x="1168400" y="4464050"/>
            <a:ext cx="23177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全国</a:t>
            </a: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最具影响力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的大学生科创赛事之一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65" name="TextBox 10"/>
          <p:cNvSpPr txBox="1"/>
          <p:nvPr/>
        </p:nvSpPr>
        <p:spPr>
          <a:xfrm>
            <a:off x="4629150" y="3916560"/>
            <a:ext cx="7015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团队登台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66" name="TextBox 11"/>
          <p:cNvSpPr txBox="1"/>
          <p:nvPr/>
        </p:nvSpPr>
        <p:spPr>
          <a:xfrm>
            <a:off x="4883150" y="4145160"/>
            <a:ext cx="181987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哈尔滨工程大学</a:t>
            </a: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 御磁坚盾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团队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67" name="TextBox 12"/>
          <p:cNvSpPr txBox="1"/>
          <p:nvPr/>
        </p:nvSpPr>
        <p:spPr>
          <a:xfrm>
            <a:off x="4883150" y="4464050"/>
            <a:ext cx="20510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荣获第十八届挑战杯主体赛</a:t>
            </a:r>
            <a:r>
              <a:rPr sz="105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特等奖</a:t>
            </a:r>
            <a:endParaRPr sz="105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68" name="TextBox 13"/>
          <p:cNvSpPr txBox="1"/>
          <p:nvPr/>
        </p:nvSpPr>
        <p:spPr>
          <a:xfrm>
            <a:off x="8077200" y="3916560"/>
            <a:ext cx="7015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　项目定位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69" name="TextBox 14"/>
          <p:cNvSpPr txBox="1"/>
          <p:nvPr/>
        </p:nvSpPr>
        <p:spPr>
          <a:xfrm>
            <a:off x="8077200" y="4195960"/>
            <a:ext cx="3251200" cy="60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国内首个</a:t>
            </a: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集超轻、高强韧、高电磁屏蔽性于一体的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多功能镁锂基复合材料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70" name="TextBox 15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1" descr="s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3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74" name="TextBox 3"/>
          <p:cNvSpPr txBox="1"/>
          <p:nvPr/>
        </p:nvSpPr>
        <p:spPr>
          <a:xfrm>
            <a:off x="914400" y="2935684"/>
            <a:ext cx="24892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项目概况</a:t>
            </a:r>
            <a:endParaRPr sz="4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75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八人团队，三年探索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从学院课堂到国家需求的完整项目画像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Picture 1" descr="s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8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项目概况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79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07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80" name="TextBox 4"/>
          <p:cNvSpPr txBox="1"/>
          <p:nvPr/>
        </p:nvSpPr>
        <p:spPr>
          <a:xfrm>
            <a:off x="914400" y="1607343"/>
            <a:ext cx="22606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基础信息一览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81" name="TextBox 5"/>
          <p:cNvSpPr txBox="1"/>
          <p:nvPr/>
        </p:nvSpPr>
        <p:spPr>
          <a:xfrm>
            <a:off x="914400" y="24406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项目名称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82" name="TextBox 6"/>
          <p:cNvSpPr txBox="1"/>
          <p:nvPr/>
        </p:nvSpPr>
        <p:spPr>
          <a:xfrm>
            <a:off x="2571750" y="2440682"/>
            <a:ext cx="3606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御磁坚盾——超轻高强韧镁锂基电磁屏蔽材料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83" name="TextBox 7"/>
          <p:cNvSpPr txBox="1"/>
          <p:nvPr/>
        </p:nvSpPr>
        <p:spPr>
          <a:xfrm>
            <a:off x="914400" y="28026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参赛赛事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84" name="TextBox 8"/>
          <p:cNvSpPr txBox="1"/>
          <p:nvPr/>
        </p:nvSpPr>
        <p:spPr>
          <a:xfrm>
            <a:off x="2565400" y="2802632"/>
            <a:ext cx="30226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第十八届挑战杯课外学术科技作品竞赛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85" name="TextBox 9"/>
          <p:cNvSpPr txBox="1"/>
          <p:nvPr/>
        </p:nvSpPr>
        <p:spPr>
          <a:xfrm>
            <a:off x="914400" y="31645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参赛赛道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86" name="TextBox 10"/>
          <p:cNvSpPr txBox="1"/>
          <p:nvPr/>
        </p:nvSpPr>
        <p:spPr>
          <a:xfrm>
            <a:off x="2565400" y="3164582"/>
            <a:ext cx="5334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主体赛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87" name="TextBox 11"/>
          <p:cNvSpPr txBox="1"/>
          <p:nvPr/>
        </p:nvSpPr>
        <p:spPr>
          <a:xfrm>
            <a:off x="914400" y="35265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推报学院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88" name="TextBox 12"/>
          <p:cNvSpPr txBox="1"/>
          <p:nvPr/>
        </p:nvSpPr>
        <p:spPr>
          <a:xfrm>
            <a:off x="2565400" y="3526532"/>
            <a:ext cx="1955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材料科学与化学工程学院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89" name="TextBox 13"/>
          <p:cNvSpPr txBox="1"/>
          <p:nvPr/>
        </p:nvSpPr>
        <p:spPr>
          <a:xfrm>
            <a:off x="914400" y="38884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团队规模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90" name="TextBox 14"/>
          <p:cNvSpPr txBox="1"/>
          <p:nvPr/>
        </p:nvSpPr>
        <p:spPr>
          <a:xfrm>
            <a:off x="2565400" y="3888482"/>
            <a:ext cx="3057525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8 名本科生（大四 4 人、大三 4 人）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91" name="TextBox 15"/>
          <p:cNvSpPr txBox="1"/>
          <p:nvPr/>
        </p:nvSpPr>
        <p:spPr>
          <a:xfrm>
            <a:off x="914400" y="42504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指导教师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92" name="TextBox 16"/>
          <p:cNvSpPr txBox="1"/>
          <p:nvPr/>
        </p:nvSpPr>
        <p:spPr>
          <a:xfrm>
            <a:off x="2565400" y="4250432"/>
            <a:ext cx="1955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巫瑞智、张万顺、侯乐干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93" name="TextBox 17"/>
          <p:cNvSpPr txBox="1"/>
          <p:nvPr/>
        </p:nvSpPr>
        <p:spPr>
          <a:xfrm>
            <a:off x="914400" y="461238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获奖等级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94" name="TextBox 18"/>
          <p:cNvSpPr txBox="1"/>
          <p:nvPr/>
        </p:nvSpPr>
        <p:spPr>
          <a:xfrm>
            <a:off x="2565400" y="4612382"/>
            <a:ext cx="10668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主体赛特等奖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95" name="TextBox 19"/>
          <p:cNvSpPr txBox="1"/>
          <p:nvPr/>
        </p:nvSpPr>
        <p:spPr>
          <a:xfrm>
            <a:off x="914400" y="4974332"/>
            <a:ext cx="812800" cy="217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研究周期</a:t>
            </a:r>
            <a:endParaRPr sz="16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396" name="TextBox 20"/>
          <p:cNvSpPr txBox="1"/>
          <p:nvPr/>
        </p:nvSpPr>
        <p:spPr>
          <a:xfrm>
            <a:off x="2565400" y="4974332"/>
            <a:ext cx="446659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探索约三年，2022 年 8 月至 2023 年 5 月集中实验</a:t>
            </a:r>
            <a:endParaRPr sz="14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97" name="TextBox 21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Picture 1" descr="s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0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项目概况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01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08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02" name="TextBox 4"/>
          <p:cNvSpPr txBox="1"/>
          <p:nvPr/>
        </p:nvSpPr>
        <p:spPr>
          <a:xfrm>
            <a:off x="914400" y="1780976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项目内容：面向国家需求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03" name="TextBox 5"/>
          <p:cNvSpPr txBox="1"/>
          <p:nvPr/>
        </p:nvSpPr>
        <p:spPr>
          <a:xfrm>
            <a:off x="914400" y="2334914"/>
            <a:ext cx="28575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超轻高强韧镁锂基电磁屏蔽材料，面向新质生产力应用需求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04" name="TextBox 6"/>
          <p:cNvSpPr txBox="1"/>
          <p:nvPr/>
        </p:nvSpPr>
        <p:spPr>
          <a:xfrm>
            <a:off x="914400" y="2912070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项目名称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05" name="TextBox 7"/>
          <p:cNvSpPr txBox="1"/>
          <p:nvPr/>
        </p:nvSpPr>
        <p:spPr>
          <a:xfrm>
            <a:off x="2222500" y="2816820"/>
            <a:ext cx="3200400" cy="269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chemeClr val="tx1"/>
                </a:solidFill>
                <a:latin typeface="Cambria" panose="02040503050406030204"/>
                <a:ea typeface="Noto Sans SC Medium" panose="020B0200000000000000" charset="-122"/>
              </a:rPr>
              <a:t>超轻高强韧镁锂基电磁屏蔽材料</a:t>
            </a:r>
            <a:endParaRPr b="0">
              <a:solidFill>
                <a:schemeClr val="tx1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06" name="TextBox 8"/>
          <p:cNvSpPr txBox="1"/>
          <p:nvPr/>
        </p:nvSpPr>
        <p:spPr>
          <a:xfrm>
            <a:off x="914400" y="3369270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价值定位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07" name="TextBox 9"/>
          <p:cNvSpPr txBox="1"/>
          <p:nvPr/>
        </p:nvSpPr>
        <p:spPr>
          <a:xfrm>
            <a:off x="2222500" y="3274020"/>
            <a:ext cx="65786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在传统基础制造业基础上，面向工业互联网、新能源智能汽车等新质生产力应用需求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08" name="TextBox 10"/>
          <p:cNvSpPr txBox="1"/>
          <p:nvPr/>
        </p:nvSpPr>
        <p:spPr>
          <a:xfrm>
            <a:off x="914400" y="3844627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核心功能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09" name="TextBox 11"/>
          <p:cNvSpPr txBox="1"/>
          <p:nvPr/>
        </p:nvSpPr>
        <p:spPr>
          <a:xfrm>
            <a:off x="2222500" y="3749377"/>
            <a:ext cx="67564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为航空航天、雷达通信等设备提供电磁屏蔽防护，同时提高材料强度和韧性、降低重量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10" name="TextBox 12"/>
          <p:cNvSpPr txBox="1"/>
          <p:nvPr/>
        </p:nvSpPr>
        <p:spPr>
          <a:xfrm>
            <a:off x="914400" y="4319984"/>
            <a:ext cx="5130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应用场景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11" name="TextBox 13"/>
          <p:cNvSpPr txBox="1"/>
          <p:nvPr/>
        </p:nvSpPr>
        <p:spPr>
          <a:xfrm>
            <a:off x="2222500" y="4224734"/>
            <a:ext cx="37338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航空航天、雷达通信、信息安全、民生电子消费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12" name="TextBox 14"/>
          <p:cNvSpPr txBox="1"/>
          <p:nvPr/>
        </p:nvSpPr>
        <p:spPr>
          <a:xfrm>
            <a:off x="914400" y="4795341"/>
            <a:ext cx="64135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产业化进展</a:t>
            </a:r>
            <a:endParaRPr sz="9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13" name="TextBox 15"/>
          <p:cNvSpPr txBox="1"/>
          <p:nvPr/>
        </p:nvSpPr>
        <p:spPr>
          <a:xfrm>
            <a:off x="2222500" y="4700091"/>
            <a:ext cx="8001000" cy="2686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9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在负责人郭政佑牵头下达成代工合作协议，实现超薄箔材的产业化成形验证，同多家企业开展密切合作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14" name="TextBox 16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1" descr="s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7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项目概况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18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09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19" name="TextBox 4"/>
          <p:cNvSpPr txBox="1"/>
          <p:nvPr/>
        </p:nvSpPr>
        <p:spPr>
          <a:xfrm>
            <a:off x="914400" y="1383010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名师领航与学科支撑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20" name="TextBox 5"/>
          <p:cNvSpPr txBox="1"/>
          <p:nvPr/>
        </p:nvSpPr>
        <p:spPr>
          <a:xfrm>
            <a:off x="914400" y="1930598"/>
            <a:ext cx="19939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强大导师团队与学科平台是项目坚实后盾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21" name="TextBox 6"/>
          <p:cNvSpPr txBox="1"/>
          <p:nvPr/>
        </p:nvSpPr>
        <p:spPr>
          <a:xfrm>
            <a:off x="914400" y="2355353"/>
            <a:ext cx="1193800" cy="336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巫瑞智教授</a:t>
            </a:r>
            <a:endParaRPr sz="1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22" name="TextBox 7"/>
          <p:cNvSpPr txBox="1"/>
          <p:nvPr/>
        </p:nvSpPr>
        <p:spPr>
          <a:xfrm>
            <a:off x="914400" y="2764234"/>
            <a:ext cx="1270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全球前 2% 顶尖科学家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23" name="TextBox 8"/>
          <p:cNvSpPr txBox="1"/>
          <p:nvPr/>
        </p:nvSpPr>
        <p:spPr>
          <a:xfrm>
            <a:off x="914400" y="3123009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24" name="TextBox 9"/>
          <p:cNvSpPr txBox="1"/>
          <p:nvPr/>
        </p:nvSpPr>
        <p:spPr>
          <a:xfrm>
            <a:off x="1330821" y="3314779"/>
            <a:ext cx="1016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终身成就榜入选者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25" name="TextBox 10"/>
          <p:cNvSpPr txBox="1"/>
          <p:nvPr/>
        </p:nvSpPr>
        <p:spPr>
          <a:xfrm>
            <a:off x="914400" y="3853259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26" name="TextBox 11"/>
          <p:cNvSpPr txBox="1"/>
          <p:nvPr/>
        </p:nvSpPr>
        <p:spPr>
          <a:xfrm>
            <a:off x="1330821" y="4045029"/>
            <a:ext cx="12573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稀土科学技术奖一等奖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27" name="TextBox 12"/>
          <p:cNvSpPr txBox="1"/>
          <p:nvPr/>
        </p:nvSpPr>
        <p:spPr>
          <a:xfrm>
            <a:off x="914400" y="4583509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28" name="TextBox 13"/>
          <p:cNvSpPr txBox="1"/>
          <p:nvPr/>
        </p:nvSpPr>
        <p:spPr>
          <a:xfrm>
            <a:off x="1330821" y="4775279"/>
            <a:ext cx="1972071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国际镁科学与技术 2022 年度青年奖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29" name="TextBox 14"/>
          <p:cNvSpPr txBox="1"/>
          <p:nvPr/>
        </p:nvSpPr>
        <p:spPr>
          <a:xfrm>
            <a:off x="914400" y="5313759"/>
            <a:ext cx="17780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指导教师：巫瑞智、张万顺、侯乐干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30" name="TextBox 15"/>
          <p:cNvSpPr txBox="1"/>
          <p:nvPr/>
        </p:nvSpPr>
        <p:spPr>
          <a:xfrm>
            <a:off x="6337101" y="2349003"/>
            <a:ext cx="7015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学科平台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31" name="TextBox 16"/>
          <p:cNvSpPr txBox="1"/>
          <p:nvPr/>
        </p:nvSpPr>
        <p:spPr>
          <a:xfrm>
            <a:off x="6337101" y="2564903"/>
            <a:ext cx="4102100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材料科学与工程学科，依托</a:t>
            </a: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超轻材料与表面技术教育部重点实验室</a:t>
            </a:r>
            <a:endParaRPr sz="11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32" name="TextBox 17"/>
          <p:cNvSpPr txBox="1"/>
          <p:nvPr/>
        </p:nvSpPr>
        <p:spPr>
          <a:xfrm>
            <a:off x="6337101" y="3066752"/>
            <a:ext cx="8047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学术影响力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33" name="TextBox 18"/>
          <p:cNvSpPr txBox="1"/>
          <p:nvPr/>
        </p:nvSpPr>
        <p:spPr>
          <a:xfrm>
            <a:off x="6337101" y="3358852"/>
            <a:ext cx="276721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5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34" name="TextBox 19"/>
          <p:cNvSpPr txBox="1"/>
          <p:nvPr/>
        </p:nvSpPr>
        <p:spPr>
          <a:xfrm>
            <a:off x="6337101" y="3981152"/>
            <a:ext cx="1093886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ESI 热点论文（篇）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35" name="TextBox 20"/>
          <p:cNvSpPr txBox="1"/>
          <p:nvPr/>
        </p:nvSpPr>
        <p:spPr>
          <a:xfrm>
            <a:off x="8055867" y="3358852"/>
            <a:ext cx="50254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13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36" name="TextBox 21"/>
          <p:cNvSpPr txBox="1"/>
          <p:nvPr/>
        </p:nvSpPr>
        <p:spPr>
          <a:xfrm>
            <a:off x="8055867" y="3981152"/>
            <a:ext cx="10160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高被引论文（篇）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37" name="TextBox 22"/>
          <p:cNvSpPr txBox="1"/>
          <p:nvPr/>
        </p:nvSpPr>
        <p:spPr>
          <a:xfrm>
            <a:off x="9774634" y="3358852"/>
            <a:ext cx="502542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-76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53</a:t>
            </a:r>
            <a:endParaRPr sz="3800" b="1" spc="-76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38" name="TextBox 23"/>
          <p:cNvSpPr txBox="1"/>
          <p:nvPr/>
        </p:nvSpPr>
        <p:spPr>
          <a:xfrm>
            <a:off x="9774634" y="3981152"/>
            <a:ext cx="679846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个人 H 因子</a:t>
            </a:r>
            <a:endParaRPr sz="9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39" name="TextBox 24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" descr="s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7" name="TextBox 3"/>
          <p:cNvSpPr txBox="1"/>
          <p:nvPr/>
        </p:nvSpPr>
        <p:spPr>
          <a:xfrm>
            <a:off x="914400" y="2942034"/>
            <a:ext cx="30988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背景与灵感</a:t>
            </a:r>
            <a:endParaRPr sz="4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8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灵感藏在生活的细节里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一个弹球小游戏，打开电磁屏蔽新思路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" descr="s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2" descr="slide11_s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410321"/>
            <a:ext cx="3924300" cy="3006427"/>
          </a:xfrm>
          <a:prstGeom prst="rect">
            <a:avLst/>
          </a:prstGeom>
        </p:spPr>
      </p:pic>
      <p:sp>
        <p:nvSpPr>
          <p:cNvPr id="22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背景与灵感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3" name="TextBox 4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11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914400" y="1271984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航空设备的电磁干扰之困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5" name="TextBox 6"/>
          <p:cNvSpPr txBox="1"/>
          <p:nvPr/>
        </p:nvSpPr>
        <p:spPr>
          <a:xfrm>
            <a:off x="914400" y="1819572"/>
            <a:ext cx="11303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电磁屏蔽的困局与破局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5293360" y="169989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用途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7" name="TextBox 8"/>
          <p:cNvSpPr txBox="1"/>
          <p:nvPr/>
        </p:nvSpPr>
        <p:spPr>
          <a:xfrm>
            <a:off x="5293171" y="1901293"/>
            <a:ext cx="1551802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电磁屏蔽用途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5293171" y="2208757"/>
            <a:ext cx="52876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解决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电磁泄漏</a:t>
            </a: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与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电磁干扰</a:t>
            </a:r>
            <a:endParaRPr sz="16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在信息安全、航空航天、民用设备领域都是研发重点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9" name="TextBox 10"/>
          <p:cNvSpPr txBox="1"/>
          <p:nvPr/>
        </p:nvSpPr>
        <p:spPr>
          <a:xfrm>
            <a:off x="5293360" y="280352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危害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0" name="TextBox 11"/>
          <p:cNvSpPr txBox="1"/>
          <p:nvPr/>
        </p:nvSpPr>
        <p:spPr>
          <a:xfrm>
            <a:off x="5293171" y="3004720"/>
            <a:ext cx="1293168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电磁波危害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1" name="TextBox 12"/>
          <p:cNvSpPr txBox="1"/>
          <p:nvPr/>
        </p:nvSpPr>
        <p:spPr>
          <a:xfrm>
            <a:off x="5293171" y="3312184"/>
            <a:ext cx="7126794" cy="233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外层空间复杂电磁波环境会造成设备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精度下降、错误操作乃至系统崩溃</a:t>
            </a:r>
            <a:endParaRPr sz="16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" name="TextBox 13"/>
          <p:cNvSpPr txBox="1"/>
          <p:nvPr/>
        </p:nvSpPr>
        <p:spPr>
          <a:xfrm>
            <a:off x="5293360" y="374332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　痛点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3" name="TextBox 14"/>
          <p:cNvSpPr txBox="1"/>
          <p:nvPr/>
        </p:nvSpPr>
        <p:spPr>
          <a:xfrm>
            <a:off x="5293171" y="3944319"/>
            <a:ext cx="1551802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传统材料痛点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4" name="TextBox 15"/>
          <p:cNvSpPr txBox="1"/>
          <p:nvPr/>
        </p:nvSpPr>
        <p:spPr>
          <a:xfrm>
            <a:off x="5293171" y="4251783"/>
            <a:ext cx="50577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常用金属基屏蔽材料以铁、银、镍、铜、铝为代表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屏蔽性能优异但</a:t>
            </a: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重量不够轻、加工性差</a:t>
            </a:r>
            <a:endParaRPr sz="16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5" name="TextBox 16"/>
          <p:cNvSpPr txBox="1"/>
          <p:nvPr/>
        </p:nvSpPr>
        <p:spPr>
          <a:xfrm>
            <a:off x="5293360" y="4764405"/>
            <a:ext cx="1058545" cy="22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　方向</a:t>
            </a:r>
            <a:endParaRPr sz="14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6" name="TextBox 17"/>
          <p:cNvSpPr txBox="1"/>
          <p:nvPr/>
        </p:nvSpPr>
        <p:spPr>
          <a:xfrm>
            <a:off x="5293171" y="4965832"/>
            <a:ext cx="1551802" cy="241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镁锂合金方向</a:t>
            </a:r>
            <a:endParaRPr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7" name="TextBox 18"/>
          <p:cNvSpPr txBox="1"/>
          <p:nvPr/>
        </p:nvSpPr>
        <p:spPr>
          <a:xfrm>
            <a:off x="5293171" y="5273296"/>
            <a:ext cx="528762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世界上最轻的金属结构材料</a:t>
            </a: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，是理想选材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但工程应用需协同提高功能、结构、工艺三方面性能</a:t>
            </a:r>
            <a:endParaRPr sz="16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" descr="s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背景与灵感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2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12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3" name="TextBox 4"/>
          <p:cNvSpPr txBox="1"/>
          <p:nvPr/>
        </p:nvSpPr>
        <p:spPr>
          <a:xfrm>
            <a:off x="914400" y="1841797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弹球游戏撞开新思路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4" name="TextBox 5"/>
          <p:cNvSpPr txBox="1"/>
          <p:nvPr/>
        </p:nvSpPr>
        <p:spPr>
          <a:xfrm>
            <a:off x="914400" y="2389385"/>
            <a:ext cx="32893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如果在材料内部设置一道道墙壁，电磁波就会在反复反射中不断损耗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5" name="TextBox 6"/>
          <p:cNvSpPr txBox="1"/>
          <p:nvPr/>
        </p:nvSpPr>
        <p:spPr>
          <a:xfrm>
            <a:off x="914400" y="2915741"/>
            <a:ext cx="6584255" cy="336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灵感来自游戏，原理归于物理——让电磁波在</a:t>
            </a:r>
            <a:r>
              <a:rPr sz="18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反复反射</a:t>
            </a:r>
            <a:r>
              <a:rPr sz="1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中自然消减</a:t>
            </a:r>
            <a:endParaRPr sz="1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46" name="TextBox 7"/>
          <p:cNvSpPr txBox="1"/>
          <p:nvPr/>
        </p:nvSpPr>
        <p:spPr>
          <a:xfrm>
            <a:off x="914400" y="3584971"/>
            <a:ext cx="159414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灵感来源　生活现象 · 科学启发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47" name="TextBox 8"/>
          <p:cNvSpPr txBox="1"/>
          <p:nvPr/>
        </p:nvSpPr>
        <p:spPr>
          <a:xfrm>
            <a:off x="1168400" y="3900566"/>
            <a:ext cx="48006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团队负责人</a:t>
            </a:r>
            <a:r>
              <a:rPr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郭政佑</a:t>
            </a: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从微信弹球小游戏中获得灵感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8" name="TextBox 9"/>
          <p:cNvSpPr txBox="1"/>
          <p:nvPr/>
        </p:nvSpPr>
        <p:spPr>
          <a:xfrm>
            <a:off x="1168400" y="4707770"/>
            <a:ext cx="3886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弹球在墙壁间反复碰撞会不断消耗能量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49" name="TextBox 10"/>
          <p:cNvSpPr txBox="1"/>
          <p:nvPr/>
        </p:nvSpPr>
        <p:spPr>
          <a:xfrm>
            <a:off x="6505575" y="3584971"/>
            <a:ext cx="169723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科学转化　理论建模 · 可行性验证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50" name="TextBox 11"/>
          <p:cNvSpPr txBox="1"/>
          <p:nvPr/>
        </p:nvSpPr>
        <p:spPr>
          <a:xfrm>
            <a:off x="6753225" y="3877071"/>
            <a:ext cx="3886200" cy="489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类比到材料：在内部设置多道平行界面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增加电磁波反射次数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51" name="TextBox 12"/>
          <p:cNvSpPr txBox="1"/>
          <p:nvPr/>
        </p:nvSpPr>
        <p:spPr>
          <a:xfrm>
            <a:off x="6753225" y="4513460"/>
            <a:ext cx="3657600" cy="489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结合传统电磁反射损耗原理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建立多维平行界面电磁损耗计算模型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52" name="TextBox 13"/>
          <p:cNvSpPr txBox="1"/>
          <p:nvPr/>
        </p:nvSpPr>
        <p:spPr>
          <a:xfrm>
            <a:off x="6753225" y="5149850"/>
            <a:ext cx="4800600" cy="489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成功计算出电磁波进入材料后的反射路径与损耗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从理论上证明设想的可行性</a:t>
            </a:r>
            <a:endParaRPr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53" name="TextBox 14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pic>
        <p:nvPicPr>
          <p:cNvPr id="54" name="Picture 1" descr="s12.png"/>
          <p:cNvPicPr>
            <a:picLocks noChangeAspect="1"/>
          </p:cNvPicPr>
          <p:nvPr/>
        </p:nvPicPr>
        <p:blipFill>
          <a:blip r:embed="rId1"/>
          <a:srcRect l="6979" t="59722" r="91068" b="35722"/>
          <a:stretch>
            <a:fillRect/>
          </a:stretch>
        </p:blipFill>
        <p:spPr>
          <a:xfrm>
            <a:off x="865505" y="4639945"/>
            <a:ext cx="238125" cy="312420"/>
          </a:xfrm>
          <a:prstGeom prst="rect">
            <a:avLst/>
          </a:prstGeom>
        </p:spPr>
      </p:pic>
      <p:pic>
        <p:nvPicPr>
          <p:cNvPr id="55" name="Picture 1" descr="s12.png"/>
          <p:cNvPicPr>
            <a:picLocks noChangeAspect="1"/>
          </p:cNvPicPr>
          <p:nvPr/>
        </p:nvPicPr>
        <p:blipFill>
          <a:blip r:embed="rId1"/>
          <a:srcRect l="6979" t="59722" r="90063" b="37787"/>
          <a:stretch>
            <a:fillRect/>
          </a:stretch>
        </p:blipFill>
        <p:spPr>
          <a:xfrm>
            <a:off x="756920" y="4218940"/>
            <a:ext cx="360680" cy="170815"/>
          </a:xfrm>
          <a:prstGeom prst="rect">
            <a:avLst/>
          </a:prstGeom>
        </p:spPr>
      </p:pic>
      <p:pic>
        <p:nvPicPr>
          <p:cNvPr id="56" name="Picture 1" descr="s12.png"/>
          <p:cNvPicPr>
            <a:picLocks noChangeAspect="1"/>
          </p:cNvPicPr>
          <p:nvPr/>
        </p:nvPicPr>
        <p:blipFill>
          <a:blip r:embed="rId1"/>
          <a:srcRect l="6979" t="59722" r="90063" b="37787"/>
          <a:stretch>
            <a:fillRect/>
          </a:stretch>
        </p:blipFill>
        <p:spPr>
          <a:xfrm>
            <a:off x="6319520" y="4218940"/>
            <a:ext cx="360680" cy="170815"/>
          </a:xfrm>
          <a:prstGeom prst="rect">
            <a:avLst/>
          </a:prstGeom>
        </p:spPr>
      </p:pic>
      <p:pic>
        <p:nvPicPr>
          <p:cNvPr id="57" name="Picture 1" descr="s12.png"/>
          <p:cNvPicPr>
            <a:picLocks noChangeAspect="1"/>
          </p:cNvPicPr>
          <p:nvPr/>
        </p:nvPicPr>
        <p:blipFill>
          <a:blip r:embed="rId1"/>
          <a:srcRect l="6979" t="61787" r="91068" b="35722"/>
          <a:stretch>
            <a:fillRect/>
          </a:stretch>
        </p:blipFill>
        <p:spPr>
          <a:xfrm>
            <a:off x="6442075" y="5194935"/>
            <a:ext cx="238125" cy="1708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s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0" name="Picture 2" descr="slide13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744662"/>
            <a:ext cx="3670300" cy="2024360"/>
          </a:xfrm>
          <a:prstGeom prst="rect">
            <a:avLst/>
          </a:prstGeom>
        </p:spPr>
      </p:pic>
      <p:pic>
        <p:nvPicPr>
          <p:cNvPr id="61" name="Picture 3" descr="slide13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4035722"/>
            <a:ext cx="3670300" cy="2034083"/>
          </a:xfrm>
          <a:prstGeom prst="rect">
            <a:avLst/>
          </a:prstGeom>
        </p:spPr>
      </p:pic>
      <p:sp>
        <p:nvSpPr>
          <p:cNvPr id="62" name="TextBox 4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背景与灵感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3" name="TextBox 5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13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64" name="TextBox 6"/>
          <p:cNvSpPr txBox="1"/>
          <p:nvPr/>
        </p:nvSpPr>
        <p:spPr>
          <a:xfrm>
            <a:off x="914400" y="746918"/>
            <a:ext cx="3643213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把电磁波消灭在</a:t>
            </a:r>
            <a:r>
              <a:rPr sz="29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“</a:t>
            </a: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墙</a:t>
            </a:r>
            <a:r>
              <a:rPr sz="2900" b="1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”</a:t>
            </a: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内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65" name="TextBox 7"/>
          <p:cNvSpPr txBox="1"/>
          <p:nvPr/>
        </p:nvSpPr>
        <p:spPr>
          <a:xfrm>
            <a:off x="914400" y="1294507"/>
            <a:ext cx="27495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多维平行界面结构示意：让电磁波在反复反射中持续损耗</a:t>
            </a:r>
            <a:endParaRPr sz="8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66" name="TextBox 8"/>
          <p:cNvSpPr txBox="1"/>
          <p:nvPr/>
        </p:nvSpPr>
        <p:spPr>
          <a:xfrm>
            <a:off x="5130800" y="3030934"/>
            <a:ext cx="749300" cy="984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5500" b="0">
                <a:solidFill>
                  <a:srgbClr val="C8A870"/>
                </a:solidFill>
                <a:latin typeface="Cambria" panose="02040503050406030204"/>
                <a:ea typeface="Noto Sans SC" panose="020B0200000000000000" charset="-122"/>
              </a:rPr>
              <a:t>「</a:t>
            </a:r>
            <a:endParaRPr sz="5500" b="0">
              <a:solidFill>
                <a:srgbClr val="C8A87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67" name="TextBox 9"/>
          <p:cNvSpPr txBox="1"/>
          <p:nvPr/>
        </p:nvSpPr>
        <p:spPr>
          <a:xfrm>
            <a:off x="5130800" y="3780234"/>
            <a:ext cx="6197600" cy="1031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在材料内部竖起一道道‘墙壁’，增加电磁波在‘墙壁’间的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反射次数，让它的力量逐渐减弱，难以穿透材料。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68" name="TextBox 10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s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1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2" name="TextBox 3"/>
          <p:cNvSpPr txBox="1"/>
          <p:nvPr/>
        </p:nvSpPr>
        <p:spPr>
          <a:xfrm>
            <a:off x="914400" y="2935684"/>
            <a:ext cx="30988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创新与成果</a:t>
            </a:r>
            <a:endParaRPr sz="48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3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把电磁波消灭在墙内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屏蔽效能提升 15%-25%，重量降低 20%</a:t>
            </a:r>
            <a:endParaRPr sz="13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s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6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7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15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78" name="TextBox 4"/>
          <p:cNvSpPr txBox="1"/>
          <p:nvPr/>
        </p:nvSpPr>
        <p:spPr>
          <a:xfrm>
            <a:off x="914400" y="1643459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三重突破破解跷跷板难题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79" name="TextBox 5"/>
          <p:cNvSpPr txBox="1"/>
          <p:nvPr/>
        </p:nvSpPr>
        <p:spPr>
          <a:xfrm>
            <a:off x="914400" y="2191047"/>
            <a:ext cx="29654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功能、结构、工艺三方面性能的协同提升，如同跷跷板找平衡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0" name="TextBox 6"/>
          <p:cNvSpPr txBox="1"/>
          <p:nvPr/>
        </p:nvSpPr>
        <p:spPr>
          <a:xfrm>
            <a:off x="914400" y="2609453"/>
            <a:ext cx="5638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三大矛盾</a:t>
            </a:r>
            <a:endParaRPr sz="10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1" name="TextBox 7"/>
          <p:cNvSpPr txBox="1"/>
          <p:nvPr/>
        </p:nvSpPr>
        <p:spPr>
          <a:xfrm>
            <a:off x="914400" y="2996803"/>
            <a:ext cx="1016000" cy="250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功能方面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2" name="TextBox 8"/>
          <p:cNvSpPr txBox="1"/>
          <p:nvPr/>
        </p:nvSpPr>
        <p:spPr>
          <a:xfrm>
            <a:off x="914400" y="3277393"/>
            <a:ext cx="50800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传统提升屏蔽性能的方法往往使材料强度变差或重量上升</a:t>
            </a:r>
            <a:endParaRPr sz="16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3" name="TextBox 9"/>
          <p:cNvSpPr txBox="1"/>
          <p:nvPr/>
        </p:nvSpPr>
        <p:spPr>
          <a:xfrm>
            <a:off x="914400" y="3857724"/>
            <a:ext cx="1016000" cy="250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结构方面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4" name="TextBox 10"/>
          <p:cNvSpPr txBox="1"/>
          <p:nvPr/>
        </p:nvSpPr>
        <p:spPr>
          <a:xfrm>
            <a:off x="914400" y="4138314"/>
            <a:ext cx="36576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镁锂基材料强度提高时，塑韧性相应降低</a:t>
            </a:r>
            <a:endParaRPr sz="16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5" name="TextBox 11"/>
          <p:cNvSpPr txBox="1"/>
          <p:nvPr/>
        </p:nvSpPr>
        <p:spPr>
          <a:xfrm>
            <a:off x="914400" y="4718645"/>
            <a:ext cx="1016000" cy="250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工艺方面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6" name="TextBox 12"/>
          <p:cNvSpPr txBox="1"/>
          <p:nvPr/>
        </p:nvSpPr>
        <p:spPr>
          <a:xfrm>
            <a:off x="914400" y="4999235"/>
            <a:ext cx="32512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传统复合工艺危险性高且复合效果差</a:t>
            </a:r>
            <a:endParaRPr sz="160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87" name="TextBox 13"/>
          <p:cNvSpPr txBox="1"/>
          <p:nvPr/>
        </p:nvSpPr>
        <p:spPr>
          <a:xfrm>
            <a:off x="6505575" y="2609453"/>
            <a:ext cx="56388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三项创新</a:t>
            </a:r>
            <a:endParaRPr sz="10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88" name="TextBox 14"/>
          <p:cNvSpPr txBox="1"/>
          <p:nvPr/>
        </p:nvSpPr>
        <p:spPr>
          <a:xfrm>
            <a:off x="6505575" y="3003153"/>
            <a:ext cx="2032000" cy="502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</a:t>
            </a:r>
            <a:endParaRPr sz="1400"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多维平行界面损耗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89" name="TextBox 15"/>
          <p:cNvSpPr txBox="1"/>
          <p:nvPr/>
        </p:nvSpPr>
        <p:spPr>
          <a:xfrm>
            <a:off x="6505575" y="3594893"/>
            <a:ext cx="3302000" cy="502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</a:t>
            </a:r>
            <a:endParaRPr sz="1400"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镁锂合金强塑性协同提升技术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0" name="TextBox 16"/>
          <p:cNvSpPr txBox="1"/>
          <p:nvPr/>
        </p:nvSpPr>
        <p:spPr>
          <a:xfrm>
            <a:off x="6505575" y="4186634"/>
            <a:ext cx="3556000" cy="502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</a:t>
            </a:r>
            <a:endParaRPr sz="1400" b="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纳米碳基镁锂合金固态复合工艺</a:t>
            </a:r>
            <a:endParaRPr sz="20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1" name="TextBox 1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s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4" name="Picture 2" descr="slide16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277864"/>
            <a:ext cx="4913610" cy="3119635"/>
          </a:xfrm>
          <a:prstGeom prst="rect">
            <a:avLst/>
          </a:prstGeom>
        </p:spPr>
      </p:pic>
      <p:sp>
        <p:nvSpPr>
          <p:cNvPr id="95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6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16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7" name="TextBox 5"/>
          <p:cNvSpPr txBox="1"/>
          <p:nvPr/>
        </p:nvSpPr>
        <p:spPr>
          <a:xfrm>
            <a:off x="914400" y="1412775"/>
            <a:ext cx="63119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创新一　跌轧造多界面，减重提升屏蔽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98" name="TextBox 6"/>
          <p:cNvSpPr txBox="1"/>
          <p:nvPr/>
        </p:nvSpPr>
        <p:spPr>
          <a:xfrm>
            <a:off x="6316960" y="2195314"/>
            <a:ext cx="9078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累积叠轧工艺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99" name="TextBox 7"/>
          <p:cNvSpPr txBox="1"/>
          <p:nvPr/>
        </p:nvSpPr>
        <p:spPr>
          <a:xfrm>
            <a:off x="6577310" y="2436614"/>
            <a:ext cx="41846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把材料反复擀平、切开、叠起、再擀，形成数量巨大的高平行度界面。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0" name="TextBox 8"/>
          <p:cNvSpPr txBox="1"/>
          <p:nvPr/>
        </p:nvSpPr>
        <p:spPr>
          <a:xfrm>
            <a:off x="6323310" y="2806303"/>
            <a:ext cx="5004990" cy="60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调整叠轧温度参数、反复优化单次压下量，</a:t>
            </a:r>
            <a:r>
              <a:rPr sz="105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反复实验五次</a:t>
            </a: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后得到理想的多维平行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界面。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1" name="TextBox 9"/>
          <p:cNvSpPr txBox="1"/>
          <p:nvPr/>
        </p:nvSpPr>
        <p:spPr>
          <a:xfrm>
            <a:off x="6577310" y="3317081"/>
            <a:ext cx="37846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有效屏蔽波段范围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远超</a:t>
            </a: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现有铜、铝、铁等金属基屏蔽结构材料。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02" name="TextBox 10"/>
          <p:cNvSpPr txBox="1"/>
          <p:nvPr/>
        </p:nvSpPr>
        <p:spPr>
          <a:xfrm>
            <a:off x="6323310" y="3820120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对比维度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3" name="TextBox 11"/>
          <p:cNvSpPr txBox="1"/>
          <p:nvPr/>
        </p:nvSpPr>
        <p:spPr>
          <a:xfrm>
            <a:off x="10699849" y="3820120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提升幅度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04" name="TextBox 12"/>
          <p:cNvSpPr txBox="1"/>
          <p:nvPr/>
        </p:nvSpPr>
        <p:spPr>
          <a:xfrm>
            <a:off x="6323310" y="4048720"/>
            <a:ext cx="208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屏蔽效能（对比国外先进镁基材料）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05" name="TextBox 13"/>
          <p:cNvSpPr txBox="1"/>
          <p:nvPr/>
        </p:nvSpPr>
        <p:spPr>
          <a:xfrm>
            <a:off x="10280352" y="4048720"/>
            <a:ext cx="92729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15%—25%</a:t>
            </a:r>
            <a:endParaRPr sz="1500" b="1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06" name="TextBox 14"/>
          <p:cNvSpPr txBox="1"/>
          <p:nvPr/>
        </p:nvSpPr>
        <p:spPr>
          <a:xfrm>
            <a:off x="6323310" y="4518620"/>
            <a:ext cx="558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重量降低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07" name="TextBox 15"/>
          <p:cNvSpPr txBox="1"/>
          <p:nvPr/>
        </p:nvSpPr>
        <p:spPr>
          <a:xfrm>
            <a:off x="10764043" y="4512270"/>
            <a:ext cx="41185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20%</a:t>
            </a:r>
            <a:endParaRPr sz="1500" b="1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08" name="TextBox 16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" descr="s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1" name="Picture 2" descr="slide17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511" y="1777305"/>
            <a:ext cx="4986238" cy="4120753"/>
          </a:xfrm>
          <a:prstGeom prst="rect">
            <a:avLst/>
          </a:prstGeom>
        </p:spPr>
      </p:pic>
      <p:sp>
        <p:nvSpPr>
          <p:cNvPr id="112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3" name="TextBox 4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17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4" name="TextBox 5"/>
          <p:cNvSpPr txBox="1"/>
          <p:nvPr/>
        </p:nvSpPr>
        <p:spPr>
          <a:xfrm>
            <a:off x="914400" y="918567"/>
            <a:ext cx="66802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创新二：优化合金配比，强度韧性双提升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15" name="TextBox 6"/>
          <p:cNvSpPr txBox="1"/>
          <p:nvPr/>
        </p:nvSpPr>
        <p:spPr>
          <a:xfrm>
            <a:off x="914400" y="2776835"/>
            <a:ext cx="13914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镁锂合金强塑性协同提升技术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6" name="TextBox 7"/>
          <p:cNvSpPr txBox="1"/>
          <p:nvPr/>
        </p:nvSpPr>
        <p:spPr>
          <a:xfrm>
            <a:off x="914400" y="3246735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时间跨度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7" name="TextBox 8"/>
          <p:cNvSpPr txBox="1"/>
          <p:nvPr/>
        </p:nvSpPr>
        <p:spPr>
          <a:xfrm>
            <a:off x="2082800" y="3164185"/>
            <a:ext cx="1850032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2022 年 8 月至 2023 年 5 月</a:t>
            </a:r>
            <a:endParaRPr sz="1100" b="0">
              <a:solidFill>
                <a:srgbClr val="E2DCD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18" name="TextBox 9"/>
          <p:cNvSpPr txBox="1"/>
          <p:nvPr/>
        </p:nvSpPr>
        <p:spPr>
          <a:xfrm>
            <a:off x="914400" y="3843833"/>
            <a:ext cx="66962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合金元素配比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19" name="TextBox 10"/>
          <p:cNvSpPr txBox="1"/>
          <p:nvPr/>
        </p:nvSpPr>
        <p:spPr>
          <a:xfrm>
            <a:off x="2082800" y="3761283"/>
            <a:ext cx="1231900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15 种以上</a:t>
            </a: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 优化成分</a:t>
            </a:r>
            <a:endParaRPr sz="11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0" name="TextBox 11"/>
          <p:cNvSpPr txBox="1"/>
          <p:nvPr/>
        </p:nvSpPr>
        <p:spPr>
          <a:xfrm>
            <a:off x="914400" y="4440932"/>
            <a:ext cx="2570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机理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1" name="TextBox 12"/>
          <p:cNvSpPr txBox="1"/>
          <p:nvPr/>
        </p:nvSpPr>
        <p:spPr>
          <a:xfrm>
            <a:off x="2082800" y="4358382"/>
            <a:ext cx="3764061" cy="629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纳米析出强化</a:t>
            </a: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 与</a:t>
            </a:r>
            <a:r>
              <a:rPr sz="11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 剧烈塑性变形晶粒微细化</a:t>
            </a: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，实现强度与塑韧</a:t>
            </a:r>
            <a:endParaRPr sz="11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性协同提升</a:t>
            </a:r>
            <a:endParaRPr sz="11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22" name="TextBox 13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" descr="s1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5" name="Picture 2" descr="slide18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248693"/>
            <a:ext cx="4838700" cy="2893020"/>
          </a:xfrm>
          <a:prstGeom prst="rect">
            <a:avLst/>
          </a:prstGeom>
        </p:spPr>
      </p:pic>
      <p:sp>
        <p:nvSpPr>
          <p:cNvPr id="126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7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18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28" name="TextBox 5"/>
          <p:cNvSpPr txBox="1"/>
          <p:nvPr/>
        </p:nvSpPr>
        <p:spPr>
          <a:xfrm>
            <a:off x="914400" y="1389955"/>
            <a:ext cx="63119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创新三：碳管电泳复合，制备超薄屏蔽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29" name="TextBox 6"/>
          <p:cNvSpPr txBox="1"/>
          <p:nvPr/>
        </p:nvSpPr>
        <p:spPr>
          <a:xfrm>
            <a:off x="914400" y="5306814"/>
            <a:ext cx="3406179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固态复合后材料的结构示意图：镁锂合金基体 + 多壁碳纳米管复合夹层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0" name="TextBox 7"/>
          <p:cNvSpPr txBox="1"/>
          <p:nvPr/>
        </p:nvSpPr>
        <p:spPr>
          <a:xfrm>
            <a:off x="6299200" y="3216473"/>
            <a:ext cx="149463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纳米碳基镁锂合金固态复合工艺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1" name="TextBox 8"/>
          <p:cNvSpPr txBox="1"/>
          <p:nvPr/>
        </p:nvSpPr>
        <p:spPr>
          <a:xfrm>
            <a:off x="6553200" y="3470473"/>
            <a:ext cx="3217366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增强体：多壁碳纳米管——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抗变形、高导电性、低密度</a:t>
            </a:r>
            <a:endParaRPr sz="105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2" name="TextBox 9"/>
          <p:cNvSpPr txBox="1"/>
          <p:nvPr/>
        </p:nvSpPr>
        <p:spPr>
          <a:xfrm>
            <a:off x="6553200" y="3789362"/>
            <a:ext cx="21844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工艺：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电泳沉积</a:t>
            </a: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工艺，紧密结合均匀</a:t>
            </a:r>
            <a:endParaRPr sz="105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3" name="TextBox 10"/>
          <p:cNvSpPr txBox="1"/>
          <p:nvPr/>
        </p:nvSpPr>
        <p:spPr>
          <a:xfrm>
            <a:off x="6553200" y="4108251"/>
            <a:ext cx="37846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成果：多功能镁锂基复合材料，制备出</a:t>
            </a:r>
            <a:r>
              <a:rPr sz="105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超薄镁锂基电磁屏蔽箔片</a:t>
            </a:r>
            <a:endParaRPr sz="1050" b="0">
              <a:solidFill>
                <a:srgbClr val="1A203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34" name="TextBox 11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" descr="s1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7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8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19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39" name="TextBox 4"/>
          <p:cNvSpPr txBox="1"/>
          <p:nvPr/>
        </p:nvSpPr>
        <p:spPr>
          <a:xfrm>
            <a:off x="914400" y="1624210"/>
            <a:ext cx="37338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学术成果结出累累硕果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0" name="TextBox 5"/>
          <p:cNvSpPr txBox="1"/>
          <p:nvPr/>
        </p:nvSpPr>
        <p:spPr>
          <a:xfrm>
            <a:off x="914400" y="2400399"/>
            <a:ext cx="87580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五类成果数量对比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41" name="TextBox 6"/>
          <p:cNvSpPr txBox="1"/>
          <p:nvPr/>
        </p:nvSpPr>
        <p:spPr>
          <a:xfrm>
            <a:off x="1252041" y="43752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4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2" name="TextBox 7"/>
          <p:cNvSpPr txBox="1"/>
          <p:nvPr/>
        </p:nvSpPr>
        <p:spPr>
          <a:xfrm>
            <a:off x="2310110" y="43625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3" name="TextBox 8"/>
          <p:cNvSpPr txBox="1"/>
          <p:nvPr/>
        </p:nvSpPr>
        <p:spPr>
          <a:xfrm>
            <a:off x="3380878" y="43625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4" name="TextBox 9"/>
          <p:cNvSpPr txBox="1"/>
          <p:nvPr/>
        </p:nvSpPr>
        <p:spPr>
          <a:xfrm>
            <a:off x="4464347" y="436889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3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5" name="TextBox 10"/>
          <p:cNvSpPr txBox="1"/>
          <p:nvPr/>
        </p:nvSpPr>
        <p:spPr>
          <a:xfrm>
            <a:off x="5522416" y="4362549"/>
            <a:ext cx="179387" cy="393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42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2100" b="1" spc="-42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46" name="TextBox 11"/>
          <p:cNvSpPr txBox="1"/>
          <p:nvPr/>
        </p:nvSpPr>
        <p:spPr>
          <a:xfrm>
            <a:off x="1116409" y="4673699"/>
            <a:ext cx="412551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SCI 论文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7" name="TextBox 12"/>
          <p:cNvSpPr txBox="1"/>
          <p:nvPr/>
        </p:nvSpPr>
        <p:spPr>
          <a:xfrm>
            <a:off x="2082303" y="4673699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北大核心论文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8" name="TextBox 13"/>
          <p:cNvSpPr txBox="1"/>
          <p:nvPr/>
        </p:nvSpPr>
        <p:spPr>
          <a:xfrm>
            <a:off x="3146722" y="4673699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授权发明专利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49" name="TextBox 14"/>
          <p:cNvSpPr txBox="1"/>
          <p:nvPr/>
        </p:nvSpPr>
        <p:spPr>
          <a:xfrm>
            <a:off x="4223841" y="4673699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实用新型专利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0" name="TextBox 15"/>
          <p:cNvSpPr txBox="1"/>
          <p:nvPr/>
        </p:nvSpPr>
        <p:spPr>
          <a:xfrm>
            <a:off x="5342135" y="4673699"/>
            <a:ext cx="52705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软件著作权</a:t>
            </a:r>
            <a:endParaRPr sz="7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1" name="TextBox 16"/>
          <p:cNvSpPr txBox="1"/>
          <p:nvPr/>
        </p:nvSpPr>
        <p:spPr>
          <a:xfrm>
            <a:off x="914400" y="5045174"/>
            <a:ext cx="5150544" cy="3768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发文与知识产权成果总计</a:t>
            </a:r>
            <a:endParaRPr sz="8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10</a:t>
            </a:r>
            <a:endParaRPr sz="1300" b="1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E5A6E"/>
                </a:solidFill>
                <a:latin typeface="DM Sans"/>
                <a:ea typeface="Noto Sans SC" panose="020B0200000000000000" charset="-122"/>
              </a:rPr>
              <a:t>项</a:t>
            </a:r>
            <a:endParaRPr sz="850" b="0">
              <a:solidFill>
                <a:srgbClr val="4E5A6E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2" name="TextBox 17"/>
          <p:cNvSpPr txBox="1"/>
          <p:nvPr/>
        </p:nvSpPr>
        <p:spPr>
          <a:xfrm>
            <a:off x="6420544" y="2400399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成果明细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53" name="TextBox 18"/>
          <p:cNvSpPr txBox="1"/>
          <p:nvPr/>
        </p:nvSpPr>
        <p:spPr>
          <a:xfrm>
            <a:off x="6420544" y="2743299"/>
            <a:ext cx="535086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SCI 论文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54" name="TextBox 19"/>
          <p:cNvSpPr txBox="1"/>
          <p:nvPr/>
        </p:nvSpPr>
        <p:spPr>
          <a:xfrm>
            <a:off x="7690544" y="2743299"/>
            <a:ext cx="1498203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4 篇，含 3 篇学生第一作者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5" name="TextBox 20"/>
          <p:cNvSpPr txBox="1"/>
          <p:nvPr/>
        </p:nvSpPr>
        <p:spPr>
          <a:xfrm>
            <a:off x="6420544" y="3105249"/>
            <a:ext cx="81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北大核心论文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56" name="TextBox 21"/>
          <p:cNvSpPr txBox="1"/>
          <p:nvPr/>
        </p:nvSpPr>
        <p:spPr>
          <a:xfrm>
            <a:off x="7690544" y="3105249"/>
            <a:ext cx="2412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1 篇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7" name="TextBox 22"/>
          <p:cNvSpPr txBox="1"/>
          <p:nvPr/>
        </p:nvSpPr>
        <p:spPr>
          <a:xfrm>
            <a:off x="6420544" y="3467199"/>
            <a:ext cx="81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授权发明专利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58" name="TextBox 23"/>
          <p:cNvSpPr txBox="1"/>
          <p:nvPr/>
        </p:nvSpPr>
        <p:spPr>
          <a:xfrm>
            <a:off x="7690544" y="3467199"/>
            <a:ext cx="2412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1 项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59" name="TextBox 24"/>
          <p:cNvSpPr txBox="1"/>
          <p:nvPr/>
        </p:nvSpPr>
        <p:spPr>
          <a:xfrm>
            <a:off x="6420544" y="3829149"/>
            <a:ext cx="812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实用新型专利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60" name="TextBox 25"/>
          <p:cNvSpPr txBox="1"/>
          <p:nvPr/>
        </p:nvSpPr>
        <p:spPr>
          <a:xfrm>
            <a:off x="7690544" y="3829149"/>
            <a:ext cx="274935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3 项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1" name="TextBox 26"/>
          <p:cNvSpPr txBox="1"/>
          <p:nvPr/>
        </p:nvSpPr>
        <p:spPr>
          <a:xfrm>
            <a:off x="6420544" y="4191099"/>
            <a:ext cx="685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2DCD0"/>
                </a:solidFill>
                <a:latin typeface="DM Sans Medium"/>
                <a:ea typeface="Noto Sans SC Medium" panose="020B0200000000000000" charset="-122"/>
              </a:rPr>
              <a:t>软件著作权</a:t>
            </a:r>
            <a:endParaRPr sz="1000" b="0">
              <a:solidFill>
                <a:srgbClr val="E2DCD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162" name="TextBox 27"/>
          <p:cNvSpPr txBox="1"/>
          <p:nvPr/>
        </p:nvSpPr>
        <p:spPr>
          <a:xfrm>
            <a:off x="7690544" y="4191099"/>
            <a:ext cx="241200" cy="188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1 项</a:t>
            </a:r>
            <a:endParaRPr sz="9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3" name="TextBox 28"/>
          <p:cNvSpPr txBox="1"/>
          <p:nvPr/>
        </p:nvSpPr>
        <p:spPr>
          <a:xfrm>
            <a:off x="6420544" y="4616549"/>
            <a:ext cx="16700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学术成果丰硕，知识产权布局完整</a:t>
            </a:r>
            <a:endParaRPr sz="85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64" name="TextBox 2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1" descr="s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1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创新与成果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2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20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3" name="TextBox 4"/>
          <p:cNvSpPr txBox="1"/>
          <p:nvPr/>
        </p:nvSpPr>
        <p:spPr>
          <a:xfrm>
            <a:off x="914400" y="1167804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产业化迈出坚实一步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194" name="TextBox 5"/>
          <p:cNvSpPr txBox="1"/>
          <p:nvPr/>
        </p:nvSpPr>
        <p:spPr>
          <a:xfrm>
            <a:off x="914400" y="1715392"/>
            <a:ext cx="296545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项目已从实验室走向产业化验证，收获多家头部企业合作意向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195" name="TextBox 6"/>
          <p:cNvSpPr txBox="1"/>
          <p:nvPr/>
        </p:nvSpPr>
        <p:spPr>
          <a:xfrm>
            <a:off x="8216403" y="1746448"/>
            <a:ext cx="66962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代工合作落地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6" name="TextBox 7"/>
          <p:cNvSpPr txBox="1"/>
          <p:nvPr/>
        </p:nvSpPr>
        <p:spPr>
          <a:xfrm>
            <a:off x="9101931" y="1746448"/>
            <a:ext cx="56643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产业化验证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7" name="TextBox 8"/>
          <p:cNvSpPr txBox="1"/>
          <p:nvPr/>
        </p:nvSpPr>
        <p:spPr>
          <a:xfrm>
            <a:off x="9884271" y="1746448"/>
            <a:ext cx="66962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头部企业关注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8" name="TextBox 9"/>
          <p:cNvSpPr txBox="1"/>
          <p:nvPr/>
        </p:nvSpPr>
        <p:spPr>
          <a:xfrm>
            <a:off x="10769798" y="17464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转化对接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199" name="TextBox 10"/>
          <p:cNvSpPr txBox="1"/>
          <p:nvPr/>
        </p:nvSpPr>
        <p:spPr>
          <a:xfrm>
            <a:off x="1193800" y="2267148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1 步　落地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00" name="TextBox 11"/>
          <p:cNvSpPr txBox="1"/>
          <p:nvPr/>
        </p:nvSpPr>
        <p:spPr>
          <a:xfrm>
            <a:off x="1193800" y="2444948"/>
            <a:ext cx="119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代工合作落地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01" name="TextBox 12"/>
          <p:cNvSpPr txBox="1"/>
          <p:nvPr/>
        </p:nvSpPr>
        <p:spPr>
          <a:xfrm>
            <a:off x="1193800" y="2743398"/>
            <a:ext cx="4114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团队负责人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郭政佑</a:t>
            </a: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牵头达成代工合作协议，完成超薄箔材产业化成形验证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2" name="TextBox 13"/>
          <p:cNvSpPr txBox="1"/>
          <p:nvPr/>
        </p:nvSpPr>
        <p:spPr>
          <a:xfrm>
            <a:off x="1193800" y="3164978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2 步　关注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03" name="TextBox 14"/>
          <p:cNvSpPr txBox="1"/>
          <p:nvPr/>
        </p:nvSpPr>
        <p:spPr>
          <a:xfrm>
            <a:off x="1193800" y="3349128"/>
            <a:ext cx="1193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头部企业关注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04" name="TextBox 15"/>
          <p:cNvSpPr txBox="1"/>
          <p:nvPr/>
        </p:nvSpPr>
        <p:spPr>
          <a:xfrm>
            <a:off x="1193800" y="3653928"/>
            <a:ext cx="4563467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第二届全国先进技术成果转化大会上，收获</a:t>
            </a:r>
            <a:r>
              <a:rPr sz="10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 宝钢金属、长安汽车</a:t>
            </a: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 等企业合作意向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5" name="TextBox 16"/>
          <p:cNvSpPr txBox="1"/>
          <p:nvPr/>
        </p:nvSpPr>
        <p:spPr>
          <a:xfrm>
            <a:off x="1193800" y="4088209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3 步　亮相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06" name="TextBox 17"/>
          <p:cNvSpPr txBox="1"/>
          <p:nvPr/>
        </p:nvSpPr>
        <p:spPr>
          <a:xfrm>
            <a:off x="1193800" y="4266009"/>
            <a:ext cx="13843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国家级路演亮相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07" name="TextBox 18"/>
          <p:cNvSpPr txBox="1"/>
          <p:nvPr/>
        </p:nvSpPr>
        <p:spPr>
          <a:xfrm>
            <a:off x="1193800" y="4564459"/>
            <a:ext cx="5301654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工信部 2023 年专项路演（雄安站）开幕式，全场仅</a:t>
            </a:r>
            <a:r>
              <a:rPr sz="1000" b="0">
                <a:solidFill>
                  <a:srgbClr val="1A2030"/>
                </a:solidFill>
                <a:latin typeface="DM Sans"/>
                <a:ea typeface="Noto Sans SC" panose="020B0200000000000000" charset="-122"/>
              </a:rPr>
              <a:t> 4 个</a:t>
            </a: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 亮相项目之一，郭政佑为唯一本科生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08" name="TextBox 19"/>
          <p:cNvSpPr txBox="1"/>
          <p:nvPr/>
        </p:nvSpPr>
        <p:spPr>
          <a:xfrm>
            <a:off x="1193800" y="4986039"/>
            <a:ext cx="7691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第 4 步　升级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09" name="TextBox 20"/>
          <p:cNvSpPr txBox="1"/>
          <p:nvPr/>
        </p:nvSpPr>
        <p:spPr>
          <a:xfrm>
            <a:off x="1193800" y="5176539"/>
            <a:ext cx="10033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下一步方向</a:t>
            </a:r>
            <a:endParaRPr sz="15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10" name="TextBox 21"/>
          <p:cNvSpPr txBox="1"/>
          <p:nvPr/>
        </p:nvSpPr>
        <p:spPr>
          <a:xfrm>
            <a:off x="1193800" y="5474989"/>
            <a:ext cx="4495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开发更先进、更高效、更高质量的新型电磁屏蔽材料，拓展民生电子消费等领域</a:t>
            </a:r>
            <a:endParaRPr sz="10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11" name="TextBox 22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s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4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15" name="TextBox 3"/>
          <p:cNvSpPr txBox="1"/>
          <p:nvPr/>
        </p:nvSpPr>
        <p:spPr>
          <a:xfrm>
            <a:off x="914400" y="2942034"/>
            <a:ext cx="24892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团队介绍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16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八名本科生，各展所长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从机理研究到成果整理的完整协作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Picture 1" descr="s2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9" name="Picture 2" descr="slide22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372121"/>
            <a:ext cx="3162300" cy="1469826"/>
          </a:xfrm>
          <a:prstGeom prst="rect">
            <a:avLst/>
          </a:prstGeom>
        </p:spPr>
      </p:pic>
      <p:sp>
        <p:nvSpPr>
          <p:cNvPr id="220" name="TextBox 3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团队介绍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1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22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2" name="TextBox 5"/>
          <p:cNvSpPr txBox="1"/>
          <p:nvPr/>
        </p:nvSpPr>
        <p:spPr>
          <a:xfrm>
            <a:off x="914400" y="1526083"/>
            <a:ext cx="33655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八人团队与分工总览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23" name="TextBox 6"/>
          <p:cNvSpPr txBox="1"/>
          <p:nvPr/>
        </p:nvSpPr>
        <p:spPr>
          <a:xfrm>
            <a:off x="9634636" y="1845071"/>
            <a:ext cx="16937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成员年级：大四 4 人、大三 4 人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4" name="TextBox 7"/>
          <p:cNvSpPr txBox="1"/>
          <p:nvPr/>
        </p:nvSpPr>
        <p:spPr>
          <a:xfrm>
            <a:off x="1009650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机理研究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5" name="TextBox 8"/>
          <p:cNvSpPr txBox="1"/>
          <p:nvPr/>
        </p:nvSpPr>
        <p:spPr>
          <a:xfrm>
            <a:off x="1676201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成分设计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6" name="TextBox 9"/>
          <p:cNvSpPr txBox="1"/>
          <p:nvPr/>
        </p:nvSpPr>
        <p:spPr>
          <a:xfrm>
            <a:off x="2342753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成形复合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7" name="TextBox 10"/>
          <p:cNvSpPr txBox="1"/>
          <p:nvPr/>
        </p:nvSpPr>
        <p:spPr>
          <a:xfrm>
            <a:off x="3009304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表征测试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8" name="TextBox 11"/>
          <p:cNvSpPr txBox="1"/>
          <p:nvPr/>
        </p:nvSpPr>
        <p:spPr>
          <a:xfrm>
            <a:off x="3675856" y="4083248"/>
            <a:ext cx="463351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成果整理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29" name="TextBox 12"/>
          <p:cNvSpPr txBox="1"/>
          <p:nvPr/>
        </p:nvSpPr>
        <p:spPr>
          <a:xfrm>
            <a:off x="914400" y="4337248"/>
            <a:ext cx="2587625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团队分工覆盖上述五大环节，环环相扣（原稿信息）。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0" name="TextBox 13"/>
          <p:cNvSpPr txBox="1"/>
          <p:nvPr/>
        </p:nvSpPr>
        <p:spPr>
          <a:xfrm>
            <a:off x="4572000" y="2391171"/>
            <a:ext cx="36026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成　员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31" name="TextBox 14"/>
          <p:cNvSpPr txBox="1"/>
          <p:nvPr/>
        </p:nvSpPr>
        <p:spPr>
          <a:xfrm>
            <a:off x="5524500" y="2391171"/>
            <a:ext cx="1391443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角色与主要分工（依据原稿）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32" name="TextBox 15"/>
          <p:cNvSpPr txBox="1"/>
          <p:nvPr/>
        </p:nvSpPr>
        <p:spPr>
          <a:xfrm>
            <a:off x="4572000" y="2619771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郭政佑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33" name="TextBox 16"/>
          <p:cNvSpPr txBox="1"/>
          <p:nvPr/>
        </p:nvSpPr>
        <p:spPr>
          <a:xfrm>
            <a:off x="5524500" y="2594610"/>
            <a:ext cx="5448935" cy="4394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团队负责人：统筹项目整体；提出弹球游戏灵感；建立电磁损耗模型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开展时效热处理实验；主导电泳沉积工艺；牵头达成代工合作协议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4" name="TextBox 17"/>
          <p:cNvSpPr txBox="1"/>
          <p:nvPr/>
        </p:nvSpPr>
        <p:spPr>
          <a:xfrm>
            <a:off x="4572000" y="317599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李佳睿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35" name="TextBox 18"/>
          <p:cNvSpPr txBox="1"/>
          <p:nvPr/>
        </p:nvSpPr>
        <p:spPr>
          <a:xfrm>
            <a:off x="5524500" y="3221712"/>
            <a:ext cx="609219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团队成员：参与材料成分优化与性能平衡；参与超过 15 种合金元素配比实验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6" name="TextBox 19"/>
          <p:cNvSpPr txBox="1"/>
          <p:nvPr/>
        </p:nvSpPr>
        <p:spPr>
          <a:xfrm>
            <a:off x="4572000" y="353794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张　弛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37" name="TextBox 20"/>
          <p:cNvSpPr txBox="1"/>
          <p:nvPr/>
        </p:nvSpPr>
        <p:spPr>
          <a:xfrm>
            <a:off x="5524500" y="3537942"/>
            <a:ext cx="23114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团队成员：北大核心论文作者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38" name="TextBox 21"/>
          <p:cNvSpPr txBox="1"/>
          <p:nvPr/>
        </p:nvSpPr>
        <p:spPr>
          <a:xfrm>
            <a:off x="4572000" y="389989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贾昊阳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39" name="TextBox 22"/>
          <p:cNvSpPr txBox="1"/>
          <p:nvPr/>
        </p:nvSpPr>
        <p:spPr>
          <a:xfrm>
            <a:off x="5524500" y="3899892"/>
            <a:ext cx="321056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团队成员：北大核心论文作者、SCI 一作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40" name="TextBox 23"/>
          <p:cNvSpPr txBox="1"/>
          <p:nvPr/>
        </p:nvSpPr>
        <p:spPr>
          <a:xfrm>
            <a:off x="4572000" y="4261842"/>
            <a:ext cx="431800" cy="196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刘锦洋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41" name="TextBox 24"/>
          <p:cNvSpPr txBox="1"/>
          <p:nvPr/>
        </p:nvSpPr>
        <p:spPr>
          <a:xfrm>
            <a:off x="5524500" y="4261842"/>
            <a:ext cx="33782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团队成员：参与合金材料研发，专利发明人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42" name="TextBox 25"/>
          <p:cNvSpPr txBox="1"/>
          <p:nvPr/>
        </p:nvSpPr>
        <p:spPr>
          <a:xfrm>
            <a:off x="4572000" y="4623792"/>
            <a:ext cx="1003300" cy="764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蒋筱钰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周子晴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2030"/>
                </a:solidFill>
                <a:latin typeface="DM Sans Medium"/>
                <a:ea typeface="Noto Sans SC Medium" panose="020B0200000000000000" charset="-122"/>
              </a:rPr>
              <a:t>刘奕彤</a:t>
            </a:r>
            <a:endParaRPr sz="1000" b="0">
              <a:solidFill>
                <a:srgbClr val="1A2030"/>
              </a:solidFill>
              <a:latin typeface="DM Sans Medium"/>
              <a:ea typeface="Noto Sans SC Medium" panose="020B0200000000000000" charset="-122"/>
            </a:endParaRPr>
          </a:p>
        </p:txBody>
      </p:sp>
      <p:sp>
        <p:nvSpPr>
          <p:cNvPr id="243" name="TextBox 26"/>
          <p:cNvSpPr txBox="1"/>
          <p:nvPr/>
        </p:nvSpPr>
        <p:spPr>
          <a:xfrm>
            <a:off x="5524500" y="4902557"/>
            <a:ext cx="3200400" cy="207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团队成员：参与项目实验检测和资料整理</a:t>
            </a:r>
            <a:endParaRPr sz="140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44" name="TextBox 2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1" descr="s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7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团队介绍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48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23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49" name="TextBox 4"/>
          <p:cNvSpPr txBox="1"/>
          <p:nvPr/>
        </p:nvSpPr>
        <p:spPr>
          <a:xfrm>
            <a:off x="914400" y="1719460"/>
            <a:ext cx="41021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故事的起点：一堂导论课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50" name="TextBox 5"/>
          <p:cNvSpPr txBox="1"/>
          <p:nvPr/>
        </p:nvSpPr>
        <p:spPr>
          <a:xfrm>
            <a:off x="914400" y="2267049"/>
            <a:ext cx="17780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一群志同道合的伙伴，从一堂课出发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51" name="TextBox 6"/>
          <p:cNvSpPr txBox="1"/>
          <p:nvPr/>
        </p:nvSpPr>
        <p:spPr>
          <a:xfrm>
            <a:off x="914400" y="2768004"/>
            <a:ext cx="28956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兴趣是最强引擎，从</a:t>
            </a:r>
            <a:r>
              <a:rPr sz="16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一堂课</a:t>
            </a:r>
            <a:r>
              <a:rPr sz="16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开始</a:t>
            </a:r>
            <a:endParaRPr sz="16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52" name="TextBox 7"/>
          <p:cNvSpPr txBox="1"/>
          <p:nvPr/>
        </p:nvSpPr>
        <p:spPr>
          <a:xfrm>
            <a:off x="914400" y="3376314"/>
            <a:ext cx="45977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阶段 01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53" name="TextBox 8"/>
          <p:cNvSpPr txBox="1"/>
          <p:nvPr/>
        </p:nvSpPr>
        <p:spPr>
          <a:xfrm>
            <a:off x="914400" y="3528714"/>
            <a:ext cx="229195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1</a:t>
            </a:r>
            <a:endParaRPr sz="3000" b="1" spc="-6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54" name="TextBox 9"/>
          <p:cNvSpPr txBox="1"/>
          <p:nvPr/>
        </p:nvSpPr>
        <p:spPr>
          <a:xfrm>
            <a:off x="914400" y="4011314"/>
            <a:ext cx="10033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导论课初识</a:t>
            </a:r>
            <a:endParaRPr sz="15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55" name="TextBox 10"/>
          <p:cNvSpPr txBox="1"/>
          <p:nvPr/>
        </p:nvSpPr>
        <p:spPr>
          <a:xfrm>
            <a:off x="1168400" y="4366914"/>
            <a:ext cx="71755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专业导论课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56" name="TextBox 11"/>
          <p:cNvSpPr txBox="1"/>
          <p:nvPr/>
        </p:nvSpPr>
        <p:spPr>
          <a:xfrm>
            <a:off x="914400" y="4692153"/>
            <a:ext cx="3225800" cy="5729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大二时，郭政佑在巫瑞智教授的专业导论课上第一次接触</a:t>
            </a:r>
            <a:endParaRPr sz="10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到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镁锂合金</a:t>
            </a:r>
            <a:endParaRPr sz="100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57" name="TextBox 12"/>
          <p:cNvSpPr txBox="1"/>
          <p:nvPr/>
        </p:nvSpPr>
        <p:spPr>
          <a:xfrm>
            <a:off x="4654550" y="3376314"/>
            <a:ext cx="45977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阶段 02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58" name="TextBox 13"/>
          <p:cNvSpPr txBox="1"/>
          <p:nvPr/>
        </p:nvSpPr>
        <p:spPr>
          <a:xfrm>
            <a:off x="4654550" y="3528714"/>
            <a:ext cx="229195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2</a:t>
            </a:r>
            <a:endParaRPr sz="3000" b="1" spc="-6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59" name="TextBox 14"/>
          <p:cNvSpPr txBox="1"/>
          <p:nvPr/>
        </p:nvSpPr>
        <p:spPr>
          <a:xfrm>
            <a:off x="4654550" y="4011314"/>
            <a:ext cx="81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加入课题</a:t>
            </a:r>
            <a:endParaRPr sz="15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60" name="TextBox 15"/>
          <p:cNvSpPr txBox="1"/>
          <p:nvPr/>
        </p:nvSpPr>
        <p:spPr>
          <a:xfrm>
            <a:off x="4908550" y="4366914"/>
            <a:ext cx="5842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浓厚兴趣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61" name="TextBox 16"/>
          <p:cNvSpPr txBox="1"/>
          <p:nvPr/>
        </p:nvSpPr>
        <p:spPr>
          <a:xfrm>
            <a:off x="4654550" y="4692153"/>
            <a:ext cx="2933700" cy="5729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带着浓厚兴趣，加入巫教授带领的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“镁锂基电磁屏蔽</a:t>
            </a:r>
            <a:endParaRPr sz="100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材料”</a:t>
            </a: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课题研究</a:t>
            </a:r>
            <a:endParaRPr sz="10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62" name="TextBox 17"/>
          <p:cNvSpPr txBox="1"/>
          <p:nvPr/>
        </p:nvSpPr>
        <p:spPr>
          <a:xfrm>
            <a:off x="8102600" y="3376314"/>
            <a:ext cx="459779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阶段 03</a:t>
            </a:r>
            <a:endParaRPr sz="7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63" name="TextBox 18"/>
          <p:cNvSpPr txBox="1"/>
          <p:nvPr/>
        </p:nvSpPr>
        <p:spPr>
          <a:xfrm>
            <a:off x="8102600" y="3528714"/>
            <a:ext cx="229195" cy="546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6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3</a:t>
            </a:r>
            <a:endParaRPr sz="3000" b="1" spc="-6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64" name="TextBox 19"/>
          <p:cNvSpPr txBox="1"/>
          <p:nvPr/>
        </p:nvSpPr>
        <p:spPr>
          <a:xfrm>
            <a:off x="8102600" y="4011314"/>
            <a:ext cx="812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开启研究</a:t>
            </a:r>
            <a:endParaRPr sz="15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65" name="TextBox 20"/>
          <p:cNvSpPr txBox="1"/>
          <p:nvPr/>
        </p:nvSpPr>
        <p:spPr>
          <a:xfrm>
            <a:off x="8356600" y="4366914"/>
            <a:ext cx="584200" cy="20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志同道合</a:t>
            </a:r>
            <a:endParaRPr sz="10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66" name="TextBox 21"/>
          <p:cNvSpPr txBox="1"/>
          <p:nvPr/>
        </p:nvSpPr>
        <p:spPr>
          <a:xfrm>
            <a:off x="8102600" y="4692153"/>
            <a:ext cx="3225800" cy="5729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与一群志同道合的小伙伴，开启</a:t>
            </a: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镁锂合金材料综合性能提</a:t>
            </a:r>
            <a:endParaRPr sz="1000" b="0">
              <a:solidFill>
                <a:srgbClr val="C8A8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8A870"/>
                </a:solidFill>
                <a:latin typeface="DM Sans"/>
                <a:ea typeface="Noto Sans SC" panose="020B0200000000000000" charset="-122"/>
              </a:rPr>
              <a:t>升</a:t>
            </a:r>
            <a:r>
              <a:rPr sz="10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的研究之路</a:t>
            </a:r>
            <a:endParaRPr sz="10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67" name="TextBox 22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1" descr="s2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0" name="TextBox 2"/>
          <p:cNvSpPr txBox="1"/>
          <p:nvPr/>
        </p:nvSpPr>
        <p:spPr>
          <a:xfrm>
            <a:off x="914400" y="368300"/>
            <a:ext cx="5080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团队介绍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71" name="TextBox 3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24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72" name="TextBox 4"/>
          <p:cNvSpPr txBox="1"/>
          <p:nvPr/>
        </p:nvSpPr>
        <p:spPr>
          <a:xfrm>
            <a:off x="914400" y="1811635"/>
            <a:ext cx="37338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并肩同行，共赢的力量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73" name="TextBox 5"/>
          <p:cNvSpPr txBox="1"/>
          <p:nvPr/>
        </p:nvSpPr>
        <p:spPr>
          <a:xfrm>
            <a:off x="914400" y="2359223"/>
            <a:ext cx="1562100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学习与科创，是相辅相成的两翼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74" name="TextBox 6"/>
          <p:cNvSpPr txBox="1"/>
          <p:nvPr/>
        </p:nvSpPr>
        <p:spPr>
          <a:xfrm>
            <a:off x="914400" y="2860178"/>
            <a:ext cx="461674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团队行稳致远的三个关键词：</a:t>
            </a:r>
            <a:r>
              <a:rPr sz="1600" b="0">
                <a:solidFill>
                  <a:srgbClr val="C8A870"/>
                </a:solidFill>
                <a:latin typeface="Cambria" panose="02040503050406030204"/>
                <a:ea typeface="Noto Sans SC Medium" panose="020B0200000000000000" charset="-122"/>
              </a:rPr>
              <a:t>协作 · 传承 · 学业基石</a:t>
            </a:r>
            <a:endParaRPr sz="1600" b="0">
              <a:solidFill>
                <a:srgbClr val="C8A87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75" name="TextBox 7"/>
          <p:cNvSpPr txBox="1"/>
          <p:nvPr/>
        </p:nvSpPr>
        <p:spPr>
          <a:xfrm>
            <a:off x="914400" y="3601839"/>
            <a:ext cx="78740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协作共赢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76" name="TextBox 8"/>
          <p:cNvSpPr txBox="1"/>
          <p:nvPr/>
        </p:nvSpPr>
        <p:spPr>
          <a:xfrm>
            <a:off x="914400" y="3897709"/>
            <a:ext cx="51562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团队成员各展所长，从材料选择、复合制备到性能检验环环推进。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77" name="TextBox 9"/>
          <p:cNvSpPr txBox="1"/>
          <p:nvPr/>
        </p:nvSpPr>
        <p:spPr>
          <a:xfrm>
            <a:off x="6299200" y="3601839"/>
            <a:ext cx="60325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传帮带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78" name="TextBox 10"/>
          <p:cNvSpPr txBox="1"/>
          <p:nvPr/>
        </p:nvSpPr>
        <p:spPr>
          <a:xfrm>
            <a:off x="6299200" y="3897709"/>
            <a:ext cx="40894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师兄师姐传帮带，师生接力把课题一步步做深做实。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79" name="TextBox 11"/>
          <p:cNvSpPr txBox="1"/>
          <p:nvPr/>
        </p:nvSpPr>
        <p:spPr>
          <a:xfrm>
            <a:off x="914400" y="4408189"/>
            <a:ext cx="78740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代工合作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80" name="TextBox 12"/>
          <p:cNvSpPr txBox="1"/>
          <p:nvPr/>
        </p:nvSpPr>
        <p:spPr>
          <a:xfrm>
            <a:off x="914400" y="4704060"/>
            <a:ext cx="4978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郭政佑牵头达成代工合作协议，实现超薄箔材的产业化成形验证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同多家企业密切合作。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81" name="TextBox 13"/>
          <p:cNvSpPr txBox="1"/>
          <p:nvPr/>
        </p:nvSpPr>
        <p:spPr>
          <a:xfrm>
            <a:off x="6299200" y="4408189"/>
            <a:ext cx="787400" cy="279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学业基石</a:t>
            </a:r>
            <a:endParaRPr sz="145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82" name="TextBox 14"/>
          <p:cNvSpPr txBox="1"/>
          <p:nvPr/>
        </p:nvSpPr>
        <p:spPr>
          <a:xfrm>
            <a:off x="6299200" y="4704060"/>
            <a:ext cx="4089400" cy="2330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团队一直坚信：好的学习成绩是科创道路上的基石。</a:t>
            </a:r>
            <a:endParaRPr sz="14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83" name="TextBox 15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Picture 1" descr="s2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6" name="TextBox 2"/>
          <p:cNvSpPr txBox="1"/>
          <p:nvPr/>
        </p:nvSpPr>
        <p:spPr>
          <a:xfrm>
            <a:off x="914400" y="2370534"/>
            <a:ext cx="321567" cy="2482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86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06</a:t>
            </a:r>
            <a:endParaRPr sz="1300" b="0" spc="286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87" name="TextBox 3"/>
          <p:cNvSpPr txBox="1"/>
          <p:nvPr/>
        </p:nvSpPr>
        <p:spPr>
          <a:xfrm>
            <a:off x="914400" y="2935684"/>
            <a:ext cx="3098800" cy="857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历程与启示</a:t>
            </a:r>
            <a:endParaRPr sz="48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88" name="TextBox 4"/>
          <p:cNvSpPr txBox="1"/>
          <p:nvPr/>
        </p:nvSpPr>
        <p:spPr>
          <a:xfrm>
            <a:off x="914400" y="3870325"/>
            <a:ext cx="5765800" cy="7540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从起点到诞生，是持续迭代的成果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致敬每一位并肩前行的追光者</a:t>
            </a:r>
            <a:endParaRPr sz="135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1" descr="s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1" name="Picture 1" descr="s26.png"/>
          <p:cNvPicPr>
            <a:picLocks noChangeAspect="1"/>
          </p:cNvPicPr>
          <p:nvPr/>
        </p:nvPicPr>
        <p:blipFill>
          <a:blip r:embed="rId1"/>
          <a:srcRect l="61302" t="24074" r="5182" b="22583"/>
          <a:stretch>
            <a:fillRect/>
          </a:stretch>
        </p:blipFill>
        <p:spPr>
          <a:xfrm>
            <a:off x="7985125" y="1599565"/>
            <a:ext cx="4086225" cy="3658235"/>
          </a:xfrm>
          <a:prstGeom prst="rect">
            <a:avLst/>
          </a:prstGeom>
        </p:spPr>
      </p:pic>
      <p:pic>
        <p:nvPicPr>
          <p:cNvPr id="292" name="Picture 2" descr="slide26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450" y="2400796"/>
            <a:ext cx="3162300" cy="2268041"/>
          </a:xfrm>
          <a:prstGeom prst="rect">
            <a:avLst/>
          </a:prstGeom>
        </p:spPr>
      </p:pic>
      <p:sp>
        <p:nvSpPr>
          <p:cNvPr id="293" name="TextBox 3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历程与启示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94" name="TextBox 4"/>
          <p:cNvSpPr txBox="1"/>
          <p:nvPr/>
        </p:nvSpPr>
        <p:spPr>
          <a:xfrm>
            <a:off x="1079827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26 / 28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95" name="TextBox 5"/>
          <p:cNvSpPr txBox="1"/>
          <p:nvPr/>
        </p:nvSpPr>
        <p:spPr>
          <a:xfrm>
            <a:off x="914400" y="1345902"/>
            <a:ext cx="44704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发展历程：从课堂到领奖台</a:t>
            </a:r>
            <a:endParaRPr sz="29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296" name="TextBox 6"/>
          <p:cNvSpPr txBox="1"/>
          <p:nvPr/>
        </p:nvSpPr>
        <p:spPr>
          <a:xfrm>
            <a:off x="908050" y="1893490"/>
            <a:ext cx="2478186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tx1"/>
                </a:solidFill>
                <a:latin typeface="DM Sans"/>
                <a:ea typeface="Noto Sans SC" panose="020B0200000000000000" charset="-122"/>
              </a:rPr>
              <a:t>2022 年 8 月—2023 年 5 月集中实验，探索约三年</a:t>
            </a:r>
            <a:endParaRPr sz="850" b="0">
              <a:solidFill>
                <a:schemeClr val="tx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97" name="TextBox 7"/>
          <p:cNvSpPr txBox="1"/>
          <p:nvPr/>
        </p:nvSpPr>
        <p:spPr>
          <a:xfrm>
            <a:off x="1193800" y="2369046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01　课堂起点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298" name="TextBox 8"/>
          <p:cNvSpPr txBox="1"/>
          <p:nvPr/>
        </p:nvSpPr>
        <p:spPr>
          <a:xfrm>
            <a:off x="1193800" y="2534146"/>
            <a:ext cx="4502150" cy="4432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郭政佑大二在专业导论课初识镁锂合金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随后加入巫瑞智教授“镁锂基电磁屏蔽材料”课题组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299" name="TextBox 9"/>
          <p:cNvSpPr txBox="1"/>
          <p:nvPr/>
        </p:nvSpPr>
        <p:spPr>
          <a:xfrm>
            <a:off x="1193800" y="3174722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02　功能攻关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00" name="TextBox 10"/>
          <p:cNvSpPr txBox="1"/>
          <p:nvPr/>
        </p:nvSpPr>
        <p:spPr>
          <a:xfrm>
            <a:off x="1193800" y="3339822"/>
            <a:ext cx="3657600" cy="2216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反复实验五次，得到理想的多维平行界面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01" name="TextBox 11"/>
          <p:cNvSpPr txBox="1"/>
          <p:nvPr/>
        </p:nvSpPr>
        <p:spPr>
          <a:xfrm>
            <a:off x="1193800" y="3756243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03　配方探索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02" name="TextBox 12"/>
          <p:cNvSpPr txBox="1"/>
          <p:nvPr/>
        </p:nvSpPr>
        <p:spPr>
          <a:xfrm>
            <a:off x="1193800" y="3921343"/>
            <a:ext cx="4298950" cy="4432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先后尝试超过 15 种合金元素配比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比例不当时成形性不足，累积叠轧“一轧就断裂”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03" name="TextBox 13"/>
          <p:cNvSpPr txBox="1"/>
          <p:nvPr/>
        </p:nvSpPr>
        <p:spPr>
          <a:xfrm>
            <a:off x="1193800" y="4504134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04　参数攻坚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04" name="TextBox 14"/>
          <p:cNvSpPr txBox="1"/>
          <p:nvPr/>
        </p:nvSpPr>
        <p:spPr>
          <a:xfrm>
            <a:off x="1193800" y="4669234"/>
            <a:ext cx="5892800" cy="4432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不断调整叠轧温度、优化单次压下量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因实验强度大、初期参数不当，报废过一台电源、两台磁力搅拌器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05" name="TextBox 15"/>
          <p:cNvSpPr txBox="1"/>
          <p:nvPr/>
        </p:nvSpPr>
        <p:spPr>
          <a:xfrm>
            <a:off x="1193800" y="5212020"/>
            <a:ext cx="108204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05　材料诞生</a:t>
            </a:r>
            <a:endParaRPr sz="12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06" name="TextBox 16"/>
          <p:cNvSpPr txBox="1"/>
          <p:nvPr/>
        </p:nvSpPr>
        <p:spPr>
          <a:xfrm>
            <a:off x="1193800" y="5377120"/>
            <a:ext cx="6908800" cy="2216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270"/>
                </a:solidFill>
                <a:latin typeface="DM Sans"/>
                <a:ea typeface="Noto Sans SC" panose="020B0200000000000000" charset="-122"/>
              </a:rPr>
              <a:t>集超轻、高强韧、高电磁屏蔽性于一体的多功能镁锂基复合材料在实验室诞生</a:t>
            </a:r>
            <a:endParaRPr sz="1600" b="0">
              <a:solidFill>
                <a:srgbClr val="5A6270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07" name="TextBox 17"/>
          <p:cNvSpPr txBox="1"/>
          <p:nvPr/>
        </p:nvSpPr>
        <p:spPr>
          <a:xfrm>
            <a:off x="8623300" y="4872672"/>
            <a:ext cx="2562423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AA0A8"/>
                </a:solidFill>
                <a:latin typeface="DM Sans"/>
                <a:ea typeface="Noto Sans SC" panose="020B0200000000000000" charset="-122"/>
              </a:rPr>
              <a:t>▲ 实验攻坚中报废的电源与制备的箔材（原稿素材）</a:t>
            </a:r>
            <a:endParaRPr sz="850" b="0">
              <a:solidFill>
                <a:srgbClr val="9AA0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08" name="TextBox 18"/>
          <p:cNvSpPr txBox="1"/>
          <p:nvPr/>
        </p:nvSpPr>
        <p:spPr>
          <a:xfrm>
            <a:off x="8451850" y="5310127"/>
            <a:ext cx="2744589" cy="25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2030"/>
                </a:solidFill>
                <a:latin typeface="Cambria" panose="02040503050406030204"/>
                <a:ea typeface="Noto Sans SC Medium" panose="020B0200000000000000" charset="-122"/>
              </a:rPr>
              <a:t>“从起点到诞生，是持续迭代的成果。”</a:t>
            </a:r>
            <a:endParaRPr sz="1300" b="0">
              <a:solidFill>
                <a:srgbClr val="1A203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09" name="TextBox 19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9AA0A8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9AA0A8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1" descr="s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2" name="TextBox 2"/>
          <p:cNvSpPr txBox="1"/>
          <p:nvPr/>
        </p:nvSpPr>
        <p:spPr>
          <a:xfrm>
            <a:off x="914400" y="368300"/>
            <a:ext cx="622300" cy="1539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历程与启示</a:t>
            </a:r>
            <a:endParaRPr sz="750" b="0" spc="15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13" name="TextBox 3"/>
          <p:cNvSpPr txBox="1"/>
          <p:nvPr/>
        </p:nvSpPr>
        <p:spPr>
          <a:xfrm>
            <a:off x="10804624" y="368300"/>
            <a:ext cx="523775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27 / 28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14" name="TextBox 4"/>
          <p:cNvSpPr txBox="1"/>
          <p:nvPr/>
        </p:nvSpPr>
        <p:spPr>
          <a:xfrm>
            <a:off x="914400" y="1871067"/>
            <a:ext cx="1892300" cy="527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71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总结与启示</a:t>
            </a:r>
            <a:endParaRPr sz="29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15" name="TextBox 5"/>
          <p:cNvSpPr txBox="1"/>
          <p:nvPr/>
        </p:nvSpPr>
        <p:spPr>
          <a:xfrm>
            <a:off x="914400" y="2418655"/>
            <a:ext cx="3584078" cy="1711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chemeClr val="bg1"/>
                </a:solidFill>
                <a:latin typeface="DM Sans"/>
                <a:ea typeface="Noto Sans SC" panose="020B0200000000000000" charset="-122"/>
              </a:rPr>
              <a:t>项目成功的关键因素 · 对大学生科创团队建设的启示（依据原稿内容整理）</a:t>
            </a:r>
            <a:endParaRPr sz="850" b="0">
              <a:solidFill>
                <a:schemeClr val="bg1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16" name="TextBox 6"/>
          <p:cNvSpPr txBox="1"/>
          <p:nvPr/>
        </p:nvSpPr>
        <p:spPr>
          <a:xfrm>
            <a:off x="914400" y="2906910"/>
            <a:ext cx="104013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项目成功的关键因素</a:t>
            </a:r>
            <a:endParaRPr sz="8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17" name="TextBox 7"/>
          <p:cNvSpPr txBox="1"/>
          <p:nvPr/>
        </p:nvSpPr>
        <p:spPr>
          <a:xfrm>
            <a:off x="1168400" y="3148210"/>
            <a:ext cx="3505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兴趣驱动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从一堂专业导论课出发，兴趣是最强引擎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18" name="TextBox 8"/>
          <p:cNvSpPr txBox="1"/>
          <p:nvPr/>
        </p:nvSpPr>
        <p:spPr>
          <a:xfrm>
            <a:off x="1168400" y="3467100"/>
            <a:ext cx="48768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名师领航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巫瑞智教授团队与超轻材料与表面技术教育部重点实验室支撑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19" name="TextBox 9"/>
          <p:cNvSpPr txBox="1"/>
          <p:nvPr/>
        </p:nvSpPr>
        <p:spPr>
          <a:xfrm>
            <a:off x="1168400" y="3785989"/>
            <a:ext cx="5029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分工协作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机理研究、成分设计、成形复合、表征测试、成果整理环环相扣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0" name="TextBox 10"/>
          <p:cNvSpPr txBox="1"/>
          <p:nvPr/>
        </p:nvSpPr>
        <p:spPr>
          <a:xfrm>
            <a:off x="1168400" y="4104878"/>
            <a:ext cx="41148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迭代攻坚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五次修整、十五种配比，报废设备仍坚持迭代改进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1" name="TextBox 11"/>
          <p:cNvSpPr txBox="1"/>
          <p:nvPr/>
        </p:nvSpPr>
        <p:spPr>
          <a:xfrm>
            <a:off x="6505575" y="2906910"/>
            <a:ext cx="1271270" cy="134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12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对大学生科创团队的启示</a:t>
            </a:r>
            <a:endParaRPr sz="800" b="0" spc="112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22" name="TextBox 12"/>
          <p:cNvSpPr txBox="1"/>
          <p:nvPr/>
        </p:nvSpPr>
        <p:spPr>
          <a:xfrm>
            <a:off x="6753225" y="3148210"/>
            <a:ext cx="44196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学业为基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学习与科创相辅相成，好的学习成绩是科创道路的基石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3" name="TextBox 13"/>
          <p:cNvSpPr txBox="1"/>
          <p:nvPr/>
        </p:nvSpPr>
        <p:spPr>
          <a:xfrm>
            <a:off x="6753225" y="3467100"/>
            <a:ext cx="41148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传帮带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师兄师姐传帮带、师生接力，把课题一步步做深做实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4" name="TextBox 14"/>
          <p:cNvSpPr txBox="1"/>
          <p:nvPr/>
        </p:nvSpPr>
        <p:spPr>
          <a:xfrm>
            <a:off x="6753225" y="3785989"/>
            <a:ext cx="39624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需求牵引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面向真实需求选题，成果才能从实验室走向产业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5" name="TextBox 15"/>
          <p:cNvSpPr txBox="1"/>
          <p:nvPr/>
        </p:nvSpPr>
        <p:spPr>
          <a:xfrm>
            <a:off x="6753225" y="4104878"/>
            <a:ext cx="4267200" cy="244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2DCD0"/>
                </a:solidFill>
                <a:latin typeface="DM Sans"/>
                <a:ea typeface="Noto Sans SC" panose="020B0200000000000000" charset="-122"/>
              </a:rPr>
              <a:t>坚持迭代</a:t>
            </a:r>
            <a:r>
              <a:rPr sz="1200" b="0">
                <a:solidFill>
                  <a:srgbClr val="8A96A8"/>
                </a:solidFill>
                <a:latin typeface="DM Sans"/>
                <a:ea typeface="Noto Sans SC" panose="020B0200000000000000" charset="-122"/>
              </a:rPr>
              <a:t>　明确分工＋长期坚持，让想法一步步变成特等奖成果</a:t>
            </a:r>
            <a:endParaRPr sz="1200" b="0">
              <a:solidFill>
                <a:srgbClr val="8A96A8"/>
              </a:solidFill>
              <a:latin typeface="DM Sans"/>
              <a:ea typeface="Noto Sans SC" panose="020B0200000000000000" charset="-122"/>
            </a:endParaRPr>
          </a:p>
        </p:txBody>
      </p:sp>
      <p:sp>
        <p:nvSpPr>
          <p:cNvPr id="326" name="TextBox 16"/>
          <p:cNvSpPr txBox="1"/>
          <p:nvPr/>
        </p:nvSpPr>
        <p:spPr>
          <a:xfrm>
            <a:off x="3848100" y="5560417"/>
            <a:ext cx="4495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DCD0"/>
                </a:solidFill>
                <a:latin typeface="Cambria" panose="02040503050406030204"/>
                <a:ea typeface="Noto Sans SC Medium" panose="020B0200000000000000" charset="-122"/>
              </a:rPr>
              <a:t>御磁坚盾：以材料之韧守护科技之梦，点亮青年创新之光</a:t>
            </a:r>
            <a:endParaRPr sz="1400" b="0">
              <a:solidFill>
                <a:srgbClr val="E2DCD0"/>
              </a:solidFill>
              <a:latin typeface="Cambria" panose="02040503050406030204"/>
              <a:ea typeface="Noto Sans SC Medium" panose="020B0200000000000000" charset="-122"/>
            </a:endParaRPr>
          </a:p>
        </p:txBody>
      </p:sp>
      <p:sp>
        <p:nvSpPr>
          <p:cNvPr id="327" name="TextBox 17"/>
          <p:cNvSpPr txBox="1"/>
          <p:nvPr/>
        </p:nvSpPr>
        <p:spPr>
          <a:xfrm>
            <a:off x="914400" y="6337300"/>
            <a:ext cx="210978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rgbClr val="4E5A6E"/>
                </a:solidFill>
                <a:latin typeface="IBM Plex Mono Medium"/>
                <a:ea typeface="Noto Sans SC Medium" panose="020B0200000000000000" charset="-122"/>
              </a:rPr>
              <a:t>御磁坚盾　第十八届挑战杯 · 主体赛特等奖</a:t>
            </a:r>
            <a:endParaRPr sz="700" b="0" spc="112">
              <a:solidFill>
                <a:srgbClr val="4E5A6E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Picture 1" descr="s2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0" name="TextBox 2"/>
          <p:cNvSpPr txBox="1"/>
          <p:nvPr/>
        </p:nvSpPr>
        <p:spPr>
          <a:xfrm>
            <a:off x="914400" y="2525414"/>
            <a:ext cx="833139" cy="2139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220">
                <a:solidFill>
                  <a:srgbClr val="C8A870"/>
                </a:solidFill>
                <a:latin typeface="IBM Plex Mono Medium"/>
                <a:ea typeface="Noto Sans SC Medium" panose="020B0200000000000000" charset="-122"/>
              </a:rPr>
              <a:t>THE END</a:t>
            </a:r>
            <a:endParaRPr sz="1100" b="0" spc="220">
              <a:solidFill>
                <a:srgbClr val="C8A870"/>
              </a:solidFill>
              <a:latin typeface="IBM Plex Mono Medium"/>
              <a:ea typeface="Noto Sans SC Medium" panose="020B0200000000000000" charset="-122"/>
            </a:endParaRPr>
          </a:p>
        </p:txBody>
      </p:sp>
      <p:sp>
        <p:nvSpPr>
          <p:cNvPr id="331" name="TextBox 3"/>
          <p:cNvSpPr txBox="1"/>
          <p:nvPr/>
        </p:nvSpPr>
        <p:spPr>
          <a:xfrm>
            <a:off x="914400" y="3103264"/>
            <a:ext cx="7734300" cy="984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5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致敬每一位</a:t>
            </a:r>
            <a:r>
              <a:rPr sz="5500" b="1">
                <a:solidFill>
                  <a:srgbClr val="C8A870"/>
                </a:solidFill>
                <a:latin typeface="Cambria" panose="02040503050406030204"/>
                <a:ea typeface="Noto Sans SC" panose="020B0200000000000000" charset="-122"/>
              </a:rPr>
              <a:t>追光</a:t>
            </a:r>
            <a:r>
              <a:rPr sz="5500" b="1">
                <a:solidFill>
                  <a:srgbClr val="E2DCD0"/>
                </a:solidFill>
                <a:latin typeface="Cambria" panose="02040503050406030204"/>
                <a:ea typeface="Noto Sans SC" panose="020B0200000000000000" charset="-122"/>
              </a:rPr>
              <a:t>的科创人</a:t>
            </a:r>
            <a:endParaRPr sz="5500" b="1">
              <a:solidFill>
                <a:srgbClr val="E2DCD0"/>
              </a:solidFill>
              <a:latin typeface="Cambria" panose="02040503050406030204"/>
              <a:ea typeface="Noto Sans SC" panose="020B0200000000000000" charset="-122"/>
            </a:endParaRPr>
          </a:p>
        </p:txBody>
      </p:sp>
      <p:sp>
        <p:nvSpPr>
          <p:cNvPr id="332" name="TextBox 4"/>
          <p:cNvSpPr txBox="1"/>
          <p:nvPr/>
        </p:nvSpPr>
        <p:spPr>
          <a:xfrm>
            <a:off x="914400" y="4180185"/>
            <a:ext cx="2678707" cy="145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12">
                <a:solidFill>
                  <a:schemeClr val="bg1"/>
                </a:solidFill>
                <a:latin typeface="IBM Plex Mono Medium"/>
                <a:ea typeface="Noto Sans SC Medium" panose="020B0200000000000000" charset="-122"/>
              </a:rPr>
              <a:t>御磁坚盾　·　第十八届挑战杯　·　2026 / 10 / 18</a:t>
            </a:r>
            <a:endParaRPr sz="700" b="0" spc="112">
              <a:solidFill>
                <a:schemeClr val="bg1"/>
              </a:solidFill>
              <a:latin typeface="IBM Plex Mono Medium"/>
              <a:ea typeface="Noto Sans SC Medium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2026-10-14T23:42:35Z</dcterms:created>
  <dcterms:modified xsi:type="dcterms:W3CDTF">2026-10-14T23:42:35Z</dcterms:modified>
</cp:coreProperties>
</file>