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1531937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第十八届挑战杯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·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主体赛特等奖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72253" y="376535"/>
            <a:ext cx="1289546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04">
                <a:solidFill>
                  <a:srgbClr val="000000"/>
                </a:solidFill>
                <a:latin typeface="Bahnschrift"/>
                <a:ea typeface="Noto Sans SC Medium"/>
              </a:rPr>
              <a:t>2026 / 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3150"/>
            <a:ext cx="10718800" cy="22648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000000"/>
                </a:solidFill>
                <a:latin typeface="Noto Sans SC Black"/>
                <a:ea typeface="Noto Sans SC Black"/>
              </a:rPr>
              <a:t>御磁坚盾——国内首创超轻高强韧镁</a:t>
            </a:r>
          </a:p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000000"/>
                </a:solidFill>
                <a:latin typeface="Noto Sans SC Black"/>
                <a:ea typeface="Noto Sans SC Black"/>
              </a:rPr>
              <a:t>锂基电磁屏蔽材料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23220"/>
            <a:ext cx="228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100" y="3234332"/>
            <a:ext cx="2452687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Noto Sans SC Black"/>
                <a:ea typeface="Noto Sans SC Black"/>
              </a:rPr>
              <a:t>汇报人：翔安校科创 C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050" y="4232870"/>
            <a:ext cx="508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朱雅琪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050" y="4411860"/>
            <a:ext cx="1765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资料搜集、策划书制作、推文完善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317" y="4207470"/>
            <a:ext cx="508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江佳忆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317" y="4430910"/>
            <a:ext cx="16578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PPT 完善、资料搜集、汇报答辩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1683" y="4232870"/>
            <a:ext cx="508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黄道然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1683" y="4411860"/>
            <a:ext cx="10863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资料搜集、PPT 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50" y="4973835"/>
            <a:ext cx="508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叶国为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50" y="5197276"/>
            <a:ext cx="8577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PPT 制作、汇报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317" y="4999235"/>
            <a:ext cx="355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易安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317" y="5178226"/>
            <a:ext cx="5148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PPT 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1683" y="4973835"/>
            <a:ext cx="355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袁浩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1683" y="5197276"/>
            <a:ext cx="50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推文制作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1417835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御磁坚盾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｜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翔安校科创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C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79450"/>
            <a:ext cx="17272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内容导航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3546" y="1021853"/>
            <a:ext cx="640953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Bahnschrift"/>
                <a:ea typeface="Noto Sans SC Medium"/>
              </a:rPr>
              <a:t>6 </a:t>
            </a:r>
            <a:r>
              <a:rPr sz="1200" b="0">
                <a:solidFill>
                  <a:srgbClr val="000000"/>
                </a:solidFill>
                <a:latin typeface="Bahnschrift"/>
                <a:ea typeface="Noto Sans SC Medium"/>
              </a:rPr>
              <a:t>个章节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053" y="169872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7450" y="1609030"/>
            <a:ext cx="812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开场引入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7450" y="1894780"/>
            <a:ext cx="12573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挑战杯赛事与项目荣誉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3903" y="178127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1609030"/>
            <a:ext cx="1003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背景与灵感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1894780"/>
            <a:ext cx="161925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航空电磁之困与弹球游戏启发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053" y="263852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7450" y="2548830"/>
            <a:ext cx="812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项目概况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7450" y="2834580"/>
            <a:ext cx="1848048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基础信息 · 项目内容 · 名师支撑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3903" y="263852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2548830"/>
            <a:ext cx="1003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创新与成果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2834580"/>
            <a:ext cx="2384722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三项创新 · 核心指标 · 学术成果 · 产业化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053" y="357832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7450" y="3488630"/>
            <a:ext cx="812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团队介绍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7450" y="3774380"/>
            <a:ext cx="1848048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八人分工 · 团队形成 · 协作传承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3903" y="3578324"/>
            <a:ext cx="305593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Noto Sans SC"/>
                <a:ea typeface="Noto Sans SC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0" y="3488630"/>
            <a:ext cx="1003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历程与启示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300" y="3774380"/>
            <a:ext cx="1552674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发展历程 · 总结与科创启示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115119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607369"/>
            <a:ext cx="7543800" cy="1766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8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Noto Sans SC Black"/>
                <a:ea typeface="Noto Sans SC Black"/>
              </a:rPr>
              <a:t>“挑战杯”全国大学生课外学术</a:t>
            </a:r>
          </a:p>
          <a:p>
            <a:pPr algn="l">
              <a:lnSpc>
                <a:spcPts val="488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Noto Sans SC Black"/>
                <a:ea typeface="Noto Sans SC Black"/>
              </a:rPr>
              <a:t>科技作品竞赛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54810"/>
            <a:ext cx="23622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挑战杯，大学生科创的最高舞台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651970"/>
            <a:ext cx="26924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认识“大挑”，看懂这份荣誉的分量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04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178744"/>
            <a:ext cx="5391150" cy="3041947"/>
          </a:xfrm>
          <a:prstGeom prst="rect">
            <a:avLst/>
          </a:prstGeom>
        </p:spPr>
      </p:pic>
      <p:pic>
        <p:nvPicPr>
          <p:cNvPr id="4" name="Picture 3" descr="slide04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0" y="2178744"/>
            <a:ext cx="5391150" cy="3122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开场引入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66750"/>
            <a:ext cx="63373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认识“大挑”：赛事介绍与含金量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450" y="1273274"/>
            <a:ext cx="2705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“大挑”赛事要点——理解这份荣誉的分量</a:t>
            </a:r>
          </a:p>
        </p:txBody>
      </p:sp>
      <p:sp>
        <p:nvSpPr>
          <p:cNvPr id="8" name="TextBox 7"/>
          <p:cNvSpPr txBox="1"/>
          <p:nvPr/>
        </p:nvSpPr>
        <p:spPr>
          <a:xfrm rot="180000">
            <a:off x="10699080" y="1271989"/>
            <a:ext cx="101530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Bahnschrift"/>
                <a:ea typeface="Noto Sans SC"/>
              </a:rPr>
              <a:t>03 / 07　07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322" y="1756469"/>
            <a:ext cx="183554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00" y="1739304"/>
            <a:ext cx="1117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一、基础信息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642" y="1756469"/>
            <a:ext cx="201414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Bahnschrift"/>
                <a:ea typeface="Noto Sans SC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550" y="1739304"/>
            <a:ext cx="1828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二、赛事含金量与价值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5523805"/>
            <a:ext cx="505777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左图：“大挑”赛事基础信息　　右图：赛事含金量与价值　（素材整理自“大挑”赛事介绍）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开场引入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挑战杯舞台上的御磁坚盾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3124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挑战杯被誉为当代大学生科技创新的奥林匹克盛会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300" y="1861244"/>
            <a:ext cx="7594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SC Black"/>
                <a:ea typeface="Noto Sans SC Black"/>
              </a:rPr>
              <a:t>挑战杯舞台之上，御磁坚盾以材料之韧守护科技之梦，点亮青年创新之光。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620193" y="2850473"/>
            <a:ext cx="184575" cy="173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889261" y="2736709"/>
            <a:ext cx="901903" cy="2789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赛事影响力</a:t>
            </a:r>
          </a:p>
        </p:txBody>
      </p:sp>
      <p:sp>
        <p:nvSpPr>
          <p:cNvPr id="9" name="TextBox 8"/>
          <p:cNvSpPr txBox="1"/>
          <p:nvPr/>
        </p:nvSpPr>
        <p:spPr>
          <a:xfrm rot="21420000">
            <a:off x="566171" y="3097921"/>
            <a:ext cx="2864854" cy="223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第十八届挑战杯全国大学生课外学术科技作品竞赛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582558" y="3418920"/>
            <a:ext cx="2229854" cy="223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全国最具影响力的大学生科创赛事之一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751496" y="3853613"/>
            <a:ext cx="38992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挑战杯</a:t>
            </a:r>
          </a:p>
        </p:txBody>
      </p:sp>
      <p:sp>
        <p:nvSpPr>
          <p:cNvPr id="12" name="TextBox 11"/>
          <p:cNvSpPr txBox="1"/>
          <p:nvPr/>
        </p:nvSpPr>
        <p:spPr>
          <a:xfrm rot="180000">
            <a:off x="4537073" y="2698113"/>
            <a:ext cx="18494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 rot="180000">
            <a:off x="4819589" y="2676497"/>
            <a:ext cx="711199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团队登台</a:t>
            </a:r>
          </a:p>
        </p:txBody>
      </p:sp>
      <p:sp>
        <p:nvSpPr>
          <p:cNvPr id="14" name="TextBox 13"/>
          <p:cNvSpPr txBox="1"/>
          <p:nvPr/>
        </p:nvSpPr>
        <p:spPr>
          <a:xfrm rot="180000">
            <a:off x="4458546" y="3052453"/>
            <a:ext cx="17302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哈尔滨工程大学 御磁坚盾团队</a:t>
            </a:r>
          </a:p>
        </p:txBody>
      </p:sp>
      <p:sp>
        <p:nvSpPr>
          <p:cNvPr id="15" name="TextBox 14"/>
          <p:cNvSpPr txBox="1"/>
          <p:nvPr/>
        </p:nvSpPr>
        <p:spPr>
          <a:xfrm rot="180000">
            <a:off x="4442440" y="3362737"/>
            <a:ext cx="195579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荣获第十八届挑战杯主体赛特等奖</a:t>
            </a:r>
          </a:p>
        </p:txBody>
      </p:sp>
      <p:sp>
        <p:nvSpPr>
          <p:cNvPr id="16" name="TextBox 15"/>
          <p:cNvSpPr txBox="1"/>
          <p:nvPr/>
        </p:nvSpPr>
        <p:spPr>
          <a:xfrm rot="180000">
            <a:off x="4569857" y="3725021"/>
            <a:ext cx="4826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御磁坚盾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8341793" y="2850474"/>
            <a:ext cx="201488" cy="17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8619408" y="2766432"/>
            <a:ext cx="736803" cy="2789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项目定位</a:t>
            </a:r>
          </a:p>
        </p:txBody>
      </p:sp>
      <p:sp>
        <p:nvSpPr>
          <p:cNvPr id="19" name="TextBox 18"/>
          <p:cNvSpPr txBox="1"/>
          <p:nvPr/>
        </p:nvSpPr>
        <p:spPr>
          <a:xfrm rot="21420000">
            <a:off x="8305813" y="3086391"/>
            <a:ext cx="3295650" cy="602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国内首个集超轻、高强韧、高电磁屏蔽性于一体的多功能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镁锂基复合材料</a:t>
            </a:r>
          </a:p>
        </p:txBody>
      </p:sp>
      <p:sp>
        <p:nvSpPr>
          <p:cNvPr id="20" name="TextBox 19"/>
          <p:cNvSpPr txBox="1"/>
          <p:nvPr/>
        </p:nvSpPr>
        <p:spPr>
          <a:xfrm rot="21420000">
            <a:off x="8477468" y="3774695"/>
            <a:ext cx="49787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国内首个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93924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86174"/>
            <a:ext cx="228600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8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000000"/>
                </a:solidFill>
                <a:latin typeface="Noto Sans SC Black"/>
                <a:ea typeface="Noto Sans SC Black"/>
              </a:rPr>
              <a:t>项目概况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5906"/>
            <a:ext cx="15367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八人团队，三年探索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73066"/>
            <a:ext cx="28575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从学院课堂到国家需求的完整项目画像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25654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基础信息一览</a:t>
            </a:r>
          </a:p>
        </p:txBody>
      </p:sp>
      <p:sp>
        <p:nvSpPr>
          <p:cNvPr id="5" name="TextBox 4"/>
          <p:cNvSpPr txBox="1"/>
          <p:nvPr/>
        </p:nvSpPr>
        <p:spPr>
          <a:xfrm rot="180000">
            <a:off x="10874303" y="969781"/>
            <a:ext cx="84058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Bahnschrift"/>
                <a:ea typeface="Noto Sans SC"/>
              </a:rPr>
              <a:t>2022 —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050" y="1501874"/>
            <a:ext cx="33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5050" y="1501874"/>
            <a:ext cx="33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050" y="1889224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9500" y="1889224"/>
            <a:ext cx="2717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御磁坚盾——超轻高强韧镁锂基电磁屏蔽材料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50" y="2280642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参赛赛事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050" y="2280642"/>
            <a:ext cx="23177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第十八届挑战杯课外学术科技作品竞赛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050" y="2672060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参赛赛道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5050" y="2672060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主体赛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50" y="3063478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推报学院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5050" y="3063478"/>
            <a:ext cx="15176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材料科学与化学工程学院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" y="3454896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团队规模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8700" y="3454896"/>
            <a:ext cx="2155825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8 名本科生（大四 4 人、大三 4 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50" y="3846314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指导教师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5050" y="3846314"/>
            <a:ext cx="15176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巫瑞智、张万顺、侯乐干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50" y="4237732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获奖等级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5050" y="4237732"/>
            <a:ext cx="8509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主体赛特等奖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050" y="4629150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研究周期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8700" y="4629150"/>
            <a:ext cx="3000275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探索约三年，2022 年 8 月至 2023 年 5 月集中实验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项目内容：面向国家需求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368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超轻高强韧镁锂基电磁屏蔽材料，面向新质生产力应用需求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886644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2150" y="1815207"/>
            <a:ext cx="2717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Noto Sans SC Black"/>
                <a:ea typeface="Noto Sans SC Black"/>
              </a:rPr>
              <a:t>超轻高强韧镁锂基电磁屏蔽材料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51648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价值定位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2150" y="2477194"/>
            <a:ext cx="54546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在传统基础制造业基础上，面向工业互联网、新能源智能汽车等新质生产力应用需求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14761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核心功能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2150" y="3108325"/>
            <a:ext cx="56007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为航空航天、雷达通信等设备提供电磁屏蔽防护，同时提高材料强度和韧性、降低重量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78746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2150" y="3739455"/>
            <a:ext cx="31178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航空航天、雷达通信、信息安全、民生电子消费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525" y="4409876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产业化进展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2150" y="4370585"/>
            <a:ext cx="66230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在负责人郭政佑牵头下达成代工合作协议，实现超薄箔材的产业化成形验证，同多家企业开展密切合作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38227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名师领航与学科支撑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2565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强大导师团队与学科平台是项目坚实后盾</a:t>
            </a:r>
          </a:p>
        </p:txBody>
      </p:sp>
      <p:sp>
        <p:nvSpPr>
          <p:cNvPr id="6" name="TextBox 5"/>
          <p:cNvSpPr txBox="1"/>
          <p:nvPr/>
        </p:nvSpPr>
        <p:spPr>
          <a:xfrm rot="21420000">
            <a:off x="513582" y="1944482"/>
            <a:ext cx="1492053" cy="4634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Noto Sans SC Black"/>
                <a:ea typeface="Noto Sans SC Black"/>
              </a:rPr>
              <a:t>巫瑞智教授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694752" y="2481775"/>
            <a:ext cx="1131290" cy="17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全球前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2%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顶尖科学家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708429" y="2887830"/>
            <a:ext cx="264611" cy="4519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 rot="21420000">
            <a:off x="1027713" y="2945528"/>
            <a:ext cx="1190526" cy="2444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终身成就榜入选者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739004" y="3471229"/>
            <a:ext cx="264611" cy="4519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1058097" y="3521616"/>
            <a:ext cx="1469926" cy="2444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稀土科学技术奖一等奖</a:t>
            </a:r>
          </a:p>
        </p:txBody>
      </p:sp>
      <p:sp>
        <p:nvSpPr>
          <p:cNvPr id="12" name="TextBox 11"/>
          <p:cNvSpPr txBox="1"/>
          <p:nvPr/>
        </p:nvSpPr>
        <p:spPr>
          <a:xfrm rot="21420000">
            <a:off x="769579" y="4054628"/>
            <a:ext cx="264611" cy="4519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 rot="21420000">
            <a:off x="1113529" y="4154143"/>
            <a:ext cx="2261791" cy="244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国际镁科学与技术 2022 年度青年奖</a:t>
            </a:r>
          </a:p>
        </p:txBody>
      </p:sp>
      <p:sp>
        <p:nvSpPr>
          <p:cNvPr id="14" name="TextBox 13"/>
          <p:cNvSpPr txBox="1"/>
          <p:nvPr/>
        </p:nvSpPr>
        <p:spPr>
          <a:xfrm rot="21420000">
            <a:off x="659435" y="4596722"/>
            <a:ext cx="1998549" cy="197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Bahnschrift"/>
                <a:ea typeface="Noto Sans SC Medium"/>
              </a:rPr>
              <a:t>指导教师：巫瑞智、张万顺、侯乐干</a:t>
            </a:r>
          </a:p>
        </p:txBody>
      </p:sp>
      <p:sp>
        <p:nvSpPr>
          <p:cNvPr id="15" name="TextBox 14"/>
          <p:cNvSpPr txBox="1"/>
          <p:nvPr/>
        </p:nvSpPr>
        <p:spPr>
          <a:xfrm rot="180000">
            <a:off x="6211995" y="1809042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 rot="180000">
            <a:off x="6486769" y="1780521"/>
            <a:ext cx="762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学科平台</a:t>
            </a:r>
          </a:p>
        </p:txBody>
      </p:sp>
      <p:sp>
        <p:nvSpPr>
          <p:cNvPr id="17" name="TextBox 16"/>
          <p:cNvSpPr txBox="1"/>
          <p:nvPr/>
        </p:nvSpPr>
        <p:spPr>
          <a:xfrm rot="180000">
            <a:off x="6124369" y="2212755"/>
            <a:ext cx="4102100" cy="22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材料科学与工程学科，依托超轻材料与表面技术教育部重点实验室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738" y="3071514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5710" y="3044825"/>
            <a:ext cx="9398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学术影响力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3460" y="3458864"/>
            <a:ext cx="1562496" cy="765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Noto Sans SC Black"/>
                <a:ea typeface="Noto Sans SC Black"/>
              </a:rPr>
              <a:t>5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3941464"/>
            <a:ext cx="70256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ESI 热点论文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8057" y="3458864"/>
            <a:ext cx="1562496" cy="765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Noto Sans SC Black"/>
                <a:ea typeface="Noto Sans SC Black"/>
              </a:rPr>
              <a:t>13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2755" y="3941464"/>
            <a:ext cx="622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高被引论文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1907" y="3458864"/>
            <a:ext cx="483989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Noto Sans SC Black"/>
                <a:ea typeface="Noto Sans SC Black"/>
              </a:rPr>
              <a:t>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7331" y="3941464"/>
            <a:ext cx="64244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个人 H 因子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93924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86174"/>
            <a:ext cx="284480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8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000000"/>
                </a:solidFill>
                <a:latin typeface="Noto Sans SC Black"/>
                <a:ea typeface="Noto Sans SC Black"/>
              </a:rPr>
              <a:t>背景与灵感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5906"/>
            <a:ext cx="17018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灵感藏在生活的细节里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73066"/>
            <a:ext cx="28575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一个弹球小游戏，打开电磁屏蔽新思路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1_s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224139" y="1482313"/>
            <a:ext cx="4504720" cy="37042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背景与灵感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航空设备的电磁干扰之困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273274"/>
            <a:ext cx="1447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电磁屏蔽的困局与破局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4217" y="1861244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600" y="1823144"/>
            <a:ext cx="1551682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Noto Sans SC"/>
                <a:ea typeface="Noto Sans SC"/>
              </a:rPr>
              <a:t>用途 · 电磁屏蔽用途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4950" y="2029519"/>
            <a:ext cx="4495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解决电磁泄漏与电磁干扰，在信息安全、航空航天、民用设备领域都是研发重点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6578" y="2664519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594669"/>
            <a:ext cx="1392932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Noto Sans SC"/>
                <a:ea typeface="Noto Sans SC"/>
              </a:rPr>
              <a:t>危害 · 电磁波危害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4950" y="2858194"/>
            <a:ext cx="3987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外层空间复杂电磁波环境会造成设备精度下降、错误操作乃至系统崩溃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5784" y="3467794"/>
            <a:ext cx="186432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8600" y="3429694"/>
            <a:ext cx="1551682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Noto Sans SC"/>
                <a:ea typeface="Noto Sans SC"/>
              </a:rPr>
              <a:t>痛点 · 传统材料痛点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4950" y="3636069"/>
            <a:ext cx="5130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常用金属基屏蔽材料以铁、银、镍、铜、铝为代表，屏蔽性能优异但重量不够轻、加工性差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4296" y="4271069"/>
            <a:ext cx="189408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4950" y="4201219"/>
            <a:ext cx="1551682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Noto Sans SC"/>
                <a:ea typeface="Noto Sans SC"/>
              </a:rPr>
              <a:t>方向 · 镁锂合金方向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4950" y="4464744"/>
            <a:ext cx="5384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世界上最轻的金属结构材料，是理想选材，但工程应用需协同提高功能、结构、工艺三方面性能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背景与灵感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38227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弹球游戏撞开新思路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424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如果在材料内部设置一道道墙壁，电磁波就会在反复反射中不断损耗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3144"/>
            <a:ext cx="6311900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SC Black"/>
                <a:ea typeface="Noto Sans SC Black"/>
              </a:rPr>
              <a:t>灵感来自游戏，原理归于物理——让电磁波在反复反射中自然消减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683569"/>
            <a:ext cx="1501675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灵感来源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·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生活现象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·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科学启发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17" y="3178869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150" y="3147714"/>
            <a:ext cx="28511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团队负责人郭政佑从微信弹球小游戏中获得灵感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478" y="3750369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3150" y="3719214"/>
            <a:ext cx="23177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弹球在墙壁间反复碰撞会不断消耗能量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683569"/>
            <a:ext cx="1609625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科学转化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·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理论建模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·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可行性验证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9017" y="3178869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3140769"/>
            <a:ext cx="3479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类比到材料：在内部设置多道平行界面，增加电磁波反射次数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378" y="3737669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699569"/>
            <a:ext cx="3733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结合传统电磁反射损耗原理，建立多维平行界面电磁损耗计算模型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584" y="4296469"/>
            <a:ext cx="186432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050" y="4258369"/>
            <a:ext cx="4368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成功计算出电磁波进入材料后的反射路径与损耗，从理论上证明设想的可行性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3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708844"/>
            <a:ext cx="3886200" cy="2148582"/>
          </a:xfrm>
          <a:prstGeom prst="rect">
            <a:avLst/>
          </a:prstGeom>
        </p:spPr>
      </p:pic>
      <p:pic>
        <p:nvPicPr>
          <p:cNvPr id="4" name="Picture 3" descr="slide13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035226"/>
            <a:ext cx="3886200" cy="2148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背景与灵感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把电磁波消灭在“墙”内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273274"/>
            <a:ext cx="35433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多维平行界面结构示意：让电磁波在反复反射中持续损耗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4788287" y="3204544"/>
            <a:ext cx="6743700" cy="993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在材料内部竖起一道道‘墙壁’，增加电磁波在‘墙壁’间的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反射次数，让它的力量逐渐减弱，难以穿透材料。</a:t>
            </a:r>
          </a:p>
        </p:txBody>
      </p:sp>
      <p:sp>
        <p:nvSpPr>
          <p:cNvPr id="9" name="TextBox 8"/>
          <p:cNvSpPr txBox="1"/>
          <p:nvPr/>
        </p:nvSpPr>
        <p:spPr>
          <a:xfrm rot="180000">
            <a:off x="4751662" y="4439049"/>
            <a:ext cx="35433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多维平行界面结构示意：让电磁波在反复反射中持续损耗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93924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86174"/>
            <a:ext cx="284480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8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000000"/>
                </a:solidFill>
                <a:latin typeface="Noto Sans SC Black"/>
                <a:ea typeface="Noto Sans SC Black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5906"/>
            <a:ext cx="15367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把电磁波消灭在墙内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73066"/>
            <a:ext cx="3004145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屏蔽效能提升 15%-25%，重量降低 20%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三重突破破解跷跷板难题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3822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功能、结构、工艺三方面性能的协同提升，如同跷跷板找平衡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00" y="1785044"/>
            <a:ext cx="2574032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SC Black"/>
                <a:ea typeface="Noto Sans SC Black"/>
              </a:rPr>
              <a:t>以 三大创新 破解 三大矛盾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607369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三大矛盾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" y="3020119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功能方面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50" y="3249910"/>
            <a:ext cx="3225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传统提升屏蔽性能的方法往往使材料强度变差或重量上升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550" y="3751560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结构方面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0" y="3981350"/>
            <a:ext cx="2336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镁锂基材料强度提高时，塑韧性相应降低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550" y="4483000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工艺方面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550" y="4712791"/>
            <a:ext cx="2082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传统复合工艺危险性高且复合效果差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2607369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三项创新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9017" y="3115369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065164"/>
            <a:ext cx="13716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多维平行界面损耗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378" y="3724969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050" y="3674764"/>
            <a:ext cx="21971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镁锂合金强塑性协同提升技术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584" y="4334569"/>
            <a:ext cx="186432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7050" y="4284364"/>
            <a:ext cx="23622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纳米碳基镁锂合金固态复合工艺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6_lab.png"/>
          <p:cNvPicPr>
            <a:picLocks noChangeAspect="1"/>
          </p:cNvPicPr>
          <p:nvPr/>
        </p:nvPicPr>
        <p:blipFill>
          <a:blip r:embed="rId3"/>
          <a:srcRect l="13965" r="13965"/>
          <a:stretch>
            <a:fillRect/>
          </a:stretch>
        </p:blipFill>
        <p:spPr>
          <a:xfrm rot="21420000">
            <a:off x="143444" y="1103904"/>
            <a:ext cx="6039199" cy="5320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7175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创新一　跌轧造多界面，减重提升屏蔽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6356" y="1616174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1688" y="1589484"/>
            <a:ext cx="1117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累积叠轧工艺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3981" y="1997174"/>
            <a:ext cx="762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4388" y="1920974"/>
            <a:ext cx="3987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把材料反复擀平、切开、叠起、再擀，形成数量巨大的高平行度界面。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3981" y="2340074"/>
            <a:ext cx="762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4388" y="2263874"/>
            <a:ext cx="4876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调整叠轧温度参数、反复优化单次压下量，反复实验五次后得到理想的多维平行界面。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981" y="2682974"/>
            <a:ext cx="762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4388" y="2606774"/>
            <a:ext cx="36068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Noto Sans SC"/>
                <a:ea typeface="Noto Sans SC"/>
              </a:rPr>
              <a:t>有效屏蔽波段范围远超现有铜、铝、铁等金属基屏蔽结构材料。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838" y="4686300"/>
            <a:ext cx="609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对比维度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2850" y="4686300"/>
            <a:ext cx="609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提升幅度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838" y="5120778"/>
            <a:ext cx="21844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屏蔽效能（对比国外先进镁基材料）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7535" y="5086350"/>
            <a:ext cx="106491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Noto Sans SC Black"/>
                <a:ea typeface="Noto Sans SC Black"/>
              </a:rPr>
              <a:t>15%—25%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838" y="5606553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重量降低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1757" y="5572125"/>
            <a:ext cx="47069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Noto Sans SC Black"/>
                <a:ea typeface="Noto Sans SC Black"/>
              </a:rPr>
              <a:t>20%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7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6262588" y="1508224"/>
            <a:ext cx="5421312" cy="44869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75946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创新二：优化合金配比，强度韧性双提升</a:t>
            </a:r>
          </a:p>
        </p:txBody>
      </p:sp>
      <p:sp>
        <p:nvSpPr>
          <p:cNvPr id="6" name="TextBox 5"/>
          <p:cNvSpPr txBox="1"/>
          <p:nvPr/>
        </p:nvSpPr>
        <p:spPr>
          <a:xfrm rot="21420000">
            <a:off x="533138" y="1754595"/>
            <a:ext cx="199996" cy="173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807859" y="1618395"/>
            <a:ext cx="2389875" cy="2994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镁锂合金强塑性协同提升技术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780914" y="2285020"/>
            <a:ext cx="49787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时间跨度</a:t>
            </a:r>
          </a:p>
        </p:txBody>
      </p:sp>
      <p:sp>
        <p:nvSpPr>
          <p:cNvPr id="9" name="TextBox 8"/>
          <p:cNvSpPr txBox="1"/>
          <p:nvPr/>
        </p:nvSpPr>
        <p:spPr>
          <a:xfrm rot="21420000">
            <a:off x="647361" y="2548268"/>
            <a:ext cx="1921670" cy="261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Noto Sans SC"/>
                <a:ea typeface="Noto Sans SC"/>
              </a:rPr>
              <a:t>2022 年 8 月至 2023 年 5 月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831343" y="3244436"/>
            <a:ext cx="71377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合金元素配比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698333" y="3528424"/>
            <a:ext cx="1345011" cy="261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Noto Sans SC"/>
                <a:ea typeface="Noto Sans SC"/>
              </a:rPr>
              <a:t>15 种以上优化成分</a:t>
            </a:r>
          </a:p>
        </p:txBody>
      </p:sp>
      <p:sp>
        <p:nvSpPr>
          <p:cNvPr id="12" name="TextBox 11"/>
          <p:cNvSpPr txBox="1"/>
          <p:nvPr/>
        </p:nvSpPr>
        <p:spPr>
          <a:xfrm rot="21420000">
            <a:off x="882216" y="4220802"/>
            <a:ext cx="28197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机理</a:t>
            </a:r>
          </a:p>
        </p:txBody>
      </p:sp>
      <p:sp>
        <p:nvSpPr>
          <p:cNvPr id="13" name="TextBox 12"/>
          <p:cNvSpPr txBox="1"/>
          <p:nvPr/>
        </p:nvSpPr>
        <p:spPr>
          <a:xfrm rot="21420000">
            <a:off x="746264" y="4399547"/>
            <a:ext cx="4799398" cy="264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Noto Sans SC"/>
                <a:ea typeface="Noto Sans SC"/>
              </a:rPr>
              <a:t>纳米析出强化与剧烈塑性变形晶粒微细化，实现强度与塑韧性协同提升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8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260402" y="1458985"/>
            <a:ext cx="5805282" cy="30823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7175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创新三：碳管电泳复合，制备超薄屏蔽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390826"/>
            <a:ext cx="3791346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固态复合后材料的结构示意图：镁锂合金基体 + 多壁碳纳米管复合夹层</a:t>
            </a:r>
          </a:p>
        </p:txBody>
      </p:sp>
      <p:sp>
        <p:nvSpPr>
          <p:cNvPr id="7" name="TextBox 6"/>
          <p:cNvSpPr txBox="1"/>
          <p:nvPr/>
        </p:nvSpPr>
        <p:spPr>
          <a:xfrm rot="180000">
            <a:off x="6476800" y="1500947"/>
            <a:ext cx="186432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 rot="180000">
            <a:off x="6758790" y="1518952"/>
            <a:ext cx="2539999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纳米碳基镁锂合金固态复合工艺</a:t>
            </a:r>
          </a:p>
        </p:txBody>
      </p:sp>
      <p:sp>
        <p:nvSpPr>
          <p:cNvPr id="9" name="TextBox 8"/>
          <p:cNvSpPr txBox="1"/>
          <p:nvPr/>
        </p:nvSpPr>
        <p:spPr>
          <a:xfrm rot="180000">
            <a:off x="6667723" y="2069093"/>
            <a:ext cx="374649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增强体</a:t>
            </a:r>
          </a:p>
        </p:txBody>
      </p:sp>
      <p:sp>
        <p:nvSpPr>
          <p:cNvPr id="10" name="TextBox 9"/>
          <p:cNvSpPr txBox="1"/>
          <p:nvPr/>
        </p:nvSpPr>
        <p:spPr>
          <a:xfrm rot="180000">
            <a:off x="6503401" y="2410900"/>
            <a:ext cx="282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多壁碳纳米管：抗变形、高导电性、低密度</a:t>
            </a:r>
          </a:p>
        </p:txBody>
      </p:sp>
      <p:sp>
        <p:nvSpPr>
          <p:cNvPr id="11" name="TextBox 10"/>
          <p:cNvSpPr txBox="1"/>
          <p:nvPr/>
        </p:nvSpPr>
        <p:spPr>
          <a:xfrm rot="180000">
            <a:off x="6617817" y="3019940"/>
            <a:ext cx="266699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工艺</a:t>
            </a:r>
          </a:p>
        </p:txBody>
      </p:sp>
      <p:sp>
        <p:nvSpPr>
          <p:cNvPr id="12" name="TextBox 11"/>
          <p:cNvSpPr txBox="1"/>
          <p:nvPr/>
        </p:nvSpPr>
        <p:spPr>
          <a:xfrm rot="180000">
            <a:off x="6454022" y="3341640"/>
            <a:ext cx="1949449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电泳沉积工艺，紧密结合均匀</a:t>
            </a:r>
          </a:p>
        </p:txBody>
      </p:sp>
      <p:sp>
        <p:nvSpPr>
          <p:cNvPr id="13" name="TextBox 12"/>
          <p:cNvSpPr txBox="1"/>
          <p:nvPr/>
        </p:nvSpPr>
        <p:spPr>
          <a:xfrm rot="180000">
            <a:off x="6567837" y="3973611"/>
            <a:ext cx="266699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Bahnschrift"/>
                <a:ea typeface="Noto Sans SC Medium"/>
              </a:rPr>
              <a:t>成果</a:t>
            </a:r>
          </a:p>
        </p:txBody>
      </p:sp>
      <p:sp>
        <p:nvSpPr>
          <p:cNvPr id="14" name="TextBox 13"/>
          <p:cNvSpPr txBox="1"/>
          <p:nvPr/>
        </p:nvSpPr>
        <p:spPr>
          <a:xfrm rot="180000">
            <a:off x="6402842" y="4341174"/>
            <a:ext cx="3702049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Noto Sans SC"/>
                <a:ea typeface="Noto Sans SC"/>
              </a:rPr>
              <a:t>多功能镁锂基复合材料，制备出超薄镁锂基电磁屏蔽箔片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2418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学术成果结出累累硕果</a:t>
            </a:r>
          </a:p>
        </p:txBody>
      </p:sp>
      <p:sp>
        <p:nvSpPr>
          <p:cNvPr id="5" name="TextBox 4"/>
          <p:cNvSpPr txBox="1"/>
          <p:nvPr/>
        </p:nvSpPr>
        <p:spPr>
          <a:xfrm rot="180000">
            <a:off x="11006772" y="957061"/>
            <a:ext cx="69463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Bahnschrift"/>
                <a:ea typeface="Noto Sans SC"/>
              </a:rPr>
              <a:t>总计 10 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767" y="1616174"/>
            <a:ext cx="169564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7100" y="1565969"/>
            <a:ext cx="13716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五类成果数量对比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096" y="3730724"/>
            <a:ext cx="197842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1630" y="3730724"/>
            <a:ext cx="197842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2264" y="3730724"/>
            <a:ext cx="197842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897" y="3730724"/>
            <a:ext cx="197842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3531" y="3730724"/>
            <a:ext cx="197842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Noto Sans SC Black"/>
                <a:ea typeface="Noto Sans SC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323" y="4194274"/>
            <a:ext cx="433387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Bahnschrift"/>
                <a:ea typeface="Noto Sans SC Medium"/>
              </a:rPr>
              <a:t>SCI </a:t>
            </a:r>
            <a:r>
              <a:rPr sz="800" b="0">
                <a:solidFill>
                  <a:srgbClr val="000000"/>
                </a:solidFill>
                <a:latin typeface="Bahnschrift"/>
                <a:ea typeface="Noto Sans SC Medium"/>
              </a:rPr>
              <a:t>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0351" y="4194274"/>
            <a:ext cx="660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Bahnschrift"/>
                <a:ea typeface="Noto Sans SC Medium"/>
              </a:rPr>
              <a:t>北大核心论文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0985" y="4194274"/>
            <a:ext cx="660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Bahnschrift"/>
                <a:ea typeface="Noto Sans SC Medium"/>
              </a:rPr>
              <a:t>授权发明专利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1618" y="4194274"/>
            <a:ext cx="660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Bahnschrift"/>
                <a:ea typeface="Noto Sans SC Medium"/>
              </a:rPr>
              <a:t>实用新型专利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052" y="4194274"/>
            <a:ext cx="5588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Bahnschrift"/>
                <a:ea typeface="Noto Sans SC Medium"/>
              </a:rPr>
              <a:t>软件著作权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8996" y="1619349"/>
            <a:ext cx="18494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1968" y="1569144"/>
            <a:ext cx="7112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Noto Sans SC"/>
                <a:ea typeface="Noto Sans SC"/>
              </a:rPr>
              <a:t>成果明细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1328" y="1616174"/>
            <a:ext cx="251122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5 </a:t>
            </a: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418" y="2028924"/>
            <a:ext cx="63559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SCI 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2418" y="2258714"/>
            <a:ext cx="1472307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4 篇，含 3 篇学生第一作者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2418" y="2704802"/>
            <a:ext cx="965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北大核心论文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2418" y="2934592"/>
            <a:ext cx="26550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1 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2418" y="3406080"/>
            <a:ext cx="965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授权发明专利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418" y="3585071"/>
            <a:ext cx="26550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1 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2418" y="4056558"/>
            <a:ext cx="965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实用新型专利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2418" y="4286349"/>
            <a:ext cx="26550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3 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2418" y="4732436"/>
            <a:ext cx="812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软件著作权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2418" y="4962227"/>
            <a:ext cx="26550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1 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7950" y="5249564"/>
            <a:ext cx="18605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Bahnschrift"/>
                <a:ea typeface="Noto Sans SC Medium"/>
              </a:rPr>
              <a:t>学术成果丰硕，知识产权布局完整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38227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产业化迈出坚实一步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3822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项目已从实验室走向产业化验证，收获多家头部企业合作意向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3100" y="1327844"/>
            <a:ext cx="6985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代工合作落地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09100" y="1327844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产业化验证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7150" y="1327844"/>
            <a:ext cx="6985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头部企业关注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3150" y="1327844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转化对接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537877" y="2059278"/>
            <a:ext cx="469818" cy="4918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1080660" y="2055073"/>
            <a:ext cx="1759440" cy="2994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落地 · 代工合作落地</a:t>
            </a:r>
          </a:p>
        </p:txBody>
      </p:sp>
      <p:sp>
        <p:nvSpPr>
          <p:cNvPr id="12" name="TextBox 11"/>
          <p:cNvSpPr txBox="1"/>
          <p:nvPr/>
        </p:nvSpPr>
        <p:spPr>
          <a:xfrm rot="21420000">
            <a:off x="1095770" y="2277786"/>
            <a:ext cx="4338756" cy="2309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团队负责人郭政佑牵头达成代工合作协议，完成超薄箔材产业化成形验证</a:t>
            </a:r>
          </a:p>
        </p:txBody>
      </p:sp>
      <p:sp>
        <p:nvSpPr>
          <p:cNvPr id="13" name="TextBox 12"/>
          <p:cNvSpPr txBox="1"/>
          <p:nvPr/>
        </p:nvSpPr>
        <p:spPr>
          <a:xfrm rot="180000">
            <a:off x="570450" y="2720747"/>
            <a:ext cx="422076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 rot="180000">
            <a:off x="1107188" y="2840292"/>
            <a:ext cx="1731764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关注 · 头部企业关注</a:t>
            </a:r>
          </a:p>
        </p:txBody>
      </p:sp>
      <p:sp>
        <p:nvSpPr>
          <p:cNvPr id="15" name="TextBox 14"/>
          <p:cNvSpPr txBox="1"/>
          <p:nvPr/>
        </p:nvSpPr>
        <p:spPr>
          <a:xfrm rot="180000">
            <a:off x="1091678" y="3207882"/>
            <a:ext cx="4777879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第二届全国先进技术成果转化大会上，收获 宝钢金属、长安汽车 等企业合作意向</a:t>
            </a:r>
          </a:p>
        </p:txBody>
      </p:sp>
      <p:sp>
        <p:nvSpPr>
          <p:cNvPr id="16" name="TextBox 15"/>
          <p:cNvSpPr txBox="1"/>
          <p:nvPr/>
        </p:nvSpPr>
        <p:spPr>
          <a:xfrm rot="21420000">
            <a:off x="537877" y="4475254"/>
            <a:ext cx="469818" cy="4918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1080538" y="4466397"/>
            <a:ext cx="1937240" cy="299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亮相 · 国家级路演亮相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1094978" y="4663505"/>
            <a:ext cx="5495052" cy="230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工信部 2023 年专项路演（雄安站）开幕式，全场仅 4 个亮相项目之一，郭政佑为唯一本科生</a:t>
            </a:r>
          </a:p>
        </p:txBody>
      </p:sp>
      <p:sp>
        <p:nvSpPr>
          <p:cNvPr id="19" name="TextBox 18"/>
          <p:cNvSpPr txBox="1"/>
          <p:nvPr/>
        </p:nvSpPr>
        <p:spPr>
          <a:xfrm rot="180000">
            <a:off x="570450" y="5136723"/>
            <a:ext cx="422076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 rot="180000">
            <a:off x="1107310" y="5251616"/>
            <a:ext cx="1553963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</a:rPr>
              <a:t>升级 · 下一步方向</a:t>
            </a:r>
          </a:p>
        </p:txBody>
      </p:sp>
      <p:sp>
        <p:nvSpPr>
          <p:cNvPr id="21" name="TextBox 20"/>
          <p:cNvSpPr txBox="1"/>
          <p:nvPr/>
        </p:nvSpPr>
        <p:spPr>
          <a:xfrm rot="180000">
            <a:off x="1091719" y="5622293"/>
            <a:ext cx="4718049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开发更先进、更高效、更高质量的新型电磁屏蔽材料，拓展民生电子消费等领域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93924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86174"/>
            <a:ext cx="228600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8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000000"/>
                </a:solidFill>
                <a:latin typeface="Noto Sans SC Black"/>
                <a:ea typeface="Noto Sans SC Black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5906"/>
            <a:ext cx="17018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八名本科生，各展所长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73066"/>
            <a:ext cx="25273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从机理研究到成果整理的完整协作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22_team.png"/>
          <p:cNvPicPr>
            <a:picLocks noChangeAspect="1"/>
          </p:cNvPicPr>
          <p:nvPr/>
        </p:nvPicPr>
        <p:blipFill>
          <a:blip r:embed="rId3"/>
          <a:srcRect l="27510" r="27510"/>
          <a:stretch>
            <a:fillRect/>
          </a:stretch>
        </p:blipFill>
        <p:spPr>
          <a:xfrm rot="21420000">
            <a:off x="212228" y="1206704"/>
            <a:ext cx="3766543" cy="3892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38227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八人团队与分工总览</a:t>
            </a:r>
          </a:p>
        </p:txBody>
      </p:sp>
      <p:sp>
        <p:nvSpPr>
          <p:cNvPr id="6" name="TextBox 5"/>
          <p:cNvSpPr txBox="1"/>
          <p:nvPr/>
        </p:nvSpPr>
        <p:spPr>
          <a:xfrm rot="180000">
            <a:off x="10518799" y="969768"/>
            <a:ext cx="119558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Bahnschrift"/>
                <a:ea typeface="Noto Sans SC"/>
              </a:rPr>
              <a:t>大四 4 人 · 大三 4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050" y="509587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机理研究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509587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成分设计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1850" y="509587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成形复合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250" y="509587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表征测试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50" y="5419725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成果整理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5718175"/>
            <a:ext cx="3479800" cy="547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团队分工覆盖上述五大环节，环环相扣（原稿信息）。</a:t>
            </a:r>
          </a:p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成员年级：大四 4 人、大三 4 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850" y="1476474"/>
            <a:ext cx="469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成　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9850" y="1476474"/>
            <a:ext cx="1866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角色与主要分工（依据原稿）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850" y="2110978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郭政佑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325" y="2013743"/>
            <a:ext cx="6838950" cy="58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团队负责人：统筹项目整体；提出弹球游戏灵感；建立电磁损耗模型；开展时效热处理实验；主导电泳沉积工</a:t>
            </a:r>
          </a:p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艺；牵头达成代工合作协议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850" y="2837457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李佳睿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9850" y="2837457"/>
            <a:ext cx="4525764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团队成员：参与材料成分优化与性能平衡；参与超过 15 种合金元素配比实验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850" y="3404592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张　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9850" y="3404592"/>
            <a:ext cx="17843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团队成员：北大核心论文作者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850" y="3971726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贾昊阳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850" y="3971726"/>
            <a:ext cx="241796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团队成员：北大核心论文作者、SCI 一作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850" y="4538860"/>
            <a:ext cx="4508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刘锦洋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850" y="4538860"/>
            <a:ext cx="258445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团队成员：参与合金材料研发，专利发明人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7325" y="5217616"/>
            <a:ext cx="1066800" cy="8005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蒋筱钰</a:t>
            </a:r>
          </a:p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周子晴</a:t>
            </a:r>
          </a:p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Noto Sans SC"/>
                <a:ea typeface="Noto Sans SC"/>
              </a:rPr>
              <a:t>刘奕彤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9850" y="5424884"/>
            <a:ext cx="24511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团队成员：参与项目实验检测和资料整理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6609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故事的起点：一堂导论课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一群志同道合的伙伴，从一堂课出发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00" y="1785044"/>
            <a:ext cx="3073400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SC Black"/>
                <a:ea typeface="Noto Sans SC Black"/>
              </a:rPr>
              <a:t>兴趣是最强引擎，从一堂课开始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466163" y="2531362"/>
            <a:ext cx="539242" cy="5653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1013722" y="2817308"/>
            <a:ext cx="427068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阶段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01</a:t>
            </a:r>
          </a:p>
        </p:txBody>
      </p:sp>
      <p:sp>
        <p:nvSpPr>
          <p:cNvPr id="9" name="TextBox 8"/>
          <p:cNvSpPr txBox="1"/>
          <p:nvPr/>
        </p:nvSpPr>
        <p:spPr>
          <a:xfrm rot="21420000">
            <a:off x="499594" y="3044992"/>
            <a:ext cx="1033715" cy="326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导论课初识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670576" y="3452470"/>
            <a:ext cx="60582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专业导论课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642504" y="5498909"/>
            <a:ext cx="3327400" cy="6276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大二时，郭政佑在巫瑞智教授的专业导论课上第一次接</a:t>
            </a:r>
          </a:p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触到镁锂合金</a:t>
            </a:r>
          </a:p>
        </p:txBody>
      </p:sp>
      <p:sp>
        <p:nvSpPr>
          <p:cNvPr id="12" name="TextBox 11"/>
          <p:cNvSpPr txBox="1"/>
          <p:nvPr/>
        </p:nvSpPr>
        <p:spPr>
          <a:xfrm rot="180000">
            <a:off x="4513907" y="2395349"/>
            <a:ext cx="483989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 rot="180000">
            <a:off x="5029012" y="2725851"/>
            <a:ext cx="428327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阶段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02</a:t>
            </a:r>
          </a:p>
        </p:txBody>
      </p:sp>
      <p:sp>
        <p:nvSpPr>
          <p:cNvPr id="14" name="TextBox 13"/>
          <p:cNvSpPr txBox="1"/>
          <p:nvPr/>
        </p:nvSpPr>
        <p:spPr>
          <a:xfrm rot="180000">
            <a:off x="4492313" y="2929154"/>
            <a:ext cx="81279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加入课题</a:t>
            </a:r>
          </a:p>
        </p:txBody>
      </p:sp>
      <p:sp>
        <p:nvSpPr>
          <p:cNvPr id="15" name="TextBox 14"/>
          <p:cNvSpPr txBox="1"/>
          <p:nvPr/>
        </p:nvSpPr>
        <p:spPr>
          <a:xfrm rot="180000">
            <a:off x="4620950" y="3327750"/>
            <a:ext cx="482599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浓厚兴趣</a:t>
            </a:r>
          </a:p>
        </p:txBody>
      </p:sp>
      <p:sp>
        <p:nvSpPr>
          <p:cNvPr id="16" name="TextBox 15"/>
          <p:cNvSpPr txBox="1"/>
          <p:nvPr/>
        </p:nvSpPr>
        <p:spPr>
          <a:xfrm rot="180000">
            <a:off x="4350931" y="5505899"/>
            <a:ext cx="3327400" cy="61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带着浓厚兴趣，加入巫教授带领的“镁锂基电磁屏蔽材</a:t>
            </a:r>
          </a:p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料”课题研究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8187762" y="2531362"/>
            <a:ext cx="539242" cy="5653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8735309" y="2816847"/>
            <a:ext cx="444679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阶段</a:t>
            </a:r>
            <a:r>
              <a:rPr sz="850" b="1">
                <a:solidFill>
                  <a:srgbClr val="000000"/>
                </a:solidFill>
                <a:latin typeface="Bahnschrift"/>
                <a:ea typeface="Noto Sans SC Medium"/>
              </a:rPr>
              <a:t> 03</a:t>
            </a:r>
          </a:p>
        </p:txBody>
      </p:sp>
      <p:sp>
        <p:nvSpPr>
          <p:cNvPr id="19" name="TextBox 18"/>
          <p:cNvSpPr txBox="1"/>
          <p:nvPr/>
        </p:nvSpPr>
        <p:spPr>
          <a:xfrm rot="21420000">
            <a:off x="8221324" y="3049977"/>
            <a:ext cx="843215" cy="326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开启研究</a:t>
            </a:r>
          </a:p>
        </p:txBody>
      </p:sp>
      <p:sp>
        <p:nvSpPr>
          <p:cNvPr id="20" name="TextBox 19"/>
          <p:cNvSpPr txBox="1"/>
          <p:nvPr/>
        </p:nvSpPr>
        <p:spPr>
          <a:xfrm rot="21420000">
            <a:off x="8392250" y="3455294"/>
            <a:ext cx="49787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志同道合</a:t>
            </a:r>
          </a:p>
        </p:txBody>
      </p:sp>
      <p:sp>
        <p:nvSpPr>
          <p:cNvPr id="21" name="TextBox 20"/>
          <p:cNvSpPr txBox="1"/>
          <p:nvPr/>
        </p:nvSpPr>
        <p:spPr>
          <a:xfrm rot="21420000">
            <a:off x="8364104" y="5498909"/>
            <a:ext cx="3327400" cy="6276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与一群志同道合的小伙伴，开启镁锂合金材料综合性能</a:t>
            </a:r>
          </a:p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提升的研究之路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4826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42418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并肩同行，共赢的力量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2006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学习与科创，是相辅相成的两翼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00" y="1785044"/>
            <a:ext cx="5214342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SC Black"/>
                <a:ea typeface="Noto Sans SC Black"/>
              </a:rPr>
              <a:t>团队行稳致远的三个关键词：协作 · 传承 · 学业基石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527407" y="2625007"/>
            <a:ext cx="843215" cy="326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协作共赢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546060" y="2895832"/>
            <a:ext cx="3938706" cy="2309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团队成员各展所长，从材料选择、复合制备到性能检验环环推进。</a:t>
            </a:r>
          </a:p>
        </p:txBody>
      </p:sp>
      <p:sp>
        <p:nvSpPr>
          <p:cNvPr id="9" name="TextBox 8"/>
          <p:cNvSpPr txBox="1"/>
          <p:nvPr/>
        </p:nvSpPr>
        <p:spPr>
          <a:xfrm rot="180000">
            <a:off x="6391465" y="2397838"/>
            <a:ext cx="622300" cy="304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传帮带</a:t>
            </a:r>
          </a:p>
        </p:txBody>
      </p:sp>
      <p:sp>
        <p:nvSpPr>
          <p:cNvPr id="10" name="TextBox 9"/>
          <p:cNvSpPr txBox="1"/>
          <p:nvPr/>
        </p:nvSpPr>
        <p:spPr>
          <a:xfrm rot="180000">
            <a:off x="6373803" y="2811973"/>
            <a:ext cx="3117849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师兄师姐传帮带，师生接力把课题一步步做深做实。</a:t>
            </a:r>
          </a:p>
        </p:txBody>
      </p:sp>
      <p:sp>
        <p:nvSpPr>
          <p:cNvPr id="11" name="TextBox 10"/>
          <p:cNvSpPr txBox="1"/>
          <p:nvPr/>
        </p:nvSpPr>
        <p:spPr>
          <a:xfrm rot="180000">
            <a:off x="606487" y="4359813"/>
            <a:ext cx="812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代工合作</a:t>
            </a:r>
          </a:p>
        </p:txBody>
      </p:sp>
      <p:sp>
        <p:nvSpPr>
          <p:cNvPr id="12" name="TextBox 11"/>
          <p:cNvSpPr txBox="1"/>
          <p:nvPr/>
        </p:nvSpPr>
        <p:spPr>
          <a:xfrm rot="180000">
            <a:off x="587494" y="4824796"/>
            <a:ext cx="5251449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郭政佑牵头达成代工合作协议，实现超薄箔材的产业化成形验证，同多家企业密切合作。</a:t>
            </a:r>
          </a:p>
        </p:txBody>
      </p:sp>
      <p:sp>
        <p:nvSpPr>
          <p:cNvPr id="13" name="TextBox 12"/>
          <p:cNvSpPr txBox="1"/>
          <p:nvPr/>
        </p:nvSpPr>
        <p:spPr>
          <a:xfrm rot="21420000">
            <a:off x="6312254" y="4581998"/>
            <a:ext cx="843215" cy="326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</a:rPr>
              <a:t>学业基石</a:t>
            </a:r>
          </a:p>
        </p:txBody>
      </p:sp>
      <p:sp>
        <p:nvSpPr>
          <p:cNvPr id="14" name="TextBox 13"/>
          <p:cNvSpPr txBox="1"/>
          <p:nvPr/>
        </p:nvSpPr>
        <p:spPr>
          <a:xfrm rot="21420000">
            <a:off x="6331456" y="4873760"/>
            <a:ext cx="3138607" cy="2309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Noto Sans SC"/>
                <a:ea typeface="Noto Sans SC"/>
              </a:rPr>
              <a:t>团队一直坚信：好的学习成绩是科创道路上的基石。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93924"/>
            <a:ext cx="1520328" cy="1771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</a:pPr>
            <a:r>
              <a:rPr sz="9500" b="0">
                <a:solidFill>
                  <a:srgbClr val="000000"/>
                </a:solidFill>
                <a:latin typeface="Noto Sans SC Black"/>
                <a:ea typeface="Noto Sans SC Black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86174"/>
            <a:ext cx="284480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8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000000"/>
                </a:solidFill>
                <a:latin typeface="Noto Sans SC Black"/>
                <a:ea typeface="Noto Sans SC Black"/>
              </a:rPr>
              <a:t>历程与启示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5906"/>
            <a:ext cx="25273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从起点到诞生，是持续迭代的成果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73066"/>
            <a:ext cx="21971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Noto Sans SC"/>
                <a:ea typeface="Noto Sans SC"/>
              </a:rPr>
              <a:t>致敬每一位并肩前行的追光者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26_lab.jpg"/>
          <p:cNvPicPr>
            <a:picLocks noChangeAspect="1"/>
          </p:cNvPicPr>
          <p:nvPr/>
        </p:nvPicPr>
        <p:blipFill>
          <a:blip r:embed="rId3"/>
          <a:srcRect l="14438" r="14438"/>
          <a:stretch>
            <a:fillRect/>
          </a:stretch>
        </p:blipFill>
        <p:spPr>
          <a:xfrm rot="180000">
            <a:off x="8280400" y="1696144"/>
            <a:ext cx="3505200" cy="3534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历程与启示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66750"/>
            <a:ext cx="5080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发展历程：从课堂到领奖台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350" y="1273274"/>
            <a:ext cx="310941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2022 年 8 月—2023 年 5 月集中实验，探索约三年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050" y="1876127"/>
            <a:ext cx="344785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035" y="1778694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课堂起点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035" y="1957685"/>
            <a:ext cx="4737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郭政佑大二在专业导论课初识镁锂合金，随后加入巫瑞智教授“镁锂基电磁屏蔽材料”课题组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50" y="2759075"/>
            <a:ext cx="344785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035" y="2725142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功能攻关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035" y="2948582"/>
            <a:ext cx="2108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反复实验五次，得到理想的多维平行界面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" y="3826271"/>
            <a:ext cx="344785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035" y="3722489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配方探索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035" y="3901479"/>
            <a:ext cx="434369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先后尝试超过 15 种合金元素配比；比例不当时成形性不足，累积叠轧“一轧就断裂”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" y="4702869"/>
            <a:ext cx="344785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035" y="4668936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参数攻坚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5" y="4892377"/>
            <a:ext cx="5308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不断调整叠轧温度、优化单次压下量；因实验强度大、初期参数不当，报废过一台电源、两台磁力搅拌器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50" y="5674717"/>
            <a:ext cx="344785" cy="374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>
                    <a:alpha val="60000"/>
                  </a:srgbClr>
                </a:solidFill>
                <a:latin typeface="Noto Sans SC Black"/>
                <a:ea typeface="Noto Sans SC Black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035" y="5640784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材料诞生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035" y="5864225"/>
            <a:ext cx="3937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集超轻、高强韧、高电磁屏蔽性于一体的多功能镁锂基复合材料在实验室诞生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000" y="5338762"/>
            <a:ext cx="2852836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Noto Sans SC"/>
                <a:ea typeface="Noto Sans SC"/>
              </a:rPr>
              <a:t>▲ 实验攻坚中报废的电源与制备的箔材（原稿素材）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5765800"/>
            <a:ext cx="31623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Noto Sans SC Black"/>
                <a:ea typeface="Noto Sans SC Black"/>
              </a:rPr>
              <a:t>“从起点到诞生，是持续迭代的成果。”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412750"/>
            <a:ext cx="590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历程与启示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21463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000000"/>
                </a:solidFill>
                <a:latin typeface="Noto Sans SC Black"/>
                <a:ea typeface="Noto Sans SC Black"/>
              </a:rPr>
              <a:t>总结与启示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3274"/>
            <a:ext cx="47235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Noto Sans SC"/>
                <a:ea typeface="Noto Sans SC"/>
              </a:rPr>
              <a:t>项目成功的关键因素 · 对大学生科创团队建设的启示（依据原稿内容整理）</a:t>
            </a:r>
          </a:p>
        </p:txBody>
      </p:sp>
      <p:sp>
        <p:nvSpPr>
          <p:cNvPr id="6" name="TextBox 5"/>
          <p:cNvSpPr txBox="1"/>
          <p:nvPr/>
        </p:nvSpPr>
        <p:spPr>
          <a:xfrm rot="21420000">
            <a:off x="642392" y="2004166"/>
            <a:ext cx="1037627" cy="177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项目成功的关键因素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648594" y="2411184"/>
            <a:ext cx="684598" cy="264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兴趣驱动</a:t>
            </a:r>
          </a:p>
        </p:txBody>
      </p:sp>
      <p:sp>
        <p:nvSpPr>
          <p:cNvPr id="8" name="TextBox 7"/>
          <p:cNvSpPr txBox="1"/>
          <p:nvPr/>
        </p:nvSpPr>
        <p:spPr>
          <a:xfrm rot="21420000">
            <a:off x="660909" y="2598631"/>
            <a:ext cx="2126182" cy="203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从一堂专业导论课出发，兴趣是最强引擎</a:t>
            </a:r>
          </a:p>
        </p:txBody>
      </p:sp>
      <p:sp>
        <p:nvSpPr>
          <p:cNvPr id="9" name="TextBox 8"/>
          <p:cNvSpPr txBox="1"/>
          <p:nvPr/>
        </p:nvSpPr>
        <p:spPr>
          <a:xfrm rot="21420000">
            <a:off x="683385" y="3075038"/>
            <a:ext cx="684598" cy="264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名师领航</a:t>
            </a:r>
          </a:p>
        </p:txBody>
      </p:sp>
      <p:sp>
        <p:nvSpPr>
          <p:cNvPr id="10" name="TextBox 9"/>
          <p:cNvSpPr txBox="1"/>
          <p:nvPr/>
        </p:nvSpPr>
        <p:spPr>
          <a:xfrm rot="21420000">
            <a:off x="694995" y="3235567"/>
            <a:ext cx="3154882" cy="2034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巫瑞智教授团队与超轻材料与表面技术教育部重点实验室支撑</a:t>
            </a:r>
          </a:p>
        </p:txBody>
      </p:sp>
      <p:sp>
        <p:nvSpPr>
          <p:cNvPr id="11" name="TextBox 10"/>
          <p:cNvSpPr txBox="1"/>
          <p:nvPr/>
        </p:nvSpPr>
        <p:spPr>
          <a:xfrm rot="21420000">
            <a:off x="718176" y="3738893"/>
            <a:ext cx="684598" cy="264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分工协作</a:t>
            </a:r>
          </a:p>
        </p:txBody>
      </p:sp>
      <p:sp>
        <p:nvSpPr>
          <p:cNvPr id="12" name="TextBox 11"/>
          <p:cNvSpPr txBox="1"/>
          <p:nvPr/>
        </p:nvSpPr>
        <p:spPr>
          <a:xfrm rot="21420000">
            <a:off x="729708" y="3896430"/>
            <a:ext cx="3269182" cy="203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机理研究、成分设计、成形复合、表征测试、成果整理环环相扣</a:t>
            </a:r>
          </a:p>
        </p:txBody>
      </p:sp>
      <p:sp>
        <p:nvSpPr>
          <p:cNvPr id="13" name="TextBox 12"/>
          <p:cNvSpPr txBox="1"/>
          <p:nvPr/>
        </p:nvSpPr>
        <p:spPr>
          <a:xfrm rot="21420000">
            <a:off x="752967" y="4402748"/>
            <a:ext cx="684598" cy="264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迭代攻坚</a:t>
            </a:r>
          </a:p>
        </p:txBody>
      </p:sp>
      <p:sp>
        <p:nvSpPr>
          <p:cNvPr id="14" name="TextBox 13"/>
          <p:cNvSpPr txBox="1"/>
          <p:nvPr/>
        </p:nvSpPr>
        <p:spPr>
          <a:xfrm rot="21420000">
            <a:off x="764969" y="4578231"/>
            <a:ext cx="2583382" cy="2034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五次修整、十五种配比，报废设备仍坚持迭代改进</a:t>
            </a:r>
          </a:p>
        </p:txBody>
      </p:sp>
      <p:sp>
        <p:nvSpPr>
          <p:cNvPr id="15" name="TextBox 14"/>
          <p:cNvSpPr txBox="1"/>
          <p:nvPr/>
        </p:nvSpPr>
        <p:spPr>
          <a:xfrm rot="180000">
            <a:off x="6613073" y="1811152"/>
            <a:ext cx="12382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Bahnschrift"/>
                <a:ea typeface="Noto Sans SC Medium"/>
              </a:rPr>
              <a:t>对大学生科创团队的启示</a:t>
            </a:r>
          </a:p>
        </p:txBody>
      </p:sp>
      <p:sp>
        <p:nvSpPr>
          <p:cNvPr id="16" name="TextBox 15"/>
          <p:cNvSpPr txBox="1"/>
          <p:nvPr/>
        </p:nvSpPr>
        <p:spPr>
          <a:xfrm rot="180000">
            <a:off x="6577847" y="2194815"/>
            <a:ext cx="66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学业为基</a:t>
            </a:r>
          </a:p>
        </p:txBody>
      </p:sp>
      <p:sp>
        <p:nvSpPr>
          <p:cNvPr id="17" name="TextBox 16"/>
          <p:cNvSpPr txBox="1"/>
          <p:nvPr/>
        </p:nvSpPr>
        <p:spPr>
          <a:xfrm rot="180000">
            <a:off x="6566186" y="2473821"/>
            <a:ext cx="2793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学习与科创相辅相成，好的学习成绩是科创道路的基石</a:t>
            </a:r>
          </a:p>
        </p:txBody>
      </p:sp>
      <p:sp>
        <p:nvSpPr>
          <p:cNvPr id="18" name="TextBox 17"/>
          <p:cNvSpPr txBox="1"/>
          <p:nvPr/>
        </p:nvSpPr>
        <p:spPr>
          <a:xfrm rot="180000">
            <a:off x="6543160" y="2854682"/>
            <a:ext cx="508000" cy="2476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传帮带</a:t>
            </a:r>
          </a:p>
        </p:txBody>
      </p:sp>
      <p:sp>
        <p:nvSpPr>
          <p:cNvPr id="19" name="TextBox 18"/>
          <p:cNvSpPr txBox="1"/>
          <p:nvPr/>
        </p:nvSpPr>
        <p:spPr>
          <a:xfrm rot="180000">
            <a:off x="6531474" y="3134684"/>
            <a:ext cx="26796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师兄师姐传帮带、师生接力，把课题一步步做深做实</a:t>
            </a:r>
          </a:p>
        </p:txBody>
      </p:sp>
      <p:sp>
        <p:nvSpPr>
          <p:cNvPr id="20" name="TextBox 19"/>
          <p:cNvSpPr txBox="1"/>
          <p:nvPr/>
        </p:nvSpPr>
        <p:spPr>
          <a:xfrm rot="180000">
            <a:off x="6508265" y="3522524"/>
            <a:ext cx="6603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需求牵引</a:t>
            </a:r>
          </a:p>
        </p:txBody>
      </p:sp>
      <p:sp>
        <p:nvSpPr>
          <p:cNvPr id="21" name="TextBox 20"/>
          <p:cNvSpPr txBox="1"/>
          <p:nvPr/>
        </p:nvSpPr>
        <p:spPr>
          <a:xfrm rot="180000">
            <a:off x="6496839" y="3792557"/>
            <a:ext cx="2451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面向真实需求选题，成果才能从实验室走向产业</a:t>
            </a:r>
          </a:p>
        </p:txBody>
      </p:sp>
      <p:sp>
        <p:nvSpPr>
          <p:cNvPr id="22" name="TextBox 21"/>
          <p:cNvSpPr txBox="1"/>
          <p:nvPr/>
        </p:nvSpPr>
        <p:spPr>
          <a:xfrm rot="180000">
            <a:off x="6473474" y="4186379"/>
            <a:ext cx="660400" cy="2476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</a:rPr>
              <a:t>坚持迭代</a:t>
            </a:r>
          </a:p>
        </p:txBody>
      </p:sp>
      <p:sp>
        <p:nvSpPr>
          <p:cNvPr id="23" name="TextBox 22"/>
          <p:cNvSpPr txBox="1"/>
          <p:nvPr/>
        </p:nvSpPr>
        <p:spPr>
          <a:xfrm rot="180000">
            <a:off x="6461892" y="4462394"/>
            <a:ext cx="2679699" cy="1904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</a:rPr>
              <a:t>明确分工＋长期坚持，让想法一步步变成特等奖成果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0" y="5734050"/>
            <a:ext cx="5130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oto Sans SC Black"/>
                <a:ea typeface="Noto Sans SC Black"/>
              </a:rPr>
              <a:t>御磁坚盾：以材料之韧守护科技之梦，点亮青年创新之光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" y="2152650"/>
            <a:ext cx="551755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Bahnschrift"/>
                <a:ea typeface="Noto Sans SC Medium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32100"/>
            <a:ext cx="6756400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FFFFFF"/>
                </a:solidFill>
                <a:latin typeface="Noto Sans SC Black"/>
                <a:ea typeface="Noto Sans SC Black"/>
              </a:rPr>
              <a:t>致敬每一位追光的科创人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650" y="4211240"/>
            <a:ext cx="2680394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hnschrift"/>
                <a:ea typeface="Noto Sans SC Medium"/>
              </a:rPr>
              <a:t>御磁坚盾</a:t>
            </a:r>
            <a:r>
              <a:rPr sz="1100" b="1">
                <a:solidFill>
                  <a:srgbClr val="FFFFFF"/>
                </a:solidFill>
                <a:latin typeface="Bahnschrift"/>
                <a:ea typeface="Noto Sans SC Medium"/>
              </a:rPr>
              <a:t> · </a:t>
            </a:r>
            <a:r>
              <a:rPr sz="1100" b="0">
                <a:solidFill>
                  <a:srgbClr val="FFFFFF"/>
                </a:solidFill>
                <a:latin typeface="Bahnschrift"/>
                <a:ea typeface="Noto Sans SC Medium"/>
              </a:rPr>
              <a:t>第十八届挑战杯</a:t>
            </a:r>
            <a:r>
              <a:rPr sz="1100" b="1">
                <a:solidFill>
                  <a:srgbClr val="FFFFFF"/>
                </a:solidFill>
                <a:latin typeface="Bahnschrift"/>
                <a:ea typeface="Noto Sans SC Medium"/>
              </a:rPr>
              <a:t> · 2026 / 10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