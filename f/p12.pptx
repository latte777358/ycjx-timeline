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3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000000"/>
    <a:srgbClr val="B2B2B2"/>
    <a:srgbClr val="202020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42" d="100"/>
          <a:sy n="42" d="100"/>
        </p:scale>
        <p:origin x="43" y="1862"/>
      </p:cViewPr>
      <p:guideLst>
        <p:guide orient="horz" pos="22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成果数量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3"/>
                  </a:gs>
                  <a:gs pos="100000">
                    <a:schemeClr val="accent3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hemeClr val="accent4"/>
                  </a:gs>
                  <a:gs pos="100000">
                    <a:schemeClr val="accent4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hemeClr val="accent5"/>
                  </a:gs>
                  <a:gs pos="100000">
                    <a:schemeClr val="accent5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80695" g="84687" b="93869">
                        <a:alpha val="100000"/>
                      </a:scrgbClr>
                    </a:solidFill>
                    <a:latin typeface="+mn-lt"/>
                    <a:ea typeface="汉仪雅酷黑-65J" panose="00020600040101010101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</c:f>
              <c:strCache>
                <c:ptCount val="5"/>
                <c:pt idx="0">
                  <c:v>SCI论文</c:v>
                </c:pt>
                <c:pt idx="1">
                  <c:v>北大核心论文</c:v>
                </c:pt>
                <c:pt idx="2">
                  <c:v>授权发明专利</c:v>
                </c:pt>
                <c:pt idx="3">
                  <c:v>实用新型专利</c:v>
                </c:pt>
                <c:pt idx="4">
                  <c:v>软件著作权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5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418992850"/>
        <c:axId val="950448307"/>
      </c:barChart>
      <c:catAx>
        <c:axId val="41899285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100000" g="100000" b="100000">
                <a:alpha val="10196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80695" g="84687" b="93869">
                    <a:alpha val="72157"/>
                  </a:scrgbClr>
                </a:solidFill>
                <a:latin typeface="+mn-lt"/>
                <a:ea typeface="汉仪雅酷黑-65J" panose="00020600040101010101" charset="-122"/>
                <a:cs typeface="+mn-cs"/>
              </a:defRPr>
            </a:pPr>
          </a:p>
        </c:txPr>
        <c:crossAx val="950448307"/>
        <c:crosses val="autoZero"/>
        <c:auto val="1"/>
        <c:lblAlgn val="ctr"/>
        <c:lblOffset val="100"/>
        <c:noMultiLvlLbl val="0"/>
      </c:catAx>
      <c:valAx>
        <c:axId val="950448307"/>
        <c:scaling>
          <c:orientation val="minMax"/>
          <c:max val="5"/>
          <c:min val="0"/>
        </c:scaling>
        <c:delete val="0"/>
        <c:axPos val="l"/>
        <c:majorGridlines>
          <c:spPr>
            <a:ln w="12700" cap="flat" cmpd="sng" algn="ctr">
              <a:solidFill>
                <a:scrgbClr r="100000" g="100000" b="100000">
                  <a:alpha val="10196"/>
                </a:sc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80695" g="84687" b="93869">
                    <a:alpha val="72157"/>
                  </a:scrgbClr>
                </a:solidFill>
                <a:latin typeface="+mn-lt"/>
                <a:ea typeface="汉仪雅酷黑-65J" panose="00020600040101010101" charset="-122"/>
                <a:cs typeface="+mn-cs"/>
              </a:defRPr>
            </a:pPr>
          </a:p>
        </c:txPr>
        <c:crossAx val="41899285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da78f57-52c1-4524-9f0e-91b11796227d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lnSpc>
                <a:spcPct val="125000"/>
              </a:lnSpc>
            </a:pPr>
            <a:r>
              <a:rPr lang="zh-CN" altLang="en-US"/>
              <a:t>贾昊洋</a:t>
            </a:r>
            <a:r>
              <a:rPr lang="en-US" altLang="zh-CN"/>
              <a:t>SCI</a:t>
            </a:r>
            <a:r>
              <a:rPr lang="zh-CN" altLang="en-US"/>
              <a:t>《</a:t>
            </a:r>
            <a:r>
              <a:rPr lang="en-US" altLang="zh-CN"/>
              <a:t>Grain refinement of Mg-14Li alloy by Sn addition and large strain rolling</a:t>
            </a:r>
            <a:r>
              <a:rPr lang="zh-CN" altLang="en-US"/>
              <a:t>》有写到本项目设计的上游技术</a:t>
            </a:r>
            <a:endParaRPr lang="zh-CN" altLang="en-US"/>
          </a:p>
          <a:p>
            <a:r>
              <a:rPr lang="zh-CN" altLang="en-US"/>
              <a:t>专利</a:t>
            </a:r>
            <a:r>
              <a:rPr lang="en-US" altLang="zh-CN"/>
              <a:t>“</a:t>
            </a:r>
            <a:r>
              <a:rPr lang="zh-CN" altLang="en-US"/>
              <a:t>一种点阵晶格结构的</a:t>
            </a:r>
            <a:r>
              <a:rPr lang="en-US" altLang="zh-CN"/>
              <a:t>TiC/Mo</a:t>
            </a:r>
            <a:r>
              <a:rPr lang="zh-CN" altLang="en-US"/>
              <a:t>合金及其选区激光熔化制备方法</a:t>
            </a:r>
            <a:r>
              <a:rPr lang="en-US" altLang="zh-CN"/>
              <a:t>”</a:t>
            </a:r>
            <a:r>
              <a:rPr lang="zh-CN" altLang="en-US"/>
              <a:t>发明人名单里有刘锦阳</a:t>
            </a:r>
            <a:endParaRPr lang="zh-CN" altLang="en-US"/>
          </a:p>
          <a:p>
            <a:r>
              <a:rPr lang="zh-CN" altLang="en-US"/>
              <a:t>最后三个人网络信息较少，仅写参与实验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/>
        </p:nvSpPr>
        <p:spPr>
          <a:xfrm>
            <a:off x="0" y="12700"/>
            <a:ext cx="12191365" cy="68453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3" descr="创建未来科技背景 (2)"/>
          <p:cNvPicPr>
            <a:picLocks noChangeAspect="1"/>
          </p:cNvPicPr>
          <p:nvPr userDrawn="1"/>
        </p:nvPicPr>
        <p:blipFill>
          <a:blip r:embed="rId2" cstate="email">
            <a:alphaModFix amt="63000"/>
          </a:blip>
          <a:srcRect/>
          <a:stretch>
            <a:fillRect/>
          </a:stretch>
        </p:blipFill>
        <p:spPr>
          <a:xfrm>
            <a:off x="0" y="1010285"/>
            <a:ext cx="12191365" cy="5847715"/>
          </a:xfrm>
          <a:prstGeom prst="rect">
            <a:avLst/>
          </a:prstGeom>
        </p:spPr>
      </p:pic>
      <p:sp>
        <p:nvSpPr>
          <p:cNvPr id="13" name="矩形 10"/>
          <p:cNvSpPr/>
          <p:nvPr userDrawn="1"/>
        </p:nvSpPr>
        <p:spPr>
          <a:xfrm>
            <a:off x="269875" y="212090"/>
            <a:ext cx="11653520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4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5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6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7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887413" y="565200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" name="内容占位符 2"/>
          <p:cNvSpPr>
            <a:spLocks noGrp="1"/>
          </p:cNvSpPr>
          <p:nvPr>
            <p:ph sz="half"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2" name="内容占位符 3"/>
          <p:cNvSpPr>
            <a:spLocks noGrp="1"/>
          </p:cNvSpPr>
          <p:nvPr>
            <p:ph sz="half"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3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ea typeface="汉仪雅酷黑-65J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8" name="内容占位符 3"/>
          <p:cNvSpPr>
            <a:spLocks noGrp="1"/>
          </p:cNvSpPr>
          <p:nvPr>
            <p:ph sz="half"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9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ea typeface="汉仪雅酷黑-65J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0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1" name="日期占位符 6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4" name="标题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7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内容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  <a:lvl2pPr>
              <a:defRPr>
                <a:ea typeface="汉仪雅酷黑-65J" panose="00020600040101010101" charset="-122"/>
                <a:sym typeface="汉仪雅酷黑-65J" panose="00020600040101010101" charset="-122"/>
              </a:defRPr>
            </a:lvl2pPr>
            <a:lvl3pPr>
              <a:defRPr>
                <a:ea typeface="汉仪雅酷黑-65J" panose="00020600040101010101" charset="-122"/>
                <a:sym typeface="汉仪雅酷黑-65J" panose="00020600040101010101" charset="-122"/>
              </a:defRPr>
            </a:lvl3pPr>
            <a:lvl4pPr>
              <a:defRPr>
                <a:ea typeface="汉仪雅酷黑-65J" panose="00020600040101010101" charset="-122"/>
                <a:sym typeface="汉仪雅酷黑-65J" panose="00020600040101010101" charset="-122"/>
              </a:defRPr>
            </a:lvl4pPr>
            <a:lvl5pPr>
              <a:defRPr>
                <a:ea typeface="汉仪雅酷黑-65J" panose="00020600040101010101" charset="-122"/>
                <a:sym typeface="汉仪雅酷黑-65J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6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副标题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ea typeface="汉仪雅酷黑-65J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8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4" name="标题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面页-1-1_5">
    <p:bg>
      <p:bgRef idx="1001">
        <a:schemeClr val="bg1"/>
      </p:bgRef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片 7" descr="创建未来科技背景 (1)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7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88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89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90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91" name="矩形 18"/>
          <p:cNvSpPr/>
          <p:nvPr userDrawn="1"/>
        </p:nvSpPr>
        <p:spPr>
          <a:xfrm>
            <a:off x="268605" y="212090"/>
            <a:ext cx="11653520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cs typeface="+mn-cs"/>
              <a:sym typeface="汉仪雅酷黑-65J" panose="00020600040101010101" charset="-122"/>
            </a:endParaRPr>
          </a:p>
        </p:txBody>
      </p:sp>
      <p:sp>
        <p:nvSpPr>
          <p:cNvPr id="92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3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5" name="Text Placeholder 16"/>
          <p:cNvSpPr>
            <a:spLocks noGrp="1"/>
          </p:cNvSpPr>
          <p:nvPr>
            <p:ph type="body" idx="16386" hasCustomPrompt="1"/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96" name="标题 1"/>
          <p:cNvSpPr>
            <a:spLocks noGrp="1"/>
          </p:cNvSpPr>
          <p:nvPr>
            <p:ph type="ctrTitle" idx="16385" hasCustomPrompt="1"/>
          </p:nvPr>
        </p:nvSpPr>
        <p:spPr>
          <a:xfrm>
            <a:off x="1924050" y="2438400"/>
            <a:ext cx="8384540" cy="152146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97" name="Text Placeholder 17"/>
          <p:cNvSpPr>
            <a:spLocks noGrp="1"/>
          </p:cNvSpPr>
          <p:nvPr>
            <p:ph type="body" idx="16387" hasCustomPrompt="1"/>
          </p:nvPr>
        </p:nvSpPr>
        <p:spPr>
          <a:xfrm>
            <a:off x="4813494" y="3959860"/>
            <a:ext cx="2540882" cy="533400"/>
          </a:xfrm>
          <a:noFill/>
        </p:spPr>
        <p:txBody>
          <a:bodyPr vert="horz"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章节页-1-2_4">
    <p:bg>
      <p:bgRef idx="1001">
        <a:schemeClr val="bg1"/>
      </p:bgRef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图片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00" y="0"/>
            <a:ext cx="12184601" cy="6858000"/>
          </a:xfrm>
          <a:prstGeom prst="rect">
            <a:avLst/>
          </a:prstGeom>
        </p:spPr>
      </p:pic>
      <p:sp>
        <p:nvSpPr>
          <p:cNvPr id="100" name="矩形 10"/>
          <p:cNvSpPr/>
          <p:nvPr userDrawn="1"/>
        </p:nvSpPr>
        <p:spPr>
          <a:xfrm>
            <a:off x="270510" y="212090"/>
            <a:ext cx="11652885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01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02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03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04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105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1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8" name="标题 1"/>
          <p:cNvSpPr>
            <a:spLocks noGrp="1"/>
          </p:cNvSpPr>
          <p:nvPr>
            <p:ph type="title" idx="16385" hasCustomPrompt="1"/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09" name="节编号 3"/>
          <p:cNvSpPr>
            <a:spLocks noGrp="1"/>
          </p:cNvSpPr>
          <p:nvPr>
            <p:ph type="body" sz="quarter" idx="16386" hasCustomPrompt="1"/>
          </p:nvPr>
        </p:nvSpPr>
        <p:spPr>
          <a:xfrm>
            <a:off x="1016000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FFFFFF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结束页-1-3_4">
    <p:bg>
      <p:bgRef idx="1001">
        <a:schemeClr val="bg1"/>
      </p:bgRef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矩形 12"/>
          <p:cNvSpPr/>
          <p:nvPr userDrawn="1"/>
        </p:nvSpPr>
        <p:spPr>
          <a:xfrm>
            <a:off x="270510" y="212090"/>
            <a:ext cx="11652885" cy="643445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2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23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24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25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26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2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9" name="副标题 2"/>
          <p:cNvSpPr>
            <a:spLocks noGrp="1"/>
          </p:cNvSpPr>
          <p:nvPr>
            <p:ph type="body" idx="16386" hasCustomPrompt="1"/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rgbClr val="FFFFFF"/>
                </a:solidFill>
                <a:ea typeface="汉仪雅酷黑-65J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30" name="标题 1"/>
          <p:cNvSpPr>
            <a:spLocks noGrp="1"/>
          </p:cNvSpPr>
          <p:nvPr>
            <p:ph type="ctrTitle" idx="16385" hasCustomPrompt="1"/>
          </p:nvPr>
        </p:nvSpPr>
        <p:spPr>
          <a:xfrm>
            <a:off x="1014730" y="3155315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ea typeface="汉仪雅酷黑-65J" panose="00020600040101010101" charset="-122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页-1-5_4">
    <p:bg>
      <p:bgRef idx="1001">
        <a:schemeClr val="bg1"/>
      </p:bgRef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5" name="Subtitle 10"/>
          <p:cNvSpPr>
            <a:spLocks noGrp="1"/>
          </p:cNvSpPr>
          <p:nvPr>
            <p:ph type="subTitle" idx="16386" hasCustomPrompt="1"/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6" name="Title 11"/>
          <p:cNvSpPr>
            <a:spLocks noGrp="1"/>
          </p:cNvSpPr>
          <p:nvPr>
            <p:ph type="ctrTitle" idx="16385" hasCustomPrompt="1"/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7" name="Text Placeholder 12"/>
          <p:cNvSpPr>
            <a:spLocks noGrp="1"/>
          </p:cNvSpPr>
          <p:nvPr>
            <p:ph type="body" idx="16388" hasCustomPrompt="1"/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8" name="装饰  3"/>
          <p:cNvSpPr>
            <a:spLocks noGrp="1"/>
          </p:cNvSpPr>
          <p:nvPr>
            <p:ph type="body" idx="16395" hasCustomPrompt="1"/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ea typeface="汉仪雅酷黑-65J" panose="00020600040101010101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9" name="Text Placeholder 14"/>
          <p:cNvSpPr>
            <a:spLocks noGrp="1"/>
          </p:cNvSpPr>
          <p:nvPr>
            <p:ph type="body" idx="16387" hasCustomPrompt="1"/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0" name="Text Placeholder 15"/>
          <p:cNvSpPr>
            <a:spLocks noGrp="1"/>
          </p:cNvSpPr>
          <p:nvPr>
            <p:ph type="body" idx="16390" hasCustomPrompt="1"/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41" name="装饰  6"/>
          <p:cNvSpPr>
            <a:spLocks noGrp="1"/>
          </p:cNvSpPr>
          <p:nvPr>
            <p:ph type="body" idx="16396" hasCustomPrompt="1"/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ea typeface="汉仪雅酷黑-65J" panose="00020600040101010101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2" name="Text Placeholder 17"/>
          <p:cNvSpPr>
            <a:spLocks noGrp="1"/>
          </p:cNvSpPr>
          <p:nvPr>
            <p:ph type="body" idx="16389" hasCustomPrompt="1"/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3" name="Text Placeholder 18"/>
          <p:cNvSpPr>
            <a:spLocks noGrp="1"/>
          </p:cNvSpPr>
          <p:nvPr>
            <p:ph type="body" idx="16392" hasCustomPrompt="1"/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44" name="装饰  9"/>
          <p:cNvSpPr>
            <a:spLocks noGrp="1"/>
          </p:cNvSpPr>
          <p:nvPr>
            <p:ph type="body" idx="16397" hasCustomPrompt="1"/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ea typeface="汉仪雅酷黑-65J" panose="00020600040101010101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5" name="Text Placeholder 20"/>
          <p:cNvSpPr>
            <a:spLocks noGrp="1"/>
          </p:cNvSpPr>
          <p:nvPr>
            <p:ph type="body" idx="16391" hasCustomPrompt="1"/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6" name="Text Placeholder 21"/>
          <p:cNvSpPr>
            <a:spLocks noGrp="1"/>
          </p:cNvSpPr>
          <p:nvPr>
            <p:ph type="body" idx="16394" hasCustomPrompt="1"/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47" name="装饰  2"/>
          <p:cNvSpPr>
            <a:spLocks noGrp="1"/>
          </p:cNvSpPr>
          <p:nvPr>
            <p:ph type="body" idx="16398" hasCustomPrompt="1"/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ea typeface="汉仪雅酷黑-65J" panose="00020600040101010101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8" name="Text Placeholder 23"/>
          <p:cNvSpPr>
            <a:spLocks noGrp="1"/>
          </p:cNvSpPr>
          <p:nvPr>
            <p:ph type="body" idx="16393" hasCustomPrompt="1"/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ea typeface="汉仪雅酷黑-65J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5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 descr="创建未来科技背景 (2)"/>
          <p:cNvPicPr>
            <a:picLocks noChangeAspect="1"/>
          </p:cNvPicPr>
          <p:nvPr userDrawn="1"/>
        </p:nvPicPr>
        <p:blipFill>
          <a:blip r:embed="rId13" cstate="screen">
            <a:alphaModFix amt="15000"/>
            <a:lum bright="18000"/>
          </a:blip>
          <a:srcRect/>
          <a:stretch>
            <a:fillRect/>
          </a:stretch>
        </p:blipFill>
        <p:spPr>
          <a:xfrm>
            <a:off x="0" y="1010285"/>
            <a:ext cx="12191365" cy="5847715"/>
          </a:xfrm>
          <a:prstGeom prst="rect">
            <a:avLst/>
          </a:prstGeom>
        </p:spPr>
      </p:pic>
      <p:sp>
        <p:nvSpPr>
          <p:cNvPr id="3" name="矩形 18"/>
          <p:cNvSpPr/>
          <p:nvPr userDrawn="1"/>
        </p:nvSpPr>
        <p:spPr>
          <a:xfrm>
            <a:off x="269875" y="212090"/>
            <a:ext cx="11653520" cy="6434455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4" name="gaoding-7"/>
          <p:cNvSpPr/>
          <p:nvPr userDrawn="1"/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5" name="gaoding-7"/>
          <p:cNvSpPr/>
          <p:nvPr userDrawn="1"/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6" name="gaoding-7"/>
          <p:cNvSpPr/>
          <p:nvPr userDrawn="1"/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7" name="gaoding-7"/>
          <p:cNvSpPr/>
          <p:nvPr userDrawn="1"/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汉仪雅酷黑-65J" panose="00020600040101010101" charset="-122"/>
            </a:endParaRP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汉仪雅酷黑-65J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汉仪雅酷黑-65J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汉仪雅酷黑-65J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0">
                <a:schemeClr val="tx1"/>
              </a:gs>
              <a:gs pos="39000">
                <a:schemeClr val="tx1"/>
              </a:gs>
              <a:gs pos="100000">
                <a:schemeClr val="accent1"/>
              </a:gs>
            </a:gsLst>
            <a:lin ang="5400000" scaled="0"/>
          </a:gradFill>
          <a:latin typeface="+mj-lt"/>
          <a:ea typeface="汉仪雅酷黑-65J" panose="0002060004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汉仪雅酷黑-65J" panose="00020600040101010101" charset="-122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汉仪雅酷黑-65J" panose="00020600040101010101" charset="-122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汉仪雅酷黑-65J" panose="00020600040101010101" charset="-122"/>
          <a:cs typeface="+mn-cs"/>
          <a:sym typeface="汉仪雅酷黑-65J" panose="00020600040101010101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汉仪雅酷黑-65J" panose="00020600040101010101" charset="-122"/>
          <a:cs typeface="+mn-cs"/>
          <a:sym typeface="汉仪雅酷黑-65J" panose="00020600040101010101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汉仪雅酷黑-65J" panose="00020600040101010101" charset="-122"/>
          <a:cs typeface="+mn-cs"/>
          <a:sym typeface="汉仪雅酷黑-65J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6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47.png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63.xml"/><Relationship Id="rId40" Type="http://schemas.openxmlformats.org/officeDocument/2006/relationships/tags" Target="../tags/tag62.xml"/><Relationship Id="rId4" Type="http://schemas.openxmlformats.org/officeDocument/2006/relationships/tags" Target="../tags/tag34.xml"/><Relationship Id="rId39" Type="http://schemas.openxmlformats.org/officeDocument/2006/relationships/image" Target="../media/image54.svg"/><Relationship Id="rId38" Type="http://schemas.openxmlformats.org/officeDocument/2006/relationships/image" Target="../media/image53.png"/><Relationship Id="rId37" Type="http://schemas.openxmlformats.org/officeDocument/2006/relationships/tags" Target="../tags/tag61.xml"/><Relationship Id="rId36" Type="http://schemas.openxmlformats.org/officeDocument/2006/relationships/tags" Target="../tags/tag60.xml"/><Relationship Id="rId35" Type="http://schemas.openxmlformats.org/officeDocument/2006/relationships/tags" Target="../tags/tag59.xml"/><Relationship Id="rId34" Type="http://schemas.openxmlformats.org/officeDocument/2006/relationships/tags" Target="../tags/tag58.xml"/><Relationship Id="rId33" Type="http://schemas.openxmlformats.org/officeDocument/2006/relationships/tags" Target="../tags/tag57.xml"/><Relationship Id="rId32" Type="http://schemas.openxmlformats.org/officeDocument/2006/relationships/tags" Target="../tags/tag56.xml"/><Relationship Id="rId31" Type="http://schemas.openxmlformats.org/officeDocument/2006/relationships/tags" Target="../tags/tag55.xml"/><Relationship Id="rId30" Type="http://schemas.openxmlformats.org/officeDocument/2006/relationships/tags" Target="../tags/tag54.xml"/><Relationship Id="rId3" Type="http://schemas.openxmlformats.org/officeDocument/2006/relationships/tags" Target="../tags/tag33.xml"/><Relationship Id="rId29" Type="http://schemas.openxmlformats.org/officeDocument/2006/relationships/image" Target="../media/image52.svg"/><Relationship Id="rId28" Type="http://schemas.openxmlformats.org/officeDocument/2006/relationships/image" Target="../media/image51.png"/><Relationship Id="rId27" Type="http://schemas.openxmlformats.org/officeDocument/2006/relationships/tags" Target="../tags/tag53.xml"/><Relationship Id="rId26" Type="http://schemas.openxmlformats.org/officeDocument/2006/relationships/tags" Target="../tags/tag52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tags" Target="../tags/tag32.xml"/><Relationship Id="rId19" Type="http://schemas.openxmlformats.org/officeDocument/2006/relationships/image" Target="../media/image50.svg"/><Relationship Id="rId18" Type="http://schemas.openxmlformats.org/officeDocument/2006/relationships/image" Target="../media/image49.png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3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55.jpeg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6386"/>
          </p:nvPr>
        </p:nvSpPr>
        <p:spPr/>
        <p:txBody>
          <a:bodyPr>
            <a:normAutofit/>
          </a:bodyPr>
          <a:p>
            <a:r>
              <a:rPr lang="en-US" altLang="en-US"/>
              <a:t>2026/10/18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</p:nvPr>
        </p:nvSpPr>
        <p:spPr/>
        <p:txBody>
          <a:bodyPr>
            <a:normAutofit fontScale="90000"/>
          </a:bodyPr>
          <a:p>
            <a:r>
              <a:rPr lang="zh-CN" altLang="en-US" sz="5100"/>
              <a:t>御磁坚盾——国内首创超轻高强韧镁锂基电磁屏蔽材料</a:t>
            </a:r>
            <a:endParaRPr lang="zh-CN" altLang="en-US" sz="5100"/>
          </a:p>
        </p:txBody>
      </p:sp>
      <p:sp>
        <p:nvSpPr>
          <p:cNvPr id="4" name="Text Placeholder 3"/>
          <p:cNvSpPr>
            <a:spLocks noGrp="1"/>
          </p:cNvSpPr>
          <p:nvPr>
            <p:ph type="body" idx="16387"/>
          </p:nvPr>
        </p:nvSpPr>
        <p:spPr/>
        <p:txBody>
          <a:bodyPr>
            <a:normAutofit/>
          </a:bodyPr>
          <a:p>
            <a:r>
              <a:rPr lang="zh-CN" altLang="en-US"/>
              <a:t>汇报人：厦门大学学生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文本框 2"/>
          <p:cNvSpPr txBox="1"/>
          <p:nvPr/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内容导航</a:t>
            </a:r>
            <a:endParaRPr sz="42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68" name="矩形 3"/>
          <p:cNvSpPr/>
          <p:nvPr/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69" name="任意多边形 4"/>
          <p:cNvSpPr/>
          <p:nvPr>
            <p:custDataLst>
              <p:tags r:id="rId1"/>
            </p:custDataLst>
          </p:nvPr>
        </p:nvSpPr>
        <p:spPr>
          <a:xfrm>
            <a:off x="53784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70" name="文本框 5"/>
          <p:cNvSpPr txBox="1"/>
          <p:nvPr>
            <p:custDataLst>
              <p:tags r:id="rId2"/>
            </p:custDataLst>
          </p:nvPr>
        </p:nvSpPr>
        <p:spPr>
          <a:xfrm>
            <a:off x="86714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01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1" name="矩形 6"/>
          <p:cNvSpPr/>
          <p:nvPr>
            <p:custDataLst>
              <p:tags r:id="rId3"/>
            </p:custDataLst>
          </p:nvPr>
        </p:nvSpPr>
        <p:spPr>
          <a:xfrm>
            <a:off x="1542415" y="19189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72" name="文本框 7"/>
          <p:cNvSpPr txBox="1"/>
          <p:nvPr>
            <p:custDataLst>
              <p:tags r:id="rId4"/>
            </p:custDataLst>
          </p:nvPr>
        </p:nvSpPr>
        <p:spPr>
          <a:xfrm>
            <a:off x="1876425" y="18721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开场</a:t>
            </a:r>
            <a:r>
              <a:rPr sz="2100" b="1">
                <a:solidFill>
                  <a:schemeClr val="accent1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引入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3" name="文本框 8"/>
          <p:cNvSpPr txBox="1"/>
          <p:nvPr>
            <p:custDataLst>
              <p:tags r:id="rId5"/>
            </p:custDataLst>
          </p:nvPr>
        </p:nvSpPr>
        <p:spPr>
          <a:xfrm>
            <a:off x="187642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挑战杯赛事与项目荣誉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4" name="任意多边形 10"/>
          <p:cNvSpPr/>
          <p:nvPr>
            <p:custDataLst>
              <p:tags r:id="rId6"/>
            </p:custDataLst>
          </p:nvPr>
        </p:nvSpPr>
        <p:spPr>
          <a:xfrm>
            <a:off x="619569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75" name="文本框 11"/>
          <p:cNvSpPr txBox="1"/>
          <p:nvPr>
            <p:custDataLst>
              <p:tags r:id="rId7"/>
            </p:custDataLst>
          </p:nvPr>
        </p:nvSpPr>
        <p:spPr>
          <a:xfrm>
            <a:off x="652499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02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6" name="矩形 12"/>
          <p:cNvSpPr/>
          <p:nvPr>
            <p:custDataLst>
              <p:tags r:id="rId8"/>
            </p:custDataLst>
          </p:nvPr>
        </p:nvSpPr>
        <p:spPr>
          <a:xfrm>
            <a:off x="7200265" y="19189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77" name="文本框 13"/>
          <p:cNvSpPr txBox="1"/>
          <p:nvPr>
            <p:custDataLst>
              <p:tags r:id="rId9"/>
            </p:custDataLst>
          </p:nvPr>
        </p:nvSpPr>
        <p:spPr>
          <a:xfrm>
            <a:off x="7534275" y="1871980"/>
            <a:ext cx="214312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背景与灵感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8" name="文本框 14"/>
          <p:cNvSpPr txBox="1"/>
          <p:nvPr>
            <p:custDataLst>
              <p:tags r:id="rId10"/>
            </p:custDataLst>
          </p:nvPr>
        </p:nvSpPr>
        <p:spPr>
          <a:xfrm>
            <a:off x="753427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航空电磁之困与弹球游戏启发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79" name="任意多边形 16"/>
          <p:cNvSpPr/>
          <p:nvPr>
            <p:custDataLst>
              <p:tags r:id="rId11"/>
            </p:custDataLst>
          </p:nvPr>
        </p:nvSpPr>
        <p:spPr>
          <a:xfrm>
            <a:off x="53784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80" name="文本框 17"/>
          <p:cNvSpPr txBox="1"/>
          <p:nvPr>
            <p:custDataLst>
              <p:tags r:id="rId12"/>
            </p:custDataLst>
          </p:nvPr>
        </p:nvSpPr>
        <p:spPr>
          <a:xfrm>
            <a:off x="86714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03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1" name="矩形 18"/>
          <p:cNvSpPr/>
          <p:nvPr>
            <p:custDataLst>
              <p:tags r:id="rId13"/>
            </p:custDataLst>
          </p:nvPr>
        </p:nvSpPr>
        <p:spPr>
          <a:xfrm>
            <a:off x="1542415" y="361442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82" name="文本框 19"/>
          <p:cNvSpPr txBox="1"/>
          <p:nvPr>
            <p:custDataLst>
              <p:tags r:id="rId14"/>
            </p:custDataLst>
          </p:nvPr>
        </p:nvSpPr>
        <p:spPr>
          <a:xfrm>
            <a:off x="1876425" y="356758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项目概况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3" name="文本框 20"/>
          <p:cNvSpPr txBox="1"/>
          <p:nvPr>
            <p:custDataLst>
              <p:tags r:id="rId15"/>
            </p:custDataLst>
          </p:nvPr>
        </p:nvSpPr>
        <p:spPr>
          <a:xfrm>
            <a:off x="187642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基础信息 · 项目内容 · 名师支撑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4" name="任意多边形 22"/>
          <p:cNvSpPr/>
          <p:nvPr>
            <p:custDataLst>
              <p:tags r:id="rId16"/>
            </p:custDataLst>
          </p:nvPr>
        </p:nvSpPr>
        <p:spPr>
          <a:xfrm>
            <a:off x="619569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85" name="文本框 23"/>
          <p:cNvSpPr txBox="1"/>
          <p:nvPr>
            <p:custDataLst>
              <p:tags r:id="rId17"/>
            </p:custDataLst>
          </p:nvPr>
        </p:nvSpPr>
        <p:spPr>
          <a:xfrm>
            <a:off x="652499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04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6" name="矩形 24"/>
          <p:cNvSpPr/>
          <p:nvPr>
            <p:custDataLst>
              <p:tags r:id="rId18"/>
            </p:custDataLst>
          </p:nvPr>
        </p:nvSpPr>
        <p:spPr>
          <a:xfrm>
            <a:off x="7200265" y="361442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87" name="文本框 25"/>
          <p:cNvSpPr txBox="1"/>
          <p:nvPr>
            <p:custDataLst>
              <p:tags r:id="rId19"/>
            </p:custDataLst>
          </p:nvPr>
        </p:nvSpPr>
        <p:spPr>
          <a:xfrm>
            <a:off x="7534275" y="3567430"/>
            <a:ext cx="2667635" cy="3600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创新与成果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8" name="文本框 26"/>
          <p:cNvSpPr txBox="1"/>
          <p:nvPr>
            <p:custDataLst>
              <p:tags r:id="rId20"/>
            </p:custDataLst>
          </p:nvPr>
        </p:nvSpPr>
        <p:spPr>
          <a:xfrm>
            <a:off x="753427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三项创新 · 核心指标 · 学术成果 · 产业化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89" name="任意多边形 28"/>
          <p:cNvSpPr/>
          <p:nvPr>
            <p:custDataLst>
              <p:tags r:id="rId21"/>
            </p:custDataLst>
          </p:nvPr>
        </p:nvSpPr>
        <p:spPr>
          <a:xfrm>
            <a:off x="53784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90" name="文本框 29"/>
          <p:cNvSpPr txBox="1"/>
          <p:nvPr>
            <p:custDataLst>
              <p:tags r:id="rId22"/>
            </p:custDataLst>
          </p:nvPr>
        </p:nvSpPr>
        <p:spPr>
          <a:xfrm>
            <a:off x="86714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05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1" name="矩形 30"/>
          <p:cNvSpPr/>
          <p:nvPr>
            <p:custDataLst>
              <p:tags r:id="rId23"/>
            </p:custDataLst>
          </p:nvPr>
        </p:nvSpPr>
        <p:spPr>
          <a:xfrm>
            <a:off x="1542415" y="53098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92" name="文本框 31"/>
          <p:cNvSpPr txBox="1"/>
          <p:nvPr>
            <p:custDataLst>
              <p:tags r:id="rId24"/>
            </p:custDataLst>
          </p:nvPr>
        </p:nvSpPr>
        <p:spPr>
          <a:xfrm>
            <a:off x="1876425" y="52630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团队介绍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3" name="文本框 32"/>
          <p:cNvSpPr txBox="1"/>
          <p:nvPr>
            <p:custDataLst>
              <p:tags r:id="rId25"/>
            </p:custDataLst>
          </p:nvPr>
        </p:nvSpPr>
        <p:spPr>
          <a:xfrm>
            <a:off x="187642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八人分工 · 团队形成 · 协作传承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4" name="任意多边形 34"/>
          <p:cNvSpPr/>
          <p:nvPr>
            <p:custDataLst>
              <p:tags r:id="rId26"/>
            </p:custDataLst>
          </p:nvPr>
        </p:nvSpPr>
        <p:spPr>
          <a:xfrm>
            <a:off x="619569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95" name="文本框 35"/>
          <p:cNvSpPr txBox="1"/>
          <p:nvPr>
            <p:custDataLst>
              <p:tags r:id="rId27"/>
            </p:custDataLst>
          </p:nvPr>
        </p:nvSpPr>
        <p:spPr>
          <a:xfrm>
            <a:off x="652499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06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6" name="矩形 36"/>
          <p:cNvSpPr/>
          <p:nvPr>
            <p:custDataLst>
              <p:tags r:id="rId28"/>
            </p:custDataLst>
          </p:nvPr>
        </p:nvSpPr>
        <p:spPr>
          <a:xfrm>
            <a:off x="7200265" y="53098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97" name="文本框 37"/>
          <p:cNvSpPr txBox="1"/>
          <p:nvPr>
            <p:custDataLst>
              <p:tags r:id="rId29"/>
            </p:custDataLst>
          </p:nvPr>
        </p:nvSpPr>
        <p:spPr>
          <a:xfrm>
            <a:off x="7534275" y="5262880"/>
            <a:ext cx="2667635" cy="349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历程与启示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98" name="文本框 38"/>
          <p:cNvSpPr txBox="1"/>
          <p:nvPr>
            <p:custDataLst>
              <p:tags r:id="rId30"/>
            </p:custDataLst>
          </p:nvPr>
        </p:nvSpPr>
        <p:spPr>
          <a:xfrm>
            <a:off x="753427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发展历程 · 总结与科创启示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标题 1"/>
          <p:cNvSpPr>
            <a:spLocks noGrp="1"/>
          </p:cNvSpPr>
          <p:nvPr>
            <p:ph type="title" idx="16385"/>
          </p:nvPr>
        </p:nvSpPr>
        <p:spPr>
          <a:xfrm>
            <a:off x="1016000" y="2667000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“挑战杯”全国大学生课外学术科技作品竞赛</a:t>
            </a:r>
            <a:endParaRPr lang="zh-CN" altLang="en-US"/>
          </a:p>
        </p:txBody>
      </p:sp>
      <p:sp>
        <p:nvSpPr>
          <p:cNvPr id="454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041400"/>
            <a:ext cx="1527175" cy="1524000"/>
          </a:xfrm>
        </p:spPr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455" name="文本框 3"/>
          <p:cNvSpPr txBox="1"/>
          <p:nvPr/>
        </p:nvSpPr>
        <p:spPr>
          <a:xfrm>
            <a:off x="1016000" y="42926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挑战杯，大学生科创的最高舞台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认识“大挑”，看懂这份荣誉的分量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认识“大挑”：赛事介绍与含金量</a:t>
            </a:r>
            <a:endParaRPr sz="3000" b="1">
              <a:solidFill>
                <a:schemeClr val="tx1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460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“大挑”赛事要点——理解这份荣誉的分量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pic>
        <p:nvPicPr>
          <p:cNvPr id="461" name="Picture 1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54480"/>
            <a:ext cx="5440680" cy="3110381"/>
          </a:xfrm>
          <a:prstGeom prst="rect">
            <a:avLst/>
          </a:prstGeom>
        </p:spPr>
      </p:pic>
      <p:pic>
        <p:nvPicPr>
          <p:cNvPr id="462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54480"/>
            <a:ext cx="5715000" cy="3098736"/>
          </a:xfrm>
          <a:prstGeom prst="rect">
            <a:avLst/>
          </a:prstGeom>
        </p:spPr>
      </p:pic>
      <p:sp>
        <p:nvSpPr>
          <p:cNvPr id="463" name="Rectangle 19"/>
          <p:cNvSpPr/>
          <p:nvPr/>
        </p:nvSpPr>
        <p:spPr>
          <a:xfrm>
            <a:off x="411480" y="4893461"/>
            <a:ext cx="11384280" cy="658368"/>
          </a:xfrm>
          <a:prstGeom prst="rect">
            <a:avLst/>
          </a:prstGeom>
          <a:solidFill>
            <a:srgbClr val="23272E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64" name="TextBox 20"/>
          <p:cNvSpPr txBox="1"/>
          <p:nvPr/>
        </p:nvSpPr>
        <p:spPr>
          <a:xfrm>
            <a:off x="685800" y="4893461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左图：</a:t>
            </a:r>
            <a:r>
              <a:rPr sz="1050" b="1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“大挑”赛事基础信息</a:t>
            </a:r>
            <a:r>
              <a:rPr sz="1050" b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右图：</a:t>
            </a:r>
            <a:r>
              <a:rPr sz="1050" b="1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赛事含金量与价值</a:t>
            </a:r>
            <a:r>
              <a:rPr sz="950" b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（素材整理自“大挑”赛事介绍）</a:t>
            </a:r>
            <a:endParaRPr sz="950" b="0">
              <a:solidFill>
                <a:srgbClr val="9AA3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2955" y="1633855"/>
            <a:ext cx="1041400" cy="262255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ea typeface="汉仪雅酷黑-65J" panose="00020600040101010101" charset="-122"/>
              </a:rPr>
              <a:t>一、基础信息</a:t>
            </a:r>
            <a:endParaRPr lang="zh-CN" altLang="en-US" sz="1000">
              <a:ea typeface="汉仪雅酷黑-65J" panose="0002060004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14465" y="1820545"/>
            <a:ext cx="1717675" cy="262255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ea typeface="汉仪雅酷黑-65J" panose="00020600040101010101" charset="-122"/>
              </a:rPr>
              <a:t>二、赛事含金量与价值</a:t>
            </a:r>
            <a:endParaRPr lang="zh-CN" altLang="en-US" sz="1000"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挑战杯舞台上的御磁坚盾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467" name="文本框 3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挑战杯被誉为当代大学生科技创新的奥林匹克盛会</a:t>
            </a:r>
            <a:endParaRPr sz="1500">
              <a:solidFill>
                <a:schemeClr val="tx1"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任意多边形 4"/>
          <p:cNvSpPr/>
          <p:nvPr/>
        </p:nvSpPr>
        <p:spPr>
          <a:xfrm>
            <a:off x="571500" y="1447800"/>
            <a:ext cx="11049000" cy="967740"/>
          </a:xfrm>
          <a:custGeom>
            <a:avLst/>
            <a:gdLst>
              <a:gd name="sw" fmla="*/ 1 w 17400"/>
              <a:gd name="sh" fmla="*/ 1 h 1524"/>
              <a:gd name="mins" fmla="min sw sh"/>
              <a:gd name="dsw" fmla="+- 0 sw mins"/>
              <a:gd name="dsh" fmla="+- 0 sh mins"/>
              <a:gd name="p0x0" fmla="*/ 60 w 17400"/>
              <a:gd name="p0y0" fmla="*/ 0 h 1524"/>
              <a:gd name="p0x1" fmla="*/ 17340 w 17400"/>
              <a:gd name="p0y1" fmla="*/ 0 h 1524"/>
              <a:gd name="p0x2" fmla="*/ 17373 w 17400"/>
              <a:gd name="p0y2" fmla="*/ 0 h 1524"/>
              <a:gd name="p0x3" fmla="*/ 17400 w 17400"/>
              <a:gd name="p0y3" fmla="*/ 26 h 1524"/>
              <a:gd name="p0x4" fmla="*/ 17400 w 17400"/>
              <a:gd name="p0y4" fmla="*/ 60 h 1524"/>
              <a:gd name="p0x5" fmla="*/ 17400 w 17400"/>
              <a:gd name="p0y5" fmla="*/ 1464 h 1524"/>
              <a:gd name="p0x6" fmla="*/ 17400 w 17400"/>
              <a:gd name="p0y6" fmla="*/ 1497 h 1524"/>
              <a:gd name="p0x7" fmla="*/ 17373 w 17400"/>
              <a:gd name="p0y7" fmla="*/ 1524 h 1524"/>
              <a:gd name="p0x8" fmla="*/ 17340 w 17400"/>
              <a:gd name="p0y8" fmla="*/ 1524 h 1524"/>
              <a:gd name="p0x9" fmla="*/ 60 w 17400"/>
              <a:gd name="p0y9" fmla="*/ 1524 h 1524"/>
              <a:gd name="p0x10" fmla="*/ 26 w 17400"/>
              <a:gd name="p0y10" fmla="*/ 1524 h 1524"/>
              <a:gd name="p0x11" fmla="*/ 0 w 17400"/>
              <a:gd name="p0y11" fmla="*/ 1497 h 1524"/>
              <a:gd name="p0x12" fmla="*/ 0 w 17400"/>
              <a:gd name="p0y12" fmla="*/ 1464 h 1524"/>
              <a:gd name="p0x13" fmla="*/ 0 w 17400"/>
              <a:gd name="p0y13" fmla="*/ 60 h 1524"/>
              <a:gd name="p0x14" fmla="*/ 0 w 17400"/>
              <a:gd name="p0y14" fmla="*/ 26 h 1524"/>
              <a:gd name="p0x15" fmla="*/ 26 w 17400"/>
              <a:gd name="p0y15" fmla="*/ 0 h 1524"/>
              <a:gd name="p0x16" fmla="*/ 60 w 17400"/>
              <a:gd name="p0y16" fmla="*/ 0 h 152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762000" y="1773526"/>
            <a:ext cx="800129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挑战杯</a:t>
            </a: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舞台之上，</a:t>
            </a: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以材料之韧守护科技之梦，点亮青年创新之光。</a:t>
            </a:r>
            <a:endParaRPr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任意多边形 7"/>
          <p:cNvSpPr/>
          <p:nvPr/>
        </p:nvSpPr>
        <p:spPr>
          <a:xfrm>
            <a:off x="5759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471" name="组合 50"/>
          <p:cNvGrpSpPr/>
          <p:nvPr/>
        </p:nvGrpSpPr>
        <p:grpSpPr>
          <a:xfrm>
            <a:off x="771525" y="2882265"/>
            <a:ext cx="3129280" cy="466090"/>
            <a:chOff x="1215" y="4539"/>
            <a:chExt cx="4928" cy="734"/>
          </a:xfrm>
        </p:grpSpPr>
        <p:sp>
          <p:nvSpPr>
            <p:cNvPr id="472" name="任意多边形 8"/>
            <p:cNvSpPr/>
            <p:nvPr/>
          </p:nvSpPr>
          <p:spPr>
            <a:xfrm>
              <a:off x="1215" y="4539"/>
              <a:ext cx="4929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473" name="任意多边形 9"/>
            <p:cNvSpPr/>
            <p:nvPr/>
          </p:nvSpPr>
          <p:spPr>
            <a:xfrm>
              <a:off x="1215" y="5259"/>
              <a:ext cx="4929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474" name="任意多边形 11"/>
          <p:cNvSpPr/>
          <p:nvPr/>
        </p:nvSpPr>
        <p:spPr>
          <a:xfrm>
            <a:off x="771525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475" name="图片 12" descr="0754b75f-c2fc-11f1-b688-62eea35f5e9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9" b="9"/>
          <a:stretch>
            <a:fillRect/>
          </a:stretch>
        </p:blipFill>
        <p:spPr>
          <a:xfrm>
            <a:off x="838200" y="2948940"/>
            <a:ext cx="209550" cy="209550"/>
          </a:xfrm>
          <a:prstGeom prst="rect">
            <a:avLst/>
          </a:prstGeom>
        </p:spPr>
      </p:pic>
      <p:sp>
        <p:nvSpPr>
          <p:cNvPr id="476" name="文本框 15"/>
          <p:cNvSpPr txBox="1"/>
          <p:nvPr/>
        </p:nvSpPr>
        <p:spPr>
          <a:xfrm>
            <a:off x="1228725" y="2870854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赛事影响力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任意多边形 16"/>
          <p:cNvSpPr/>
          <p:nvPr/>
        </p:nvSpPr>
        <p:spPr>
          <a:xfrm>
            <a:off x="771525" y="394081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78" name="文本框 17"/>
          <p:cNvSpPr txBox="1"/>
          <p:nvPr/>
        </p:nvSpPr>
        <p:spPr>
          <a:xfrm>
            <a:off x="904875" y="3821763"/>
            <a:ext cx="2997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第十八届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挑战杯全国大学生课外学术科技作品竞赛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9" name="任意多边形 18"/>
          <p:cNvSpPr/>
          <p:nvPr/>
        </p:nvSpPr>
        <p:spPr>
          <a:xfrm>
            <a:off x="771525" y="503745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80" name="文本框 19"/>
          <p:cNvSpPr txBox="1"/>
          <p:nvPr/>
        </p:nvSpPr>
        <p:spPr>
          <a:xfrm>
            <a:off x="904875" y="4918405"/>
            <a:ext cx="2997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全国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最具影响力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的大学生科创赛事之一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1" name="任意多边形 20"/>
          <p:cNvSpPr/>
          <p:nvPr/>
        </p:nvSpPr>
        <p:spPr>
          <a:xfrm>
            <a:off x="775970" y="6033770"/>
            <a:ext cx="695325" cy="238125"/>
          </a:xfrm>
          <a:custGeom>
            <a:avLst/>
            <a:gdLst>
              <a:gd name="sw" fmla="*/ 1 w 1095"/>
              <a:gd name="sh" fmla="*/ 1 h 375"/>
              <a:gd name="mins" fmla="min sw sh"/>
              <a:gd name="dsw" fmla="+- 0 sw mins"/>
              <a:gd name="dsh" fmla="+- 0 sh mins"/>
              <a:gd name="p0x0" fmla="*/ 187 w 1095"/>
              <a:gd name="p0y0" fmla="*/ 0 h 375"/>
              <a:gd name="p0x1" fmla="*/ 907 w 1095"/>
              <a:gd name="p0y1" fmla="*/ 0 h 375"/>
              <a:gd name="p0x2" fmla="*/ 1011 w 1095"/>
              <a:gd name="p0y2" fmla="*/ 0 h 375"/>
              <a:gd name="p0x3" fmla="*/ 1095 w 1095"/>
              <a:gd name="p0y3" fmla="*/ 83 h 375"/>
              <a:gd name="p0x4" fmla="*/ 1095 w 1095"/>
              <a:gd name="p0y4" fmla="*/ 187 h 375"/>
              <a:gd name="p0x5" fmla="*/ 1095 w 1095"/>
              <a:gd name="p0y5" fmla="*/ 291 h 375"/>
              <a:gd name="p0x6" fmla="*/ 1011 w 1095"/>
              <a:gd name="p0y6" fmla="*/ 375 h 375"/>
              <a:gd name="p0x7" fmla="*/ 907 w 1095"/>
              <a:gd name="p0y7" fmla="*/ 375 h 375"/>
              <a:gd name="p0x8" fmla="*/ 187 w 1095"/>
              <a:gd name="p0y8" fmla="*/ 375 h 375"/>
              <a:gd name="p0x9" fmla="*/ 83 w 1095"/>
              <a:gd name="p0y9" fmla="*/ 375 h 375"/>
              <a:gd name="p0x10" fmla="*/ 0 w 1095"/>
              <a:gd name="p0y10" fmla="*/ 291 h 375"/>
              <a:gd name="p0x11" fmla="*/ 0 w 1095"/>
              <a:gd name="p0y11" fmla="*/ 187 h 375"/>
              <a:gd name="p0x12" fmla="*/ 0 w 1095"/>
              <a:gd name="p0y12" fmla="*/ 83 h 375"/>
              <a:gd name="p0x13" fmla="*/ 83 w 1095"/>
              <a:gd name="p0y13" fmla="*/ 0 h 375"/>
              <a:gd name="p0x14" fmla="*/ 187 w 109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82" name="文本框 21"/>
          <p:cNvSpPr txBox="1"/>
          <p:nvPr/>
        </p:nvSpPr>
        <p:spPr>
          <a:xfrm>
            <a:off x="895350" y="6068378"/>
            <a:ext cx="6096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挑战杯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任意多边形 22"/>
          <p:cNvSpPr/>
          <p:nvPr/>
        </p:nvSpPr>
        <p:spPr>
          <a:xfrm>
            <a:off x="43351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484" name="组合 51"/>
          <p:cNvGrpSpPr/>
          <p:nvPr/>
        </p:nvGrpSpPr>
        <p:grpSpPr>
          <a:xfrm>
            <a:off x="4530090" y="2882265"/>
            <a:ext cx="3130550" cy="466090"/>
            <a:chOff x="7134" y="4539"/>
            <a:chExt cx="4930" cy="734"/>
          </a:xfrm>
        </p:grpSpPr>
        <p:sp>
          <p:nvSpPr>
            <p:cNvPr id="485" name="任意多边形 23"/>
            <p:cNvSpPr/>
            <p:nvPr/>
          </p:nvSpPr>
          <p:spPr>
            <a:xfrm>
              <a:off x="7134" y="4539"/>
              <a:ext cx="4930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486" name="任意多边形 24"/>
            <p:cNvSpPr/>
            <p:nvPr/>
          </p:nvSpPr>
          <p:spPr>
            <a:xfrm>
              <a:off x="7134" y="5259"/>
              <a:ext cx="4930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487" name="任意多边形 26"/>
          <p:cNvSpPr/>
          <p:nvPr/>
        </p:nvSpPr>
        <p:spPr>
          <a:xfrm>
            <a:off x="4530090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488" name="图片 27" descr="0754b8f6-c2fc-11f1-b688-62eea35f5e9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91" t="-9" r="291" b="9"/>
          <a:stretch>
            <a:fillRect/>
          </a:stretch>
        </p:blipFill>
        <p:spPr>
          <a:xfrm>
            <a:off x="4596765" y="2948940"/>
            <a:ext cx="209550" cy="209550"/>
          </a:xfrm>
          <a:prstGeom prst="rect">
            <a:avLst/>
          </a:prstGeom>
        </p:spPr>
      </p:pic>
      <p:sp>
        <p:nvSpPr>
          <p:cNvPr id="489" name="文本框 30"/>
          <p:cNvSpPr txBox="1"/>
          <p:nvPr/>
        </p:nvSpPr>
        <p:spPr>
          <a:xfrm>
            <a:off x="4987899" y="2870854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团队登台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任意多边形 31"/>
          <p:cNvSpPr/>
          <p:nvPr/>
        </p:nvSpPr>
        <p:spPr>
          <a:xfrm>
            <a:off x="4530090" y="41433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91" name="文本框 32"/>
          <p:cNvSpPr txBox="1"/>
          <p:nvPr/>
        </p:nvSpPr>
        <p:spPr>
          <a:xfrm>
            <a:off x="4664049" y="4024912"/>
            <a:ext cx="27289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哈尔滨工程大学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任意多边形 33"/>
          <p:cNvSpPr/>
          <p:nvPr/>
        </p:nvSpPr>
        <p:spPr>
          <a:xfrm>
            <a:off x="4530090" y="51384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93" name="文本框 34"/>
          <p:cNvSpPr txBox="1"/>
          <p:nvPr/>
        </p:nvSpPr>
        <p:spPr>
          <a:xfrm>
            <a:off x="4664049" y="5019904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荣获第十八届挑战杯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主体赛特等奖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任意多边形 35"/>
          <p:cNvSpPr/>
          <p:nvPr/>
        </p:nvSpPr>
        <p:spPr>
          <a:xfrm>
            <a:off x="4535170" y="60337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95" name="文本框 36"/>
          <p:cNvSpPr txBox="1"/>
          <p:nvPr/>
        </p:nvSpPr>
        <p:spPr>
          <a:xfrm>
            <a:off x="4654524" y="60683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任意多边形 37"/>
          <p:cNvSpPr/>
          <p:nvPr/>
        </p:nvSpPr>
        <p:spPr>
          <a:xfrm>
            <a:off x="80943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497" name="组合 52"/>
          <p:cNvGrpSpPr/>
          <p:nvPr/>
        </p:nvGrpSpPr>
        <p:grpSpPr>
          <a:xfrm>
            <a:off x="8289290" y="2882265"/>
            <a:ext cx="3130550" cy="466090"/>
            <a:chOff x="13054" y="4539"/>
            <a:chExt cx="4930" cy="734"/>
          </a:xfrm>
        </p:grpSpPr>
        <p:sp>
          <p:nvSpPr>
            <p:cNvPr id="498" name="任意多边形 38"/>
            <p:cNvSpPr/>
            <p:nvPr/>
          </p:nvSpPr>
          <p:spPr>
            <a:xfrm>
              <a:off x="13054" y="4539"/>
              <a:ext cx="4930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499" name="任意多边形 39"/>
            <p:cNvSpPr/>
            <p:nvPr/>
          </p:nvSpPr>
          <p:spPr>
            <a:xfrm>
              <a:off x="13054" y="5259"/>
              <a:ext cx="4930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500" name="任意多边形 41"/>
          <p:cNvSpPr/>
          <p:nvPr/>
        </p:nvSpPr>
        <p:spPr>
          <a:xfrm>
            <a:off x="8289290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501" name="图片 42" descr="0754b970-c2fc-11f1-b688-62eea35f5e9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78" t="-9" r="278" b="9"/>
          <a:stretch>
            <a:fillRect/>
          </a:stretch>
        </p:blipFill>
        <p:spPr>
          <a:xfrm>
            <a:off x="8355965" y="2948940"/>
            <a:ext cx="209550" cy="209550"/>
          </a:xfrm>
          <a:prstGeom prst="rect">
            <a:avLst/>
          </a:prstGeom>
        </p:spPr>
      </p:pic>
      <p:sp>
        <p:nvSpPr>
          <p:cNvPr id="502" name="文本框 45"/>
          <p:cNvSpPr txBox="1"/>
          <p:nvPr/>
        </p:nvSpPr>
        <p:spPr>
          <a:xfrm>
            <a:off x="8747074" y="2870854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任意多边形 46"/>
          <p:cNvSpPr/>
          <p:nvPr/>
        </p:nvSpPr>
        <p:spPr>
          <a:xfrm>
            <a:off x="8289290" y="43364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04" name="文本框 47"/>
          <p:cNvSpPr txBox="1"/>
          <p:nvPr/>
        </p:nvSpPr>
        <p:spPr>
          <a:xfrm>
            <a:off x="8423224" y="4217641"/>
            <a:ext cx="28575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国内首个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集超轻、高强韧、高电磁屏蔽性于一体的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多功能镁锂基复合材料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任意多边形 48"/>
          <p:cNvSpPr/>
          <p:nvPr/>
        </p:nvSpPr>
        <p:spPr>
          <a:xfrm>
            <a:off x="8294370" y="60337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06" name="文本框 49"/>
          <p:cNvSpPr txBox="1"/>
          <p:nvPr/>
        </p:nvSpPr>
        <p:spPr>
          <a:xfrm>
            <a:off x="8413699" y="60683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国内首个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标题 1"/>
          <p:cNvSpPr>
            <a:spLocks noGrp="1"/>
          </p:cNvSpPr>
          <p:nvPr>
            <p:ph type="title" idx="16385"/>
          </p:nvPr>
        </p:nvSpPr>
        <p:spPr>
          <a:xfrm>
            <a:off x="1016000" y="2667000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项目概况</a:t>
            </a:r>
            <a:endParaRPr lang="zh-CN" altLang="en-US"/>
          </a:p>
        </p:txBody>
      </p:sp>
      <p:sp>
        <p:nvSpPr>
          <p:cNvPr id="509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041400"/>
            <a:ext cx="1527175" cy="1524000"/>
          </a:xfrm>
        </p:spPr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510" name="文本框 3"/>
          <p:cNvSpPr txBox="1"/>
          <p:nvPr/>
        </p:nvSpPr>
        <p:spPr>
          <a:xfrm>
            <a:off x="1016000" y="34905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八人团队，三年探索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从学院课堂到国家需求的完整项目画像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基础信息一览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graphicFrame>
        <p:nvGraphicFramePr>
          <p:cNvPr id="513" name="表格 3"/>
          <p:cNvGraphicFramePr/>
          <p:nvPr/>
        </p:nvGraphicFramePr>
        <p:xfrm>
          <a:off x="581025" y="1114425"/>
          <a:ext cx="11039473" cy="5362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014"/>
                <a:gridCol w="7948459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项目名称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御磁坚盾</a:t>
                      </a:r>
                      <a:r>
                        <a:rPr lang="en-US" altLang="zh-CN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——</a:t>
                      </a:r>
                      <a:r>
                        <a:rPr lang="zh-CN" altLang="en-US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超轻高强韧镁锂基电磁屏蔽材料</a:t>
                      </a:r>
                      <a:endParaRPr lang="zh-CN" altLang="en-US"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参赛赛事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第十八届挑战杯课外学术科技作品竞赛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参赛赛道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主体赛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推报学院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材料科学与化学工程学院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团队规模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名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本科生（大四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、大三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指导教师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巫瑞智、张万顺、侯乐干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获奖等级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主体赛特等奖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68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研究周期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探索约</a:t>
                      </a:r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三年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2022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至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2023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集中实验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文本框 9"/>
          <p:cNvSpPr txBox="1"/>
          <p:nvPr/>
        </p:nvSpPr>
        <p:spPr>
          <a:xfrm>
            <a:off x="762021" y="2222575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16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项目</a:t>
            </a:r>
            <a:r>
              <a:rPr lang="zh-CN"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内容</a:t>
            </a: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：面向国家需求</a:t>
            </a:r>
            <a:endParaRPr sz="3000" b="1">
              <a:solidFill>
                <a:schemeClr val="tx1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517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超轻高强韧镁锂基电磁屏蔽材料，面向新质生产力应用需求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18" name="任意多边形 19"/>
          <p:cNvSpPr/>
          <p:nvPr/>
        </p:nvSpPr>
        <p:spPr>
          <a:xfrm>
            <a:off x="762000" y="1457325"/>
            <a:ext cx="457200" cy="28575"/>
          </a:xfrm>
          <a:custGeom>
            <a:avLst/>
            <a:gdLst>
              <a:gd name="sw" fmla="*/ 1 w 720"/>
              <a:gd name="sh" fmla="*/ 1 h 45"/>
              <a:gd name="mins" fmla="min sw sh"/>
              <a:gd name="dsw" fmla="+- 0 sw mins"/>
              <a:gd name="dsh" fmla="+- 0 sh mins"/>
              <a:gd name="p0x0" fmla="*/ 22 w 720"/>
              <a:gd name="p0y0" fmla="*/ 0 h 45"/>
              <a:gd name="p0x1" fmla="*/ 697 w 720"/>
              <a:gd name="p0y1" fmla="*/ 0 h 45"/>
              <a:gd name="p0x2" fmla="*/ 709 w 720"/>
              <a:gd name="p0y2" fmla="*/ 0 h 45"/>
              <a:gd name="p0x3" fmla="*/ 720 w 720"/>
              <a:gd name="p0y3" fmla="*/ 10 h 45"/>
              <a:gd name="p0x4" fmla="*/ 720 w 720"/>
              <a:gd name="p0y4" fmla="*/ 22 h 45"/>
              <a:gd name="p0x5" fmla="*/ 720 w 720"/>
              <a:gd name="p0y5" fmla="*/ 34 h 45"/>
              <a:gd name="p0x6" fmla="*/ 709 w 720"/>
              <a:gd name="p0y6" fmla="*/ 45 h 45"/>
              <a:gd name="p0x7" fmla="*/ 697 w 720"/>
              <a:gd name="p0y7" fmla="*/ 45 h 45"/>
              <a:gd name="p0x8" fmla="*/ 22 w 720"/>
              <a:gd name="p0y8" fmla="*/ 45 h 45"/>
              <a:gd name="p0x9" fmla="*/ 10 w 720"/>
              <a:gd name="p0y9" fmla="*/ 45 h 45"/>
              <a:gd name="p0x10" fmla="*/ 0 w 720"/>
              <a:gd name="p0y10" fmla="*/ 34 h 45"/>
              <a:gd name="p0x11" fmla="*/ 0 w 720"/>
              <a:gd name="p0y11" fmla="*/ 22 h 45"/>
              <a:gd name="p0x12" fmla="*/ 0 w 720"/>
              <a:gd name="p0y12" fmla="*/ 10 h 45"/>
              <a:gd name="p0x13" fmla="*/ 10 w 720"/>
              <a:gd name="p0y13" fmla="*/ 0 h 45"/>
              <a:gd name="p0x14" fmla="*/ 22 w 72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5355"/>
              <a:lumOff val="84645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19" name="文本框 20"/>
          <p:cNvSpPr txBox="1"/>
          <p:nvPr/>
        </p:nvSpPr>
        <p:spPr>
          <a:xfrm>
            <a:off x="762021" y="1677110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项目名称</a:t>
            </a:r>
            <a:endParaRPr sz="240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0" name="文本框 21"/>
          <p:cNvSpPr txBox="1"/>
          <p:nvPr/>
        </p:nvSpPr>
        <p:spPr>
          <a:xfrm>
            <a:off x="2103120" y="1749425"/>
            <a:ext cx="9791700" cy="3644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400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超轻高强韧镁锂基电磁屏蔽材料</a:t>
            </a:r>
            <a:endParaRPr sz="2400">
              <a:solidFill>
                <a:schemeClr val="bg2">
                  <a:lumMod val="50000"/>
                  <a:lumOff val="5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1" name="矩形 22"/>
          <p:cNvSpPr/>
          <p:nvPr/>
        </p:nvSpPr>
        <p:spPr>
          <a:xfrm>
            <a:off x="762000" y="2963545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22" name="文本框 23"/>
          <p:cNvSpPr txBox="1"/>
          <p:nvPr/>
        </p:nvSpPr>
        <p:spPr>
          <a:xfrm>
            <a:off x="762000" y="3179264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价值定位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3" name="文本框 24"/>
          <p:cNvSpPr txBox="1"/>
          <p:nvPr/>
        </p:nvSpPr>
        <p:spPr>
          <a:xfrm>
            <a:off x="1638300" y="3145927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在传统基础制造业基础上，面向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工业互联网、新能源智能汽车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等新质生产力应用需求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4" name="矩形 25"/>
          <p:cNvSpPr/>
          <p:nvPr/>
        </p:nvSpPr>
        <p:spPr>
          <a:xfrm>
            <a:off x="762000" y="3822700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25" name="文本框 26"/>
          <p:cNvSpPr txBox="1"/>
          <p:nvPr/>
        </p:nvSpPr>
        <p:spPr>
          <a:xfrm>
            <a:off x="762000" y="4038305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核心功能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6" name="文本框 27"/>
          <p:cNvSpPr txBox="1"/>
          <p:nvPr/>
        </p:nvSpPr>
        <p:spPr>
          <a:xfrm>
            <a:off x="1638300" y="4004967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为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航空航天、雷达通信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等设备提供电磁屏蔽防护，同时提高材料强度和韧性、降低重量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7" name="矩形 28"/>
          <p:cNvSpPr/>
          <p:nvPr/>
        </p:nvSpPr>
        <p:spPr>
          <a:xfrm>
            <a:off x="762000" y="4681855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28" name="文本框 29"/>
          <p:cNvSpPr txBox="1"/>
          <p:nvPr/>
        </p:nvSpPr>
        <p:spPr>
          <a:xfrm>
            <a:off x="762000" y="4897336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应用场景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29" name="文本框 30"/>
          <p:cNvSpPr txBox="1"/>
          <p:nvPr/>
        </p:nvSpPr>
        <p:spPr>
          <a:xfrm>
            <a:off x="1638300" y="4863998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航空航天、雷达通信、信息安全、民生电子消费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30" name="矩形 31"/>
          <p:cNvSpPr/>
          <p:nvPr/>
        </p:nvSpPr>
        <p:spPr>
          <a:xfrm>
            <a:off x="762000" y="5541010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31" name="文本框 32"/>
          <p:cNvSpPr txBox="1"/>
          <p:nvPr/>
        </p:nvSpPr>
        <p:spPr>
          <a:xfrm>
            <a:off x="762000" y="5756377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产业化进展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532" name="文本框 33"/>
          <p:cNvSpPr txBox="1"/>
          <p:nvPr/>
        </p:nvSpPr>
        <p:spPr>
          <a:xfrm>
            <a:off x="1638300" y="5723039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在负责人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郭政佑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牵头下达成代工合作协议，实现超薄箔材的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ea typeface="汉仪雅酷黑-65J" panose="00020600040101010101" charset="-122"/>
                <a:cs typeface="+mn-lt"/>
              </a:rPr>
              <a:t>产业化成形验证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ea typeface="汉仪雅酷黑-65J" panose="00020600040101010101" charset="-122"/>
                <a:cs typeface="+mn-lt"/>
              </a:rPr>
              <a:t>，同多家企业开展密切合作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ea typeface="汉仪雅酷黑-65J" panose="00020600040101010101" charset="-122"/>
              <a:cs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名师领航与学科支撑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535" name="任意多边形 3"/>
          <p:cNvSpPr/>
          <p:nvPr/>
        </p:nvSpPr>
        <p:spPr>
          <a:xfrm>
            <a:off x="571500" y="1104900"/>
            <a:ext cx="11049000" cy="939165"/>
          </a:xfrm>
          <a:custGeom>
            <a:avLst/>
            <a:gdLst>
              <a:gd name="sw" fmla="*/ 1 w 17400"/>
              <a:gd name="sh" fmla="*/ 1 h 1479"/>
              <a:gd name="mins" fmla="min sw sh"/>
              <a:gd name="dsw" fmla="+- 0 sw mins"/>
              <a:gd name="dsh" fmla="+- 0 sh mins"/>
              <a:gd name="p0x0" fmla="*/ 60 w 17400"/>
              <a:gd name="p0y0" fmla="*/ 0 h 1479"/>
              <a:gd name="p0x1" fmla="*/ 17340 w 17400"/>
              <a:gd name="p0y1" fmla="*/ 0 h 1479"/>
              <a:gd name="p0x2" fmla="*/ 17373 w 17400"/>
              <a:gd name="p0y2" fmla="*/ 0 h 1479"/>
              <a:gd name="p0x3" fmla="*/ 17400 w 17400"/>
              <a:gd name="p0y3" fmla="*/ 26 h 1479"/>
              <a:gd name="p0x4" fmla="*/ 17400 w 17400"/>
              <a:gd name="p0y4" fmla="*/ 60 h 1479"/>
              <a:gd name="p0x5" fmla="*/ 17400 w 17400"/>
              <a:gd name="p0y5" fmla="*/ 1419 h 1479"/>
              <a:gd name="p0x6" fmla="*/ 17400 w 17400"/>
              <a:gd name="p0y6" fmla="*/ 1452 h 1479"/>
              <a:gd name="p0x7" fmla="*/ 17373 w 17400"/>
              <a:gd name="p0y7" fmla="*/ 1479 h 1479"/>
              <a:gd name="p0x8" fmla="*/ 17340 w 17400"/>
              <a:gd name="p0y8" fmla="*/ 1479 h 1479"/>
              <a:gd name="p0x9" fmla="*/ 60 w 17400"/>
              <a:gd name="p0y9" fmla="*/ 1479 h 1479"/>
              <a:gd name="p0x10" fmla="*/ 26 w 17400"/>
              <a:gd name="p0y10" fmla="*/ 1479 h 1479"/>
              <a:gd name="p0x11" fmla="*/ 0 w 17400"/>
              <a:gd name="p0y11" fmla="*/ 1452 h 1479"/>
              <a:gd name="p0x12" fmla="*/ 0 w 17400"/>
              <a:gd name="p0y12" fmla="*/ 1419 h 1479"/>
              <a:gd name="p0x13" fmla="*/ 0 w 17400"/>
              <a:gd name="p0y13" fmla="*/ 60 h 1479"/>
              <a:gd name="p0x14" fmla="*/ 0 w 17400"/>
              <a:gd name="p0y14" fmla="*/ 26 h 1479"/>
              <a:gd name="p0x15" fmla="*/ 26 w 17400"/>
              <a:gd name="p0y15" fmla="*/ 0 h 1479"/>
              <a:gd name="p0x16" fmla="*/ 60 w 17400"/>
              <a:gd name="p0y16" fmla="*/ 0 h 14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36" name="文本框 4"/>
          <p:cNvSpPr txBox="1"/>
          <p:nvPr/>
        </p:nvSpPr>
        <p:spPr>
          <a:xfrm>
            <a:off x="762000" y="1416558"/>
            <a:ext cx="4343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强大导师团队与学科平台是项目坚实后盾</a:t>
            </a:r>
            <a:endParaRPr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任意多边形 6"/>
          <p:cNvSpPr/>
          <p:nvPr/>
        </p:nvSpPr>
        <p:spPr>
          <a:xfrm>
            <a:off x="575945" y="2277745"/>
            <a:ext cx="4318635" cy="4194175"/>
          </a:xfrm>
          <a:custGeom>
            <a:avLst/>
            <a:gdLst>
              <a:gd name="sw" fmla="*/ 1 w 6800"/>
              <a:gd name="sh" fmla="*/ 1 h 6605"/>
              <a:gd name="mins" fmla="min sw sh"/>
              <a:gd name="dsw" fmla="+- 0 sw mins"/>
              <a:gd name="dsh" fmla="+- 0 sh mins"/>
              <a:gd name="p0x0" fmla="*/ 120 w 6800"/>
              <a:gd name="p0y0" fmla="*/ 0 h 6605"/>
              <a:gd name="p0x1" fmla="*/ 6680 w 6800"/>
              <a:gd name="p0y1" fmla="*/ 0 h 6605"/>
              <a:gd name="p0x2" fmla="*/ 6747 w 6800"/>
              <a:gd name="p0y2" fmla="*/ 0 h 6605"/>
              <a:gd name="p0x3" fmla="*/ 6800 w 6800"/>
              <a:gd name="p0y3" fmla="*/ 53 h 6605"/>
              <a:gd name="p0x4" fmla="*/ 6800 w 6800"/>
              <a:gd name="p0y4" fmla="*/ 120 h 6605"/>
              <a:gd name="p0x5" fmla="*/ 6800 w 6800"/>
              <a:gd name="p0y5" fmla="*/ 6485 h 6605"/>
              <a:gd name="p0x6" fmla="*/ 6800 w 6800"/>
              <a:gd name="p0y6" fmla="*/ 6551 h 6605"/>
              <a:gd name="p0x7" fmla="*/ 6747 w 6800"/>
              <a:gd name="p0y7" fmla="*/ 6605 h 6605"/>
              <a:gd name="p0x8" fmla="*/ 6680 w 6800"/>
              <a:gd name="p0y8" fmla="*/ 6605 h 6605"/>
              <a:gd name="p0x9" fmla="*/ 120 w 6800"/>
              <a:gd name="p0y9" fmla="*/ 6605 h 6605"/>
              <a:gd name="p0x10" fmla="*/ 53 w 6800"/>
              <a:gd name="p0y10" fmla="*/ 6605 h 6605"/>
              <a:gd name="p0x11" fmla="*/ 0 w 6800"/>
              <a:gd name="p0y11" fmla="*/ 6551 h 6605"/>
              <a:gd name="p0x12" fmla="*/ 0 w 6800"/>
              <a:gd name="p0y12" fmla="*/ 6485 h 6605"/>
              <a:gd name="p0x13" fmla="*/ 0 w 6800"/>
              <a:gd name="p0y13" fmla="*/ 120 h 6605"/>
              <a:gd name="p0x14" fmla="*/ 0 w 6800"/>
              <a:gd name="p0y14" fmla="*/ 53 h 6605"/>
              <a:gd name="p0x15" fmla="*/ 53 w 6800"/>
              <a:gd name="p0y15" fmla="*/ 0 h 6605"/>
              <a:gd name="p0x16" fmla="*/ 120 w 6800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38" name="任意多边形 7"/>
          <p:cNvSpPr/>
          <p:nvPr/>
        </p:nvSpPr>
        <p:spPr>
          <a:xfrm>
            <a:off x="771525" y="247269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39" name="文本框 8"/>
          <p:cNvSpPr txBox="1"/>
          <p:nvPr/>
        </p:nvSpPr>
        <p:spPr>
          <a:xfrm>
            <a:off x="771525" y="2561663"/>
            <a:ext cx="392809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巫瑞智教授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任意多边形 9"/>
          <p:cNvSpPr/>
          <p:nvPr/>
        </p:nvSpPr>
        <p:spPr>
          <a:xfrm>
            <a:off x="771525" y="3063240"/>
            <a:ext cx="1774190" cy="238125"/>
          </a:xfrm>
          <a:custGeom>
            <a:avLst/>
            <a:gdLst>
              <a:gd name="sw" fmla="*/ 1 w 2794"/>
              <a:gd name="sh" fmla="*/ 1 h 375"/>
              <a:gd name="mins" fmla="min sw sh"/>
              <a:gd name="dsw" fmla="+- 0 sw mins"/>
              <a:gd name="dsh" fmla="+- 0 sh mins"/>
              <a:gd name="p0x0" fmla="*/ 187 w 2794"/>
              <a:gd name="p0y0" fmla="*/ 0 h 375"/>
              <a:gd name="p0x1" fmla="*/ 2607 w 2794"/>
              <a:gd name="p0y1" fmla="*/ 0 h 375"/>
              <a:gd name="p0x2" fmla="*/ 2710 w 2794"/>
              <a:gd name="p0y2" fmla="*/ 0 h 375"/>
              <a:gd name="p0x3" fmla="*/ 2794 w 2794"/>
              <a:gd name="p0y3" fmla="*/ 83 h 375"/>
              <a:gd name="p0x4" fmla="*/ 2794 w 2794"/>
              <a:gd name="p0y4" fmla="*/ 187 h 375"/>
              <a:gd name="p0x5" fmla="*/ 2794 w 2794"/>
              <a:gd name="p0y5" fmla="*/ 291 h 375"/>
              <a:gd name="p0x6" fmla="*/ 2710 w 2794"/>
              <a:gd name="p0y6" fmla="*/ 375 h 375"/>
              <a:gd name="p0x7" fmla="*/ 2607 w 2794"/>
              <a:gd name="p0y7" fmla="*/ 375 h 375"/>
              <a:gd name="p0x8" fmla="*/ 187 w 2794"/>
              <a:gd name="p0y8" fmla="*/ 375 h 375"/>
              <a:gd name="p0x9" fmla="*/ 83 w 2794"/>
              <a:gd name="p0y9" fmla="*/ 375 h 375"/>
              <a:gd name="p0x10" fmla="*/ 0 w 2794"/>
              <a:gd name="p0y10" fmla="*/ 291 h 375"/>
              <a:gd name="p0x11" fmla="*/ 0 w 2794"/>
              <a:gd name="p0y11" fmla="*/ 187 h 375"/>
              <a:gd name="p0x12" fmla="*/ 0 w 2794"/>
              <a:gd name="p0y12" fmla="*/ 83 h 375"/>
              <a:gd name="p0x13" fmla="*/ 83 w 2794"/>
              <a:gd name="p0y13" fmla="*/ 0 h 375"/>
              <a:gd name="p0x14" fmla="*/ 187 w 2794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41" name="文本框 10"/>
          <p:cNvSpPr txBox="1"/>
          <p:nvPr/>
        </p:nvSpPr>
        <p:spPr>
          <a:xfrm>
            <a:off x="885825" y="3082680"/>
            <a:ext cx="169835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全球前</a:t>
            </a:r>
            <a:r>
              <a:rPr lang="en-US" altLang="zh-CN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2%</a:t>
            </a:r>
            <a:r>
              <a:rPr lang="zh-CN" altLang="en-US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顶尖科学家</a:t>
            </a:r>
            <a:endParaRPr lang="zh-CN" altLang="en-US"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2" name="文本框 11"/>
          <p:cNvSpPr txBox="1"/>
          <p:nvPr/>
        </p:nvSpPr>
        <p:spPr>
          <a:xfrm>
            <a:off x="771525" y="3789350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文本框 12"/>
          <p:cNvSpPr txBox="1"/>
          <p:nvPr/>
        </p:nvSpPr>
        <p:spPr>
          <a:xfrm>
            <a:off x="1023642" y="3915080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终身成就榜入选者</a:t>
            </a:r>
            <a:endParaRPr sz="1500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4" name="文本框 13"/>
          <p:cNvSpPr txBox="1"/>
          <p:nvPr/>
        </p:nvSpPr>
        <p:spPr>
          <a:xfrm>
            <a:off x="771525" y="4636922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14"/>
          <p:cNvSpPr txBox="1"/>
          <p:nvPr/>
        </p:nvSpPr>
        <p:spPr>
          <a:xfrm>
            <a:off x="1023642" y="4762652"/>
            <a:ext cx="2095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稀土科学技术奖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一等奖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文本框 15"/>
          <p:cNvSpPr txBox="1"/>
          <p:nvPr/>
        </p:nvSpPr>
        <p:spPr>
          <a:xfrm>
            <a:off x="771525" y="5484495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文本框 16"/>
          <p:cNvSpPr txBox="1"/>
          <p:nvPr/>
        </p:nvSpPr>
        <p:spPr>
          <a:xfrm>
            <a:off x="1023642" y="5610225"/>
            <a:ext cx="31425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国际镁科学与技术</a:t>
            </a: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年度青年奖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8" name="任意多边形 17"/>
          <p:cNvSpPr/>
          <p:nvPr/>
        </p:nvSpPr>
        <p:spPr>
          <a:xfrm>
            <a:off x="5132705" y="2277745"/>
            <a:ext cx="6482715" cy="4194175"/>
          </a:xfrm>
          <a:custGeom>
            <a:avLst/>
            <a:gdLst>
              <a:gd name="sw" fmla="*/ 1 w 10209"/>
              <a:gd name="sh" fmla="*/ 1 h 6605"/>
              <a:gd name="mins" fmla="min sw sh"/>
              <a:gd name="dsw" fmla="+- 0 sw mins"/>
              <a:gd name="dsh" fmla="+- 0 sh mins"/>
              <a:gd name="p0x0" fmla="*/ 120 w 10209"/>
              <a:gd name="p0y0" fmla="*/ 0 h 6605"/>
              <a:gd name="p0x1" fmla="*/ 10089 w 10209"/>
              <a:gd name="p0y1" fmla="*/ 0 h 6605"/>
              <a:gd name="p0x2" fmla="*/ 10155 w 10209"/>
              <a:gd name="p0y2" fmla="*/ 0 h 6605"/>
              <a:gd name="p0x3" fmla="*/ 10209 w 10209"/>
              <a:gd name="p0y3" fmla="*/ 53 h 6605"/>
              <a:gd name="p0x4" fmla="*/ 10209 w 10209"/>
              <a:gd name="p0y4" fmla="*/ 120 h 6605"/>
              <a:gd name="p0x5" fmla="*/ 10209 w 10209"/>
              <a:gd name="p0y5" fmla="*/ 6485 h 6605"/>
              <a:gd name="p0x6" fmla="*/ 10209 w 10209"/>
              <a:gd name="p0y6" fmla="*/ 6551 h 6605"/>
              <a:gd name="p0x7" fmla="*/ 10155 w 10209"/>
              <a:gd name="p0y7" fmla="*/ 6605 h 6605"/>
              <a:gd name="p0x8" fmla="*/ 10089 w 10209"/>
              <a:gd name="p0y8" fmla="*/ 6605 h 6605"/>
              <a:gd name="p0x9" fmla="*/ 120 w 10209"/>
              <a:gd name="p0y9" fmla="*/ 6605 h 6605"/>
              <a:gd name="p0x10" fmla="*/ 53 w 10209"/>
              <a:gd name="p0y10" fmla="*/ 6605 h 6605"/>
              <a:gd name="p0x11" fmla="*/ 0 w 10209"/>
              <a:gd name="p0y11" fmla="*/ 6551 h 6605"/>
              <a:gd name="p0x12" fmla="*/ 0 w 10209"/>
              <a:gd name="p0y12" fmla="*/ 6485 h 6605"/>
              <a:gd name="p0x13" fmla="*/ 0 w 10209"/>
              <a:gd name="p0y13" fmla="*/ 120 h 6605"/>
              <a:gd name="p0x14" fmla="*/ 0 w 10209"/>
              <a:gd name="p0y14" fmla="*/ 53 h 6605"/>
              <a:gd name="p0x15" fmla="*/ 53 w 10209"/>
              <a:gd name="p0y15" fmla="*/ 0 h 6605"/>
              <a:gd name="p0x16" fmla="*/ 120 w 10209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549" name="组合 49"/>
          <p:cNvGrpSpPr/>
          <p:nvPr/>
        </p:nvGrpSpPr>
        <p:grpSpPr>
          <a:xfrm>
            <a:off x="5327650" y="2472690"/>
            <a:ext cx="6092190" cy="428625"/>
            <a:chOff x="8390" y="3894"/>
            <a:chExt cx="9594" cy="675"/>
          </a:xfrm>
        </p:grpSpPr>
        <p:sp>
          <p:nvSpPr>
            <p:cNvPr id="550" name="任意多边形 18"/>
            <p:cNvSpPr/>
            <p:nvPr/>
          </p:nvSpPr>
          <p:spPr>
            <a:xfrm>
              <a:off x="8390" y="3894"/>
              <a:ext cx="9595" cy="675"/>
            </a:xfrm>
            <a:custGeom>
              <a:avLst/>
              <a:gdLst>
                <a:gd name="sw" fmla="*/ 1 w 9594"/>
                <a:gd name="sh" fmla="*/ 1 h 675"/>
                <a:gd name="mins" fmla="min sw sh"/>
                <a:gd name="dsw" fmla="+- 0 sw mins"/>
                <a:gd name="dsh" fmla="+- 0 sh mins"/>
                <a:gd name="p0x0" fmla="*/ 0 w 9594"/>
                <a:gd name="p0y0" fmla="*/ 0 h 675"/>
                <a:gd name="p0x1" fmla="*/ 9594 w 9594"/>
                <a:gd name="p0y1" fmla="*/ 0 h 675"/>
                <a:gd name="p0x2" fmla="*/ 9594 w 9594"/>
                <a:gd name="p0y2" fmla="*/ 675 h 675"/>
                <a:gd name="p0x3" fmla="*/ 0 w 9594"/>
                <a:gd name="p0y3" fmla="*/ 675 h 675"/>
                <a:gd name="p0x4" fmla="*/ 0 w 9594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551" name="任意多边形 19"/>
            <p:cNvSpPr/>
            <p:nvPr/>
          </p:nvSpPr>
          <p:spPr>
            <a:xfrm>
              <a:off x="8390" y="4539"/>
              <a:ext cx="9595" cy="30"/>
            </a:xfrm>
            <a:custGeom>
              <a:avLst/>
              <a:gdLst>
                <a:gd name="sw" fmla="*/ 1 w 9594"/>
                <a:gd name="sh" fmla="*/ 1 h 30"/>
                <a:gd name="mins" fmla="min sw sh"/>
                <a:gd name="dsw" fmla="+- 0 sw mins"/>
                <a:gd name="dsh" fmla="+- 0 sh mins"/>
                <a:gd name="p0x0" fmla="*/ 9594 w 9594"/>
                <a:gd name="p0y0" fmla="*/ 30 h 30"/>
                <a:gd name="p0x1" fmla="*/ 0 w 9594"/>
                <a:gd name="p0y1" fmla="*/ 30 h 30"/>
                <a:gd name="p0x2" fmla="*/ 0 w 9594"/>
                <a:gd name="p0y2" fmla="*/ 0 h 30"/>
                <a:gd name="p0x3" fmla="*/ 9594 w 9594"/>
                <a:gd name="p0y3" fmla="*/ 0 h 30"/>
                <a:gd name="p0x4" fmla="*/ 9594 w 9594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552" name="矩形 21"/>
          <p:cNvSpPr/>
          <p:nvPr/>
        </p:nvSpPr>
        <p:spPr>
          <a:xfrm>
            <a:off x="5327650" y="2506345"/>
            <a:ext cx="266700" cy="2667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553" name="图片 22" descr="07c31fea-c2fc-11f1-8d6b-fef66d069c42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404" t="-47" r="404" b="47"/>
          <a:stretch>
            <a:fillRect/>
          </a:stretch>
        </p:blipFill>
        <p:spPr>
          <a:xfrm>
            <a:off x="5384800" y="2563495"/>
            <a:ext cx="152400" cy="152400"/>
          </a:xfrm>
          <a:prstGeom prst="rect">
            <a:avLst/>
          </a:prstGeom>
        </p:spPr>
      </p:pic>
      <p:sp>
        <p:nvSpPr>
          <p:cNvPr id="554" name="文本框 25"/>
          <p:cNvSpPr txBox="1"/>
          <p:nvPr/>
        </p:nvSpPr>
        <p:spPr>
          <a:xfrm>
            <a:off x="5709266" y="245688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学科平台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5" name="文本框 26"/>
          <p:cNvSpPr txBox="1"/>
          <p:nvPr/>
        </p:nvSpPr>
        <p:spPr>
          <a:xfrm>
            <a:off x="5328266" y="3039818"/>
            <a:ext cx="60922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材料科学与工程学科，依托超轻材料与表面技术教育部重点实验室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6" name="组合 50"/>
          <p:cNvGrpSpPr/>
          <p:nvPr/>
        </p:nvGrpSpPr>
        <p:grpSpPr>
          <a:xfrm>
            <a:off x="5327650" y="3510915"/>
            <a:ext cx="6092190" cy="428625"/>
            <a:chOff x="8390" y="5529"/>
            <a:chExt cx="9594" cy="675"/>
          </a:xfrm>
        </p:grpSpPr>
        <p:sp>
          <p:nvSpPr>
            <p:cNvPr id="557" name="任意多边形 27"/>
            <p:cNvSpPr/>
            <p:nvPr/>
          </p:nvSpPr>
          <p:spPr>
            <a:xfrm>
              <a:off x="8390" y="5529"/>
              <a:ext cx="9595" cy="675"/>
            </a:xfrm>
            <a:custGeom>
              <a:avLst/>
              <a:gdLst>
                <a:gd name="sw" fmla="*/ 1 w 9594"/>
                <a:gd name="sh" fmla="*/ 1 h 675"/>
                <a:gd name="mins" fmla="min sw sh"/>
                <a:gd name="dsw" fmla="+- 0 sw mins"/>
                <a:gd name="dsh" fmla="+- 0 sh mins"/>
                <a:gd name="p0x0" fmla="*/ 0 w 9594"/>
                <a:gd name="p0y0" fmla="*/ 0 h 675"/>
                <a:gd name="p0x1" fmla="*/ 9594 w 9594"/>
                <a:gd name="p0y1" fmla="*/ 0 h 675"/>
                <a:gd name="p0x2" fmla="*/ 9594 w 9594"/>
                <a:gd name="p0y2" fmla="*/ 675 h 675"/>
                <a:gd name="p0x3" fmla="*/ 0 w 9594"/>
                <a:gd name="p0y3" fmla="*/ 675 h 675"/>
                <a:gd name="p0x4" fmla="*/ 0 w 9594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558" name="任意多边形 28"/>
            <p:cNvSpPr/>
            <p:nvPr/>
          </p:nvSpPr>
          <p:spPr>
            <a:xfrm>
              <a:off x="8390" y="6174"/>
              <a:ext cx="9595" cy="30"/>
            </a:xfrm>
            <a:custGeom>
              <a:avLst/>
              <a:gdLst>
                <a:gd name="sw" fmla="*/ 1 w 9594"/>
                <a:gd name="sh" fmla="*/ 1 h 30"/>
                <a:gd name="mins" fmla="min sw sh"/>
                <a:gd name="dsw" fmla="+- 0 sw mins"/>
                <a:gd name="dsh" fmla="+- 0 sh mins"/>
                <a:gd name="p0x0" fmla="*/ 9594 w 9594"/>
                <a:gd name="p0y0" fmla="*/ 30 h 30"/>
                <a:gd name="p0x1" fmla="*/ 0 w 9594"/>
                <a:gd name="p0y1" fmla="*/ 30 h 30"/>
                <a:gd name="p0x2" fmla="*/ 0 w 9594"/>
                <a:gd name="p0y2" fmla="*/ 0 h 30"/>
                <a:gd name="p0x3" fmla="*/ 9594 w 9594"/>
                <a:gd name="p0y3" fmla="*/ 0 h 30"/>
                <a:gd name="p0x4" fmla="*/ 9594 w 9594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559" name="矩形 30"/>
          <p:cNvSpPr/>
          <p:nvPr/>
        </p:nvSpPr>
        <p:spPr>
          <a:xfrm>
            <a:off x="5327650" y="3544570"/>
            <a:ext cx="266700" cy="2667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560" name="图片 31" descr="07c32073-c2fc-11f1-8d6b-fef66d069c4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404" t="-47" r="404" b="47"/>
          <a:stretch>
            <a:fillRect/>
          </a:stretch>
        </p:blipFill>
        <p:spPr>
          <a:xfrm>
            <a:off x="5384800" y="3601720"/>
            <a:ext cx="152400" cy="152400"/>
          </a:xfrm>
          <a:prstGeom prst="rect">
            <a:avLst/>
          </a:prstGeom>
        </p:spPr>
      </p:pic>
      <p:sp>
        <p:nvSpPr>
          <p:cNvPr id="561" name="文本框 34"/>
          <p:cNvSpPr txBox="1"/>
          <p:nvPr/>
        </p:nvSpPr>
        <p:spPr>
          <a:xfrm>
            <a:off x="5709266" y="3495113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学术影响力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2" name="任意多边形 35"/>
          <p:cNvSpPr/>
          <p:nvPr/>
        </p:nvSpPr>
        <p:spPr>
          <a:xfrm>
            <a:off x="5327650" y="409194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63" name="文本框 36"/>
          <p:cNvSpPr txBox="1"/>
          <p:nvPr/>
        </p:nvSpPr>
        <p:spPr>
          <a:xfrm>
            <a:off x="5404466" y="4219880"/>
            <a:ext cx="537820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ESI</a:t>
            </a:r>
            <a:r>
              <a:rPr 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热点论文</a:t>
            </a:r>
            <a:endParaRPr lang="zh-CN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4" name="文本框 37"/>
          <p:cNvSpPr txBox="1"/>
          <p:nvPr/>
        </p:nvSpPr>
        <p:spPr>
          <a:xfrm>
            <a:off x="10896971" y="4138984"/>
            <a:ext cx="618754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5" name="文本框 38"/>
          <p:cNvSpPr txBox="1"/>
          <p:nvPr/>
        </p:nvSpPr>
        <p:spPr>
          <a:xfrm>
            <a:off x="11153775" y="4281859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sz="1500" b="1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任意多边形 39"/>
          <p:cNvSpPr/>
          <p:nvPr/>
        </p:nvSpPr>
        <p:spPr>
          <a:xfrm>
            <a:off x="5327650" y="472821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67" name="文本框 40"/>
          <p:cNvSpPr txBox="1"/>
          <p:nvPr/>
        </p:nvSpPr>
        <p:spPr>
          <a:xfrm>
            <a:off x="5404466" y="4856045"/>
            <a:ext cx="514045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高被引论文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文本框 41"/>
          <p:cNvSpPr txBox="1"/>
          <p:nvPr/>
        </p:nvSpPr>
        <p:spPr>
          <a:xfrm>
            <a:off x="10659218" y="4775149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文本框 42"/>
          <p:cNvSpPr txBox="1"/>
          <p:nvPr/>
        </p:nvSpPr>
        <p:spPr>
          <a:xfrm>
            <a:off x="11153775" y="4918024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sz="1500" b="1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任意多边形 43"/>
          <p:cNvSpPr/>
          <p:nvPr/>
        </p:nvSpPr>
        <p:spPr>
          <a:xfrm>
            <a:off x="5327650" y="536448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71" name="文本框 44"/>
          <p:cNvSpPr txBox="1"/>
          <p:nvPr/>
        </p:nvSpPr>
        <p:spPr>
          <a:xfrm>
            <a:off x="5404466" y="5492210"/>
            <a:ext cx="535000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因子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2" name="文本框 45"/>
          <p:cNvSpPr txBox="1"/>
          <p:nvPr/>
        </p:nvSpPr>
        <p:spPr>
          <a:xfrm>
            <a:off x="10868768" y="5411314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53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任意多边形 46"/>
          <p:cNvSpPr/>
          <p:nvPr/>
        </p:nvSpPr>
        <p:spPr>
          <a:xfrm>
            <a:off x="5327650" y="6038850"/>
            <a:ext cx="875030" cy="238125"/>
          </a:xfrm>
          <a:custGeom>
            <a:avLst/>
            <a:gdLst>
              <a:gd name="sw" fmla="*/ 1 w 1377"/>
              <a:gd name="sh" fmla="*/ 1 h 375"/>
              <a:gd name="mins" fmla="min sw sh"/>
              <a:gd name="dsw" fmla="+- 0 sw mins"/>
              <a:gd name="dsh" fmla="+- 0 sh mins"/>
              <a:gd name="p0x0" fmla="*/ 187 w 1377"/>
              <a:gd name="p0y0" fmla="*/ 0 h 375"/>
              <a:gd name="p0x1" fmla="*/ 1190 w 1377"/>
              <a:gd name="p0y1" fmla="*/ 0 h 375"/>
              <a:gd name="p0x2" fmla="*/ 1293 w 1377"/>
              <a:gd name="p0y2" fmla="*/ 0 h 375"/>
              <a:gd name="p0x3" fmla="*/ 1377 w 1377"/>
              <a:gd name="p0y3" fmla="*/ 83 h 375"/>
              <a:gd name="p0x4" fmla="*/ 1377 w 1377"/>
              <a:gd name="p0y4" fmla="*/ 187 h 375"/>
              <a:gd name="p0x5" fmla="*/ 1377 w 1377"/>
              <a:gd name="p0y5" fmla="*/ 291 h 375"/>
              <a:gd name="p0x6" fmla="*/ 1293 w 1377"/>
              <a:gd name="p0y6" fmla="*/ 375 h 375"/>
              <a:gd name="p0x7" fmla="*/ 1190 w 1377"/>
              <a:gd name="p0y7" fmla="*/ 375 h 375"/>
              <a:gd name="p0x8" fmla="*/ 187 w 1377"/>
              <a:gd name="p0y8" fmla="*/ 375 h 375"/>
              <a:gd name="p0x9" fmla="*/ 83 w 1377"/>
              <a:gd name="p0y9" fmla="*/ 375 h 375"/>
              <a:gd name="p0x10" fmla="*/ 0 w 1377"/>
              <a:gd name="p0y10" fmla="*/ 291 h 375"/>
              <a:gd name="p0x11" fmla="*/ 0 w 1377"/>
              <a:gd name="p0y11" fmla="*/ 187 h 375"/>
              <a:gd name="p0x12" fmla="*/ 0 w 1377"/>
              <a:gd name="p0y12" fmla="*/ 83 h 375"/>
              <a:gd name="p0x13" fmla="*/ 83 w 1377"/>
              <a:gd name="p0y13" fmla="*/ 0 h 375"/>
              <a:gd name="p0x14" fmla="*/ 187 w 1377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74" name="文本框 47"/>
          <p:cNvSpPr txBox="1"/>
          <p:nvPr/>
        </p:nvSpPr>
        <p:spPr>
          <a:xfrm>
            <a:off x="5442566" y="6057900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指导教师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5" name="文本框 48"/>
          <p:cNvSpPr txBox="1"/>
          <p:nvPr/>
        </p:nvSpPr>
        <p:spPr>
          <a:xfrm>
            <a:off x="6279280" y="6036945"/>
            <a:ext cx="20574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巫瑞智、张万顺、侯乐干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 idx="16385"/>
          </p:nvPr>
        </p:nvSpPr>
        <p:spPr>
          <a:xfrm>
            <a:off x="1016000" y="2667000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背景与灵感</a:t>
            </a:r>
            <a:endParaRPr lang="zh-CN" altLang="en-US"/>
          </a:p>
        </p:txBody>
      </p:sp>
      <p:sp>
        <p:nvSpPr>
          <p:cNvPr id="7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041400"/>
            <a:ext cx="1527175" cy="1524000"/>
          </a:xfrm>
        </p:spPr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8" name="文本框 4"/>
          <p:cNvSpPr txBox="1"/>
          <p:nvPr/>
        </p:nvSpPr>
        <p:spPr>
          <a:xfrm>
            <a:off x="1016000" y="34905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灵感藏在生活的细节里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一个弹球小游戏，打开电磁屏蔽新思路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航空设备的电磁干扰之困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pic>
        <p:nvPicPr>
          <p:cNvPr id="11" name="图片 3" descr="07580dda-c2fc-11f1-b04d-36608a3e704b"/>
          <p:cNvPicPr>
            <a:picLocks noChangeAspect="1"/>
          </p:cNvPicPr>
          <p:nvPr/>
        </p:nvPicPr>
        <p:blipFill>
          <a:blip r:embed="rId1"/>
          <a:srcRect l="17" r="25"/>
          <a:stretch>
            <a:fillRect/>
          </a:stretch>
        </p:blipFill>
        <p:spPr>
          <a:xfrm>
            <a:off x="571500" y="1104900"/>
            <a:ext cx="7007860" cy="53721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036" h="8460">
                <a:moveTo>
                  <a:pt x="0" y="0"/>
                </a:moveTo>
                <a:lnTo>
                  <a:pt x="11036" y="0"/>
                </a:lnTo>
                <a:lnTo>
                  <a:pt x="11036" y="8460"/>
                </a:lnTo>
                <a:lnTo>
                  <a:pt x="0" y="84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2" name="任意多边形 6"/>
          <p:cNvSpPr/>
          <p:nvPr/>
        </p:nvSpPr>
        <p:spPr>
          <a:xfrm>
            <a:off x="7851140" y="1109345"/>
            <a:ext cx="3764280" cy="5362575"/>
          </a:xfrm>
          <a:custGeom>
            <a:avLst/>
            <a:gdLst>
              <a:gd name="sw" fmla="*/ 1 w 5927"/>
              <a:gd name="sh" fmla="*/ 1 h 8445"/>
              <a:gd name="mins" fmla="min sw sh"/>
              <a:gd name="dsw" fmla="+- 0 sw mins"/>
              <a:gd name="dsh" fmla="+- 0 sh mins"/>
              <a:gd name="p0x0" fmla="*/ 60 w 5927"/>
              <a:gd name="p0y0" fmla="*/ 0 h 8445"/>
              <a:gd name="p0x1" fmla="*/ 5867 w 5927"/>
              <a:gd name="p0y1" fmla="*/ 0 h 8445"/>
              <a:gd name="p0x2" fmla="*/ 5901 w 5927"/>
              <a:gd name="p0y2" fmla="*/ 0 h 8445"/>
              <a:gd name="p0x3" fmla="*/ 5927 w 5927"/>
              <a:gd name="p0y3" fmla="*/ 26 h 8445"/>
              <a:gd name="p0x4" fmla="*/ 5927 w 5927"/>
              <a:gd name="p0y4" fmla="*/ 60 h 8445"/>
              <a:gd name="p0x5" fmla="*/ 5927 w 5927"/>
              <a:gd name="p0y5" fmla="*/ 8385 h 8445"/>
              <a:gd name="p0x6" fmla="*/ 5927 w 5927"/>
              <a:gd name="p0y6" fmla="*/ 8418 h 8445"/>
              <a:gd name="p0x7" fmla="*/ 5901 w 5927"/>
              <a:gd name="p0y7" fmla="*/ 8445 h 8445"/>
              <a:gd name="p0x8" fmla="*/ 5867 w 5927"/>
              <a:gd name="p0y8" fmla="*/ 8445 h 8445"/>
              <a:gd name="p0x9" fmla="*/ 60 w 5927"/>
              <a:gd name="p0y9" fmla="*/ 8445 h 8445"/>
              <a:gd name="p0x10" fmla="*/ 26 w 5927"/>
              <a:gd name="p0y10" fmla="*/ 8445 h 8445"/>
              <a:gd name="p0x11" fmla="*/ 0 w 5927"/>
              <a:gd name="p0y11" fmla="*/ 8418 h 8445"/>
              <a:gd name="p0x12" fmla="*/ 0 w 5927"/>
              <a:gd name="p0y12" fmla="*/ 8385 h 8445"/>
              <a:gd name="p0x13" fmla="*/ 0 w 5927"/>
              <a:gd name="p0y13" fmla="*/ 60 h 8445"/>
              <a:gd name="p0x14" fmla="*/ 0 w 5927"/>
              <a:gd name="p0y14" fmla="*/ 26 h 8445"/>
              <a:gd name="p0x15" fmla="*/ 26 w 5927"/>
              <a:gd name="p0y15" fmla="*/ 0 h 8445"/>
              <a:gd name="p0x16" fmla="*/ 60 w 592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8046692" y="1288732"/>
            <a:ext cx="337370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电磁屏蔽的困局与破局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8"/>
          <p:cNvSpPr/>
          <p:nvPr/>
        </p:nvSpPr>
        <p:spPr>
          <a:xfrm>
            <a:off x="8046085" y="175260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" name="文本框 9"/>
          <p:cNvSpPr txBox="1"/>
          <p:nvPr/>
        </p:nvSpPr>
        <p:spPr>
          <a:xfrm>
            <a:off x="8089773" y="1812608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0"/>
          <p:cNvSpPr txBox="1"/>
          <p:nvPr/>
        </p:nvSpPr>
        <p:spPr>
          <a:xfrm>
            <a:off x="8114852" y="2200275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用途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1"/>
          <p:cNvSpPr txBox="1"/>
          <p:nvPr/>
        </p:nvSpPr>
        <p:spPr>
          <a:xfrm>
            <a:off x="8580092" y="1738313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电磁屏蔽用途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2"/>
          <p:cNvSpPr txBox="1"/>
          <p:nvPr/>
        </p:nvSpPr>
        <p:spPr>
          <a:xfrm>
            <a:off x="8580092" y="2001526"/>
            <a:ext cx="2840307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解决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电磁泄漏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电磁干扰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，在信息安全、航空航天、民用设备领域都是研发重点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3"/>
          <p:cNvSpPr/>
          <p:nvPr/>
        </p:nvSpPr>
        <p:spPr>
          <a:xfrm>
            <a:off x="8046085" y="291211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0" name="文本框 14"/>
          <p:cNvSpPr txBox="1"/>
          <p:nvPr/>
        </p:nvSpPr>
        <p:spPr>
          <a:xfrm>
            <a:off x="8089773" y="2972276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15"/>
          <p:cNvSpPr txBox="1"/>
          <p:nvPr/>
        </p:nvSpPr>
        <p:spPr>
          <a:xfrm>
            <a:off x="8114852" y="3359944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危害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8580092" y="3008262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电磁波危害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17"/>
          <p:cNvSpPr txBox="1"/>
          <p:nvPr/>
        </p:nvSpPr>
        <p:spPr>
          <a:xfrm>
            <a:off x="8580092" y="3283534"/>
            <a:ext cx="282900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外层空间复杂电磁波环境会造成设备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精度下降、错误操作乃至系统崩溃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18"/>
          <p:cNvSpPr/>
          <p:nvPr/>
        </p:nvSpPr>
        <p:spPr>
          <a:xfrm>
            <a:off x="8046085" y="407162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" name="文本框 19"/>
          <p:cNvSpPr txBox="1"/>
          <p:nvPr/>
        </p:nvSpPr>
        <p:spPr>
          <a:xfrm>
            <a:off x="8089773" y="4131945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0"/>
          <p:cNvSpPr txBox="1"/>
          <p:nvPr/>
        </p:nvSpPr>
        <p:spPr>
          <a:xfrm>
            <a:off x="8114852" y="4519613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1"/>
          <p:cNvSpPr txBox="1"/>
          <p:nvPr/>
        </p:nvSpPr>
        <p:spPr>
          <a:xfrm>
            <a:off x="8580092" y="4057650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传统材料痛点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2"/>
          <p:cNvSpPr txBox="1"/>
          <p:nvPr/>
        </p:nvSpPr>
        <p:spPr>
          <a:xfrm>
            <a:off x="8580092" y="4320864"/>
            <a:ext cx="2743352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常用金属基屏蔽材料以铁、银、镍、铜、铝为代表，屏蔽性能优异但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重量不够轻、加工性差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3"/>
          <p:cNvSpPr/>
          <p:nvPr/>
        </p:nvSpPr>
        <p:spPr>
          <a:xfrm>
            <a:off x="8046085" y="5231130"/>
            <a:ext cx="419100" cy="104584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0" name="文本框 24"/>
          <p:cNvSpPr txBox="1"/>
          <p:nvPr/>
        </p:nvSpPr>
        <p:spPr>
          <a:xfrm>
            <a:off x="8089773" y="5291614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25"/>
          <p:cNvSpPr txBox="1"/>
          <p:nvPr/>
        </p:nvSpPr>
        <p:spPr>
          <a:xfrm>
            <a:off x="8114852" y="5679281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方向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26"/>
          <p:cNvSpPr txBox="1"/>
          <p:nvPr/>
        </p:nvSpPr>
        <p:spPr>
          <a:xfrm>
            <a:off x="8580092" y="5217319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镁锂合金方向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27"/>
          <p:cNvSpPr txBox="1"/>
          <p:nvPr/>
        </p:nvSpPr>
        <p:spPr>
          <a:xfrm>
            <a:off x="8580092" y="5480533"/>
            <a:ext cx="2840307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世界上最轻的金属结构材料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，是理想选材，但工程应用需协同提高功能、结构、工艺三方面性能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弹球游戏撞开新思路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36" name="文本框 3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如果在材料内部设置一道道墙壁，电磁波就会在反复反射中不断损耗</a:t>
            </a:r>
            <a:endParaRPr sz="1500">
              <a:solidFill>
                <a:schemeClr val="tx1"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4"/>
          <p:cNvSpPr/>
          <p:nvPr/>
        </p:nvSpPr>
        <p:spPr>
          <a:xfrm>
            <a:off x="571500" y="1447800"/>
            <a:ext cx="11049000" cy="877570"/>
          </a:xfrm>
          <a:custGeom>
            <a:avLst/>
            <a:gdLst>
              <a:gd name="sw" fmla="*/ 1 w 17400"/>
              <a:gd name="sh" fmla="*/ 1 h 1382"/>
              <a:gd name="mins" fmla="min sw sh"/>
              <a:gd name="dsw" fmla="+- 0 sw mins"/>
              <a:gd name="dsh" fmla="+- 0 sh mins"/>
              <a:gd name="p0x0" fmla="*/ 60 w 17400"/>
              <a:gd name="p0y0" fmla="*/ 0 h 1382"/>
              <a:gd name="p0x1" fmla="*/ 17340 w 17400"/>
              <a:gd name="p0y1" fmla="*/ 0 h 1382"/>
              <a:gd name="p0x2" fmla="*/ 17373 w 17400"/>
              <a:gd name="p0y2" fmla="*/ 0 h 1382"/>
              <a:gd name="p0x3" fmla="*/ 17400 w 17400"/>
              <a:gd name="p0y3" fmla="*/ 26 h 1382"/>
              <a:gd name="p0x4" fmla="*/ 17400 w 17400"/>
              <a:gd name="p0y4" fmla="*/ 60 h 1382"/>
              <a:gd name="p0x5" fmla="*/ 17400 w 17400"/>
              <a:gd name="p0y5" fmla="*/ 1322 h 1382"/>
              <a:gd name="p0x6" fmla="*/ 17400 w 17400"/>
              <a:gd name="p0y6" fmla="*/ 1355 h 1382"/>
              <a:gd name="p0x7" fmla="*/ 17373 w 17400"/>
              <a:gd name="p0y7" fmla="*/ 1382 h 1382"/>
              <a:gd name="p0x8" fmla="*/ 17340 w 17400"/>
              <a:gd name="p0y8" fmla="*/ 1382 h 1382"/>
              <a:gd name="p0x9" fmla="*/ 60 w 17400"/>
              <a:gd name="p0y9" fmla="*/ 1382 h 1382"/>
              <a:gd name="p0x10" fmla="*/ 26 w 17400"/>
              <a:gd name="p0y10" fmla="*/ 1382 h 1382"/>
              <a:gd name="p0x11" fmla="*/ 0 w 17400"/>
              <a:gd name="p0y11" fmla="*/ 1355 h 1382"/>
              <a:gd name="p0x12" fmla="*/ 0 w 17400"/>
              <a:gd name="p0y12" fmla="*/ 1322 h 1382"/>
              <a:gd name="p0x13" fmla="*/ 0 w 17400"/>
              <a:gd name="p0y13" fmla="*/ 60 h 1382"/>
              <a:gd name="p0x14" fmla="*/ 0 w 17400"/>
              <a:gd name="p0y14" fmla="*/ 26 h 1382"/>
              <a:gd name="p0x15" fmla="*/ 26 w 17400"/>
              <a:gd name="p0y15" fmla="*/ 0 h 1382"/>
              <a:gd name="p0x16" fmla="*/ 60 w 17400"/>
              <a:gd name="p0y16" fmla="*/ 0 h 1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8" name="文本框 5"/>
          <p:cNvSpPr txBox="1"/>
          <p:nvPr/>
        </p:nvSpPr>
        <p:spPr>
          <a:xfrm>
            <a:off x="762000" y="1728578"/>
            <a:ext cx="7086753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灵感来自游戏，原理归于物理</a:t>
            </a:r>
            <a:r>
              <a:rPr lang="en-US" altLang="zh-CN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让电磁波在</a:t>
            </a: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反复反射中自然消减</a:t>
            </a:r>
            <a:endParaRPr b="1">
              <a:solidFill>
                <a:srgbClr val="55D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6"/>
          <p:cNvSpPr/>
          <p:nvPr/>
        </p:nvSpPr>
        <p:spPr>
          <a:xfrm>
            <a:off x="5759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120 w 8505"/>
              <a:gd name="p0y0" fmla="*/ 0 h 6162"/>
              <a:gd name="p0x1" fmla="*/ 8385 w 8505"/>
              <a:gd name="p0y1" fmla="*/ 0 h 6162"/>
              <a:gd name="p0x2" fmla="*/ 8451 w 8505"/>
              <a:gd name="p0y2" fmla="*/ 0 h 6162"/>
              <a:gd name="p0x3" fmla="*/ 8505 w 8505"/>
              <a:gd name="p0y3" fmla="*/ 53 h 6162"/>
              <a:gd name="p0x4" fmla="*/ 8505 w 8505"/>
              <a:gd name="p0y4" fmla="*/ 120 h 6162"/>
              <a:gd name="p0x5" fmla="*/ 8505 w 8505"/>
              <a:gd name="p0y5" fmla="*/ 6042 h 6162"/>
              <a:gd name="p0x6" fmla="*/ 8505 w 8505"/>
              <a:gd name="p0y6" fmla="*/ 6108 h 6162"/>
              <a:gd name="p0x7" fmla="*/ 8451 w 8505"/>
              <a:gd name="p0y7" fmla="*/ 6162 h 6162"/>
              <a:gd name="p0x8" fmla="*/ 8385 w 8505"/>
              <a:gd name="p0y8" fmla="*/ 6162 h 6162"/>
              <a:gd name="p0x9" fmla="*/ 120 w 8505"/>
              <a:gd name="p0y9" fmla="*/ 6162 h 6162"/>
              <a:gd name="p0x10" fmla="*/ 53 w 8505"/>
              <a:gd name="p0y10" fmla="*/ 6162 h 6162"/>
              <a:gd name="p0x11" fmla="*/ 0 w 8505"/>
              <a:gd name="p0y11" fmla="*/ 6108 h 6162"/>
              <a:gd name="p0x12" fmla="*/ 0 w 8505"/>
              <a:gd name="p0y12" fmla="*/ 6042 h 6162"/>
              <a:gd name="p0x13" fmla="*/ 0 w 8505"/>
              <a:gd name="p0y13" fmla="*/ 120 h 6162"/>
              <a:gd name="p0x14" fmla="*/ 0 w 8505"/>
              <a:gd name="p0y14" fmla="*/ 53 h 6162"/>
              <a:gd name="p0x15" fmla="*/ 53 w 8505"/>
              <a:gd name="p0y15" fmla="*/ 0 h 6162"/>
              <a:gd name="p0x16" fmla="*/ 12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0" name="任意多边形 7"/>
          <p:cNvSpPr/>
          <p:nvPr/>
        </p:nvSpPr>
        <p:spPr>
          <a:xfrm>
            <a:off x="695325" y="2677795"/>
            <a:ext cx="950595" cy="276225"/>
          </a:xfrm>
          <a:custGeom>
            <a:avLst/>
            <a:gdLst>
              <a:gd name="sw" fmla="*/ 1 w 1497"/>
              <a:gd name="sh" fmla="*/ 1 h 435"/>
              <a:gd name="mins" fmla="min sw sh"/>
              <a:gd name="dsw" fmla="+- 0 sw mins"/>
              <a:gd name="dsh" fmla="+- 0 sh mins"/>
              <a:gd name="p0x0" fmla="*/ 217 w 1497"/>
              <a:gd name="p0y0" fmla="*/ 0 h 435"/>
              <a:gd name="p0x1" fmla="*/ 1280 w 1497"/>
              <a:gd name="p0y1" fmla="*/ 0 h 435"/>
              <a:gd name="p0x2" fmla="*/ 1400 w 1497"/>
              <a:gd name="p0y2" fmla="*/ 0 h 435"/>
              <a:gd name="p0x3" fmla="*/ 1497 w 1497"/>
              <a:gd name="p0y3" fmla="*/ 97 h 435"/>
              <a:gd name="p0x4" fmla="*/ 1497 w 1497"/>
              <a:gd name="p0y4" fmla="*/ 217 h 435"/>
              <a:gd name="p0x5" fmla="*/ 1497 w 1497"/>
              <a:gd name="p0y5" fmla="*/ 337 h 435"/>
              <a:gd name="p0x6" fmla="*/ 1400 w 1497"/>
              <a:gd name="p0y6" fmla="*/ 435 h 435"/>
              <a:gd name="p0x7" fmla="*/ 1280 w 1497"/>
              <a:gd name="p0y7" fmla="*/ 435 h 435"/>
              <a:gd name="p0x8" fmla="*/ 217 w 1497"/>
              <a:gd name="p0y8" fmla="*/ 435 h 435"/>
              <a:gd name="p0x9" fmla="*/ 97 w 1497"/>
              <a:gd name="p0y9" fmla="*/ 435 h 435"/>
              <a:gd name="p0x10" fmla="*/ 0 w 1497"/>
              <a:gd name="p0y10" fmla="*/ 337 h 435"/>
              <a:gd name="p0x11" fmla="*/ 0 w 1497"/>
              <a:gd name="p0y11" fmla="*/ 217 h 435"/>
              <a:gd name="p0x12" fmla="*/ 0 w 1497"/>
              <a:gd name="p0y12" fmla="*/ 97 h 435"/>
              <a:gd name="p0x13" fmla="*/ 97 w 1497"/>
              <a:gd name="p0y13" fmla="*/ 0 h 435"/>
              <a:gd name="p0x14" fmla="*/ 217 w 149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1" name="文本框 8"/>
          <p:cNvSpPr txBox="1"/>
          <p:nvPr/>
        </p:nvSpPr>
        <p:spPr>
          <a:xfrm>
            <a:off x="847725" y="2716111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9"/>
          <p:cNvSpPr txBox="1"/>
          <p:nvPr/>
        </p:nvSpPr>
        <p:spPr>
          <a:xfrm>
            <a:off x="695325" y="3014243"/>
            <a:ext cx="51625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10"/>
          <p:cNvSpPr/>
          <p:nvPr/>
        </p:nvSpPr>
        <p:spPr>
          <a:xfrm>
            <a:off x="695325" y="3439795"/>
            <a:ext cx="51625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4" name="任意多边形 11"/>
          <p:cNvSpPr/>
          <p:nvPr/>
        </p:nvSpPr>
        <p:spPr>
          <a:xfrm>
            <a:off x="695325" y="3870960"/>
            <a:ext cx="5162550" cy="600075"/>
          </a:xfrm>
          <a:custGeom>
            <a:avLst/>
            <a:gdLst>
              <a:gd name="sw" fmla="*/ 1 w 8130"/>
              <a:gd name="sh" fmla="*/ 1 h 945"/>
              <a:gd name="mins" fmla="min sw sh"/>
              <a:gd name="dsw" fmla="+- 0 sw mins"/>
              <a:gd name="dsh" fmla="+- 0 sh mins"/>
              <a:gd name="p0x0" fmla="*/ 60 w 8130"/>
              <a:gd name="p0y0" fmla="*/ 0 h 945"/>
              <a:gd name="p0x1" fmla="*/ 8070 w 8130"/>
              <a:gd name="p0y1" fmla="*/ 0 h 945"/>
              <a:gd name="p0x2" fmla="*/ 8103 w 8130"/>
              <a:gd name="p0y2" fmla="*/ 0 h 945"/>
              <a:gd name="p0x3" fmla="*/ 8130 w 8130"/>
              <a:gd name="p0y3" fmla="*/ 26 h 945"/>
              <a:gd name="p0x4" fmla="*/ 8130 w 8130"/>
              <a:gd name="p0y4" fmla="*/ 60 h 945"/>
              <a:gd name="p0x5" fmla="*/ 8130 w 8130"/>
              <a:gd name="p0y5" fmla="*/ 885 h 945"/>
              <a:gd name="p0x6" fmla="*/ 8130 w 8130"/>
              <a:gd name="p0y6" fmla="*/ 918 h 945"/>
              <a:gd name="p0x7" fmla="*/ 8103 w 8130"/>
              <a:gd name="p0y7" fmla="*/ 945 h 945"/>
              <a:gd name="p0x8" fmla="*/ 8070 w 8130"/>
              <a:gd name="p0y8" fmla="*/ 945 h 945"/>
              <a:gd name="p0x9" fmla="*/ 60 w 8130"/>
              <a:gd name="p0y9" fmla="*/ 945 h 945"/>
              <a:gd name="p0x10" fmla="*/ 26 w 8130"/>
              <a:gd name="p0y10" fmla="*/ 945 h 945"/>
              <a:gd name="p0x11" fmla="*/ 0 w 8130"/>
              <a:gd name="p0y11" fmla="*/ 918 h 945"/>
              <a:gd name="p0x12" fmla="*/ 0 w 8130"/>
              <a:gd name="p0y12" fmla="*/ 885 h 945"/>
              <a:gd name="p0x13" fmla="*/ 0 w 8130"/>
              <a:gd name="p0y13" fmla="*/ 60 h 945"/>
              <a:gd name="p0x14" fmla="*/ 0 w 8130"/>
              <a:gd name="p0y14" fmla="*/ 26 h 945"/>
              <a:gd name="p0x15" fmla="*/ 26 w 8130"/>
              <a:gd name="p0y15" fmla="*/ 0 h 945"/>
              <a:gd name="p0x16" fmla="*/ 60 w 8130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5" name="任意多边形 12"/>
          <p:cNvSpPr/>
          <p:nvPr/>
        </p:nvSpPr>
        <p:spPr>
          <a:xfrm>
            <a:off x="847725" y="40138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46" name="图片 1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940435" y="4076065"/>
            <a:ext cx="156845" cy="213995"/>
          </a:xfrm>
          <a:prstGeom prst="rect">
            <a:avLst/>
          </a:prstGeom>
        </p:spPr>
      </p:pic>
      <p:sp>
        <p:nvSpPr>
          <p:cNvPr id="47" name="文本框 15"/>
          <p:cNvSpPr txBox="1"/>
          <p:nvPr/>
        </p:nvSpPr>
        <p:spPr>
          <a:xfrm>
            <a:off x="1304925" y="3971325"/>
            <a:ext cx="44005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团队负责人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郭政佑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从微信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弹球小游戏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中获得灵感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16"/>
          <p:cNvSpPr/>
          <p:nvPr/>
        </p:nvSpPr>
        <p:spPr>
          <a:xfrm>
            <a:off x="695325" y="4930775"/>
            <a:ext cx="5162550" cy="600075"/>
          </a:xfrm>
          <a:custGeom>
            <a:avLst/>
            <a:gdLst>
              <a:gd name="sw" fmla="*/ 1 w 8130"/>
              <a:gd name="sh" fmla="*/ 1 h 945"/>
              <a:gd name="mins" fmla="min sw sh"/>
              <a:gd name="dsw" fmla="+- 0 sw mins"/>
              <a:gd name="dsh" fmla="+- 0 sh mins"/>
              <a:gd name="p0x0" fmla="*/ 60 w 8130"/>
              <a:gd name="p0y0" fmla="*/ 0 h 945"/>
              <a:gd name="p0x1" fmla="*/ 8070 w 8130"/>
              <a:gd name="p0y1" fmla="*/ 0 h 945"/>
              <a:gd name="p0x2" fmla="*/ 8103 w 8130"/>
              <a:gd name="p0y2" fmla="*/ 0 h 945"/>
              <a:gd name="p0x3" fmla="*/ 8130 w 8130"/>
              <a:gd name="p0y3" fmla="*/ 26 h 945"/>
              <a:gd name="p0x4" fmla="*/ 8130 w 8130"/>
              <a:gd name="p0y4" fmla="*/ 60 h 945"/>
              <a:gd name="p0x5" fmla="*/ 8130 w 8130"/>
              <a:gd name="p0y5" fmla="*/ 885 h 945"/>
              <a:gd name="p0x6" fmla="*/ 8130 w 8130"/>
              <a:gd name="p0y6" fmla="*/ 918 h 945"/>
              <a:gd name="p0x7" fmla="*/ 8103 w 8130"/>
              <a:gd name="p0y7" fmla="*/ 945 h 945"/>
              <a:gd name="p0x8" fmla="*/ 8070 w 8130"/>
              <a:gd name="p0y8" fmla="*/ 945 h 945"/>
              <a:gd name="p0x9" fmla="*/ 60 w 8130"/>
              <a:gd name="p0y9" fmla="*/ 945 h 945"/>
              <a:gd name="p0x10" fmla="*/ 26 w 8130"/>
              <a:gd name="p0y10" fmla="*/ 945 h 945"/>
              <a:gd name="p0x11" fmla="*/ 0 w 8130"/>
              <a:gd name="p0y11" fmla="*/ 918 h 945"/>
              <a:gd name="p0x12" fmla="*/ 0 w 8130"/>
              <a:gd name="p0y12" fmla="*/ 885 h 945"/>
              <a:gd name="p0x13" fmla="*/ 0 w 8130"/>
              <a:gd name="p0y13" fmla="*/ 60 h 945"/>
              <a:gd name="p0x14" fmla="*/ 0 w 8130"/>
              <a:gd name="p0y14" fmla="*/ 26 h 945"/>
              <a:gd name="p0x15" fmla="*/ 26 w 8130"/>
              <a:gd name="p0y15" fmla="*/ 0 h 945"/>
              <a:gd name="p0x16" fmla="*/ 60 w 8130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49" name="任意多边形 17"/>
          <p:cNvSpPr/>
          <p:nvPr/>
        </p:nvSpPr>
        <p:spPr>
          <a:xfrm>
            <a:off x="847725" y="50736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50" name="图片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949" t="-20208" r="-2949" b="-20208"/>
          <a:stretch>
            <a:fillRect/>
          </a:stretch>
        </p:blipFill>
        <p:spPr>
          <a:xfrm>
            <a:off x="887730" y="5135880"/>
            <a:ext cx="262255" cy="213995"/>
          </a:xfrm>
          <a:prstGeom prst="rect">
            <a:avLst/>
          </a:prstGeom>
        </p:spPr>
      </p:pic>
      <p:sp>
        <p:nvSpPr>
          <p:cNvPr id="51" name="文本框 20"/>
          <p:cNvSpPr txBox="1"/>
          <p:nvPr/>
        </p:nvSpPr>
        <p:spPr>
          <a:xfrm>
            <a:off x="1304925" y="5031286"/>
            <a:ext cx="44005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弹球在墙壁间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反复碰撞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会不断消耗能量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2" name="组合 53"/>
          <p:cNvGrpSpPr/>
          <p:nvPr/>
        </p:nvGrpSpPr>
        <p:grpSpPr>
          <a:xfrm>
            <a:off x="695325" y="5953125"/>
            <a:ext cx="5162550" cy="400050"/>
            <a:chOff x="1095" y="9375"/>
            <a:chExt cx="8130" cy="630"/>
          </a:xfrm>
        </p:grpSpPr>
        <p:sp>
          <p:nvSpPr>
            <p:cNvPr id="53" name="任意多边形 21"/>
            <p:cNvSpPr/>
            <p:nvPr/>
          </p:nvSpPr>
          <p:spPr>
            <a:xfrm>
              <a:off x="1095" y="9375"/>
              <a:ext cx="8130" cy="630"/>
            </a:xfrm>
            <a:custGeom>
              <a:avLst/>
              <a:gdLst>
                <a:gd name="sw" fmla="*/ 1 w 8130"/>
                <a:gd name="sh" fmla="*/ 1 h 630"/>
                <a:gd name="mins" fmla="min sw sh"/>
                <a:gd name="dsw" fmla="+- 0 sw mins"/>
                <a:gd name="dsh" fmla="+- 0 sh mins"/>
                <a:gd name="p0x0" fmla="*/ 0 w 8130"/>
                <a:gd name="p0y0" fmla="*/ 0 h 630"/>
                <a:gd name="p0x1" fmla="*/ 8130 w 8130"/>
                <a:gd name="p0y1" fmla="*/ 0 h 630"/>
                <a:gd name="p0x2" fmla="*/ 8130 w 8130"/>
                <a:gd name="p0y2" fmla="*/ 630 h 630"/>
                <a:gd name="p0x3" fmla="*/ 0 w 8130"/>
                <a:gd name="p0y3" fmla="*/ 630 h 630"/>
                <a:gd name="p0x4" fmla="*/ 0 w 8130"/>
                <a:gd name="p0y4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54" name="任意多边形 22"/>
            <p:cNvSpPr/>
            <p:nvPr/>
          </p:nvSpPr>
          <p:spPr>
            <a:xfrm>
              <a:off x="1095" y="9375"/>
              <a:ext cx="8130" cy="15"/>
            </a:xfrm>
            <a:custGeom>
              <a:avLst/>
              <a:gdLst>
                <a:gd name="sw" fmla="*/ 1 w 8130"/>
                <a:gd name="sh" fmla="*/ 1 h 15"/>
                <a:gd name="mins" fmla="min sw sh"/>
                <a:gd name="dsw" fmla="+- 0 sw mins"/>
                <a:gd name="dsh" fmla="+- 0 sh mins"/>
                <a:gd name="p0x0" fmla="*/ 0 w 8130"/>
                <a:gd name="p0y0" fmla="*/ 0 h 15"/>
                <a:gd name="p0x1" fmla="*/ 8130 w 8130"/>
                <a:gd name="p0y1" fmla="*/ 0 h 15"/>
                <a:gd name="p0x2" fmla="*/ 8130 w 8130"/>
                <a:gd name="p0y2" fmla="*/ 15 h 15"/>
                <a:gd name="p0x3" fmla="*/ 0 w 8130"/>
                <a:gd name="p0y3" fmla="*/ 15 h 15"/>
                <a:gd name="p0x4" fmla="*/ 0 w 813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55" name="文本框 24"/>
          <p:cNvSpPr txBox="1"/>
          <p:nvPr/>
        </p:nvSpPr>
        <p:spPr>
          <a:xfrm>
            <a:off x="695325" y="6115050"/>
            <a:ext cx="16231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生活现象</a:t>
            </a:r>
            <a:r>
              <a:rPr lang="en-US" altLang="zh-CN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科学启发</a:t>
            </a:r>
            <a:endParaRPr lang="zh-CN" altLang="en-US" sz="1200">
              <a:solidFill>
                <a:schemeClr val="tx2">
                  <a:lumMod val="6961"/>
                  <a:lumOff val="93039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任意多边形 25"/>
          <p:cNvSpPr/>
          <p:nvPr/>
        </p:nvSpPr>
        <p:spPr>
          <a:xfrm>
            <a:off x="5019040" y="6076950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4C48A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7" name="文本框 26"/>
          <p:cNvSpPr txBox="1"/>
          <p:nvPr/>
        </p:nvSpPr>
        <p:spPr>
          <a:xfrm>
            <a:off x="5133899" y="61150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9FF0C8"/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1200" b="1">
              <a:solidFill>
                <a:srgbClr val="9FF0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27"/>
          <p:cNvSpPr/>
          <p:nvPr/>
        </p:nvSpPr>
        <p:spPr>
          <a:xfrm>
            <a:off x="62147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120 w 8505"/>
              <a:gd name="p0y0" fmla="*/ 0 h 6162"/>
              <a:gd name="p0x1" fmla="*/ 8385 w 8505"/>
              <a:gd name="p0y1" fmla="*/ 0 h 6162"/>
              <a:gd name="p0x2" fmla="*/ 8451 w 8505"/>
              <a:gd name="p0y2" fmla="*/ 0 h 6162"/>
              <a:gd name="p0x3" fmla="*/ 8505 w 8505"/>
              <a:gd name="p0y3" fmla="*/ 53 h 6162"/>
              <a:gd name="p0x4" fmla="*/ 8505 w 8505"/>
              <a:gd name="p0y4" fmla="*/ 120 h 6162"/>
              <a:gd name="p0x5" fmla="*/ 8505 w 8505"/>
              <a:gd name="p0y5" fmla="*/ 6042 h 6162"/>
              <a:gd name="p0x6" fmla="*/ 8505 w 8505"/>
              <a:gd name="p0y6" fmla="*/ 6108 h 6162"/>
              <a:gd name="p0x7" fmla="*/ 8451 w 8505"/>
              <a:gd name="p0y7" fmla="*/ 6162 h 6162"/>
              <a:gd name="p0x8" fmla="*/ 8385 w 8505"/>
              <a:gd name="p0y8" fmla="*/ 6162 h 6162"/>
              <a:gd name="p0x9" fmla="*/ 120 w 8505"/>
              <a:gd name="p0y9" fmla="*/ 6162 h 6162"/>
              <a:gd name="p0x10" fmla="*/ 53 w 8505"/>
              <a:gd name="p0y10" fmla="*/ 6162 h 6162"/>
              <a:gd name="p0x11" fmla="*/ 0 w 8505"/>
              <a:gd name="p0y11" fmla="*/ 6108 h 6162"/>
              <a:gd name="p0x12" fmla="*/ 0 w 8505"/>
              <a:gd name="p0y12" fmla="*/ 6042 h 6162"/>
              <a:gd name="p0x13" fmla="*/ 0 w 8505"/>
              <a:gd name="p0y13" fmla="*/ 120 h 6162"/>
              <a:gd name="p0x14" fmla="*/ 0 w 8505"/>
              <a:gd name="p0y14" fmla="*/ 53 h 6162"/>
              <a:gd name="p0x15" fmla="*/ 53 w 8505"/>
              <a:gd name="p0y15" fmla="*/ 0 h 6162"/>
              <a:gd name="p0x16" fmla="*/ 12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59" name="任意多边形 28"/>
          <p:cNvSpPr/>
          <p:nvPr/>
        </p:nvSpPr>
        <p:spPr>
          <a:xfrm>
            <a:off x="6334125" y="2677795"/>
            <a:ext cx="950595" cy="276225"/>
          </a:xfrm>
          <a:custGeom>
            <a:avLst/>
            <a:gdLst>
              <a:gd name="sw" fmla="*/ 1 w 1497"/>
              <a:gd name="sh" fmla="*/ 1 h 435"/>
              <a:gd name="mins" fmla="min sw sh"/>
              <a:gd name="dsw" fmla="+- 0 sw mins"/>
              <a:gd name="dsh" fmla="+- 0 sh mins"/>
              <a:gd name="p0x0" fmla="*/ 217 w 1497"/>
              <a:gd name="p0y0" fmla="*/ 0 h 435"/>
              <a:gd name="p0x1" fmla="*/ 1280 w 1497"/>
              <a:gd name="p0y1" fmla="*/ 0 h 435"/>
              <a:gd name="p0x2" fmla="*/ 1400 w 1497"/>
              <a:gd name="p0y2" fmla="*/ 0 h 435"/>
              <a:gd name="p0x3" fmla="*/ 1497 w 1497"/>
              <a:gd name="p0y3" fmla="*/ 97 h 435"/>
              <a:gd name="p0x4" fmla="*/ 1497 w 1497"/>
              <a:gd name="p0y4" fmla="*/ 217 h 435"/>
              <a:gd name="p0x5" fmla="*/ 1497 w 1497"/>
              <a:gd name="p0y5" fmla="*/ 337 h 435"/>
              <a:gd name="p0x6" fmla="*/ 1400 w 1497"/>
              <a:gd name="p0y6" fmla="*/ 435 h 435"/>
              <a:gd name="p0x7" fmla="*/ 1280 w 1497"/>
              <a:gd name="p0y7" fmla="*/ 435 h 435"/>
              <a:gd name="p0x8" fmla="*/ 217 w 1497"/>
              <a:gd name="p0y8" fmla="*/ 435 h 435"/>
              <a:gd name="p0x9" fmla="*/ 97 w 1497"/>
              <a:gd name="p0y9" fmla="*/ 435 h 435"/>
              <a:gd name="p0x10" fmla="*/ 0 w 1497"/>
              <a:gd name="p0y10" fmla="*/ 337 h 435"/>
              <a:gd name="p0x11" fmla="*/ 0 w 1497"/>
              <a:gd name="p0y11" fmla="*/ 217 h 435"/>
              <a:gd name="p0x12" fmla="*/ 0 w 1497"/>
              <a:gd name="p0y12" fmla="*/ 97 h 435"/>
              <a:gd name="p0x13" fmla="*/ 97 w 1497"/>
              <a:gd name="p0y13" fmla="*/ 0 h 435"/>
              <a:gd name="p0x14" fmla="*/ 217 w 149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60" name="文本框 29"/>
          <p:cNvSpPr txBox="1"/>
          <p:nvPr/>
        </p:nvSpPr>
        <p:spPr>
          <a:xfrm>
            <a:off x="6486525" y="2716111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30"/>
          <p:cNvSpPr txBox="1"/>
          <p:nvPr/>
        </p:nvSpPr>
        <p:spPr>
          <a:xfrm>
            <a:off x="6334125" y="3014243"/>
            <a:ext cx="51625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31"/>
          <p:cNvSpPr/>
          <p:nvPr/>
        </p:nvSpPr>
        <p:spPr>
          <a:xfrm>
            <a:off x="6334125" y="3439795"/>
            <a:ext cx="51625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63" name="任意多边形 32"/>
          <p:cNvSpPr/>
          <p:nvPr/>
        </p:nvSpPr>
        <p:spPr>
          <a:xfrm>
            <a:off x="6334125" y="3525520"/>
            <a:ext cx="5162550" cy="707390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64" name="任意多边形 33"/>
          <p:cNvSpPr/>
          <p:nvPr/>
        </p:nvSpPr>
        <p:spPr>
          <a:xfrm>
            <a:off x="6486525" y="36683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65" name="图片 3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553200" y="3729990"/>
            <a:ext cx="209550" cy="214630"/>
          </a:xfrm>
          <a:prstGeom prst="rect">
            <a:avLst/>
          </a:prstGeom>
        </p:spPr>
      </p:pic>
      <p:sp>
        <p:nvSpPr>
          <p:cNvPr id="66" name="文本框 36"/>
          <p:cNvSpPr txBox="1"/>
          <p:nvPr/>
        </p:nvSpPr>
        <p:spPr>
          <a:xfrm>
            <a:off x="6943725" y="3625748"/>
            <a:ext cx="4400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类比到材料：在内部设置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多道平行界面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，增加电磁波反射次数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任意多边形 37"/>
          <p:cNvSpPr/>
          <p:nvPr/>
        </p:nvSpPr>
        <p:spPr>
          <a:xfrm>
            <a:off x="6334125" y="4347210"/>
            <a:ext cx="5162550" cy="707390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68" name="任意多边形 38"/>
          <p:cNvSpPr/>
          <p:nvPr/>
        </p:nvSpPr>
        <p:spPr>
          <a:xfrm>
            <a:off x="6486525" y="44900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69" name="图片 3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6538595" y="4552315"/>
            <a:ext cx="238125" cy="213995"/>
          </a:xfrm>
          <a:prstGeom prst="rect">
            <a:avLst/>
          </a:prstGeom>
        </p:spPr>
      </p:pic>
      <p:sp>
        <p:nvSpPr>
          <p:cNvPr id="70" name="文本框 41"/>
          <p:cNvSpPr txBox="1"/>
          <p:nvPr/>
        </p:nvSpPr>
        <p:spPr>
          <a:xfrm>
            <a:off x="6943725" y="4447575"/>
            <a:ext cx="4381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结合传统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电磁反射损耗原理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，建立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多维平行界面电磁损耗计算模型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任意多边形 42"/>
          <p:cNvSpPr/>
          <p:nvPr/>
        </p:nvSpPr>
        <p:spPr>
          <a:xfrm>
            <a:off x="6334125" y="5168900"/>
            <a:ext cx="5162550" cy="708025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72" name="任意多边形 43"/>
          <p:cNvSpPr/>
          <p:nvPr/>
        </p:nvSpPr>
        <p:spPr>
          <a:xfrm>
            <a:off x="6486525" y="53117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73" name="图片 4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553200" y="5374005"/>
            <a:ext cx="209550" cy="213995"/>
          </a:xfrm>
          <a:prstGeom prst="rect">
            <a:avLst/>
          </a:prstGeom>
        </p:spPr>
      </p:pic>
      <p:sp>
        <p:nvSpPr>
          <p:cNvPr id="74" name="文本框 46"/>
          <p:cNvSpPr txBox="1"/>
          <p:nvPr/>
        </p:nvSpPr>
        <p:spPr>
          <a:xfrm>
            <a:off x="6943725" y="5269411"/>
            <a:ext cx="4400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成功计算出电磁波进入材料后的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反射路径与损耗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，从理论上证明设想的可行性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5" name="组合 54"/>
          <p:cNvGrpSpPr/>
          <p:nvPr/>
        </p:nvGrpSpPr>
        <p:grpSpPr>
          <a:xfrm>
            <a:off x="6334125" y="5953125"/>
            <a:ext cx="5162550" cy="400050"/>
            <a:chOff x="9975" y="9375"/>
            <a:chExt cx="8130" cy="630"/>
          </a:xfrm>
        </p:grpSpPr>
        <p:sp>
          <p:nvSpPr>
            <p:cNvPr id="76" name="任意多边形 47"/>
            <p:cNvSpPr/>
            <p:nvPr/>
          </p:nvSpPr>
          <p:spPr>
            <a:xfrm>
              <a:off x="9975" y="9375"/>
              <a:ext cx="8130" cy="630"/>
            </a:xfrm>
            <a:custGeom>
              <a:avLst/>
              <a:gdLst>
                <a:gd name="sw" fmla="*/ 1 w 8130"/>
                <a:gd name="sh" fmla="*/ 1 h 630"/>
                <a:gd name="mins" fmla="min sw sh"/>
                <a:gd name="dsw" fmla="+- 0 sw mins"/>
                <a:gd name="dsh" fmla="+- 0 sh mins"/>
                <a:gd name="p0x0" fmla="*/ 0 w 8130"/>
                <a:gd name="p0y0" fmla="*/ 0 h 630"/>
                <a:gd name="p0x1" fmla="*/ 8130 w 8130"/>
                <a:gd name="p0y1" fmla="*/ 0 h 630"/>
                <a:gd name="p0x2" fmla="*/ 8130 w 8130"/>
                <a:gd name="p0y2" fmla="*/ 630 h 630"/>
                <a:gd name="p0x3" fmla="*/ 0 w 8130"/>
                <a:gd name="p0y3" fmla="*/ 630 h 630"/>
                <a:gd name="p0x4" fmla="*/ 0 w 8130"/>
                <a:gd name="p0y4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77" name="任意多边形 48"/>
            <p:cNvSpPr/>
            <p:nvPr/>
          </p:nvSpPr>
          <p:spPr>
            <a:xfrm>
              <a:off x="9975" y="9375"/>
              <a:ext cx="8130" cy="15"/>
            </a:xfrm>
            <a:custGeom>
              <a:avLst/>
              <a:gdLst>
                <a:gd name="sw" fmla="*/ 1 w 8130"/>
                <a:gd name="sh" fmla="*/ 1 h 15"/>
                <a:gd name="mins" fmla="min sw sh"/>
                <a:gd name="dsw" fmla="+- 0 sw mins"/>
                <a:gd name="dsh" fmla="+- 0 sh mins"/>
                <a:gd name="p0x0" fmla="*/ 0 w 8130"/>
                <a:gd name="p0y0" fmla="*/ 0 h 15"/>
                <a:gd name="p0x1" fmla="*/ 8130 w 8130"/>
                <a:gd name="p0y1" fmla="*/ 0 h 15"/>
                <a:gd name="p0x2" fmla="*/ 8130 w 8130"/>
                <a:gd name="p0y2" fmla="*/ 15 h 15"/>
                <a:gd name="p0x3" fmla="*/ 0 w 8130"/>
                <a:gd name="p0y3" fmla="*/ 15 h 15"/>
                <a:gd name="p0x4" fmla="*/ 0 w 813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78" name="文本框 50"/>
          <p:cNvSpPr txBox="1"/>
          <p:nvPr/>
        </p:nvSpPr>
        <p:spPr>
          <a:xfrm>
            <a:off x="6334125" y="6115050"/>
            <a:ext cx="17755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理论建模</a:t>
            </a:r>
            <a:r>
              <a:rPr lang="en-US" altLang="zh-CN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可行性验证</a:t>
            </a:r>
            <a:endParaRPr lang="zh-CN" altLang="en-US" sz="1200">
              <a:solidFill>
                <a:schemeClr val="tx2">
                  <a:lumMod val="6961"/>
                  <a:lumOff val="93039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任意多边形 51"/>
          <p:cNvSpPr/>
          <p:nvPr/>
        </p:nvSpPr>
        <p:spPr>
          <a:xfrm>
            <a:off x="10657840" y="6076950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4C48A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80" name="文本框 52"/>
          <p:cNvSpPr txBox="1"/>
          <p:nvPr/>
        </p:nvSpPr>
        <p:spPr>
          <a:xfrm>
            <a:off x="10772699" y="61150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9FF0C8"/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1200" b="1">
              <a:solidFill>
                <a:srgbClr val="9FF0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4"/>
          <p:cNvSpPr/>
          <p:nvPr/>
        </p:nvSpPr>
        <p:spPr>
          <a:xfrm>
            <a:off x="7726680" y="2226945"/>
            <a:ext cx="3818255" cy="226187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8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551" y="3676015"/>
            <a:ext cx="5303520" cy="2944368"/>
          </a:xfrm>
          <a:prstGeom prst="rect">
            <a:avLst/>
          </a:prstGeom>
        </p:spPr>
      </p:pic>
      <p:pic>
        <p:nvPicPr>
          <p:cNvPr id="83" name="图片 1"/>
          <p:cNvPicPr>
            <a:picLocks noChangeAspect="1"/>
          </p:cNvPicPr>
          <p:nvPr/>
        </p:nvPicPr>
        <p:blipFill>
          <a:blip r:embed="rId2"/>
          <a:srcRect b="9748"/>
          <a:stretch>
            <a:fillRect/>
          </a:stretch>
        </p:blipFill>
        <p:spPr>
          <a:xfrm>
            <a:off x="344805" y="1155065"/>
            <a:ext cx="5303520" cy="2657475"/>
          </a:xfrm>
          <a:prstGeom prst="rect">
            <a:avLst/>
          </a:prstGeom>
        </p:spPr>
      </p:pic>
      <p:sp>
        <p:nvSpPr>
          <p:cNvPr id="85" name="文本框 3"/>
          <p:cNvSpPr txBox="1"/>
          <p:nvPr/>
        </p:nvSpPr>
        <p:spPr>
          <a:xfrm>
            <a:off x="8159750" y="2536190"/>
            <a:ext cx="2778760" cy="178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FFFF"/>
                </a:solidFill>
                <a:ea typeface="汉仪雅酷黑-65J" panose="00020600040101010101" charset="-122"/>
              </a:rPr>
              <a:t>在材料内部竖起一道道‘墙壁’，增加电磁波在‘墙壁’间的反射次数，让它的力量逐渐减弱，难以穿透材料。</a:t>
            </a:r>
            <a:endParaRPr lang="zh-CN" altLang="en-US" sz="2000">
              <a:solidFill>
                <a:srgbClr val="FFFFFF"/>
              </a:solidFill>
              <a:ea typeface="汉仪雅酷黑-65J" panose="00020600040101010101" charset="-122"/>
            </a:endParaRPr>
          </a:p>
        </p:txBody>
      </p:sp>
      <p:cxnSp>
        <p:nvCxnSpPr>
          <p:cNvPr id="86" name="直接连接符 5"/>
          <p:cNvCxnSpPr/>
          <p:nvPr/>
        </p:nvCxnSpPr>
        <p:spPr>
          <a:xfrm>
            <a:off x="8478520" y="2083435"/>
            <a:ext cx="2140585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7"/>
          <p:cNvCxnSpPr/>
          <p:nvPr/>
        </p:nvCxnSpPr>
        <p:spPr>
          <a:xfrm>
            <a:off x="8478520" y="4637405"/>
            <a:ext cx="2140585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把电磁波消灭在“墙”内</a:t>
            </a:r>
            <a:endParaRPr sz="3000" b="1">
              <a:solidFill>
                <a:srgbClr val="1A3A5E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89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多维平行界面结构示意：让电磁波在反复反射中持续损耗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1"/>
          </p:cNvSpPr>
          <p:nvPr>
            <p:ph type="title" idx="16385"/>
          </p:nvPr>
        </p:nvSpPr>
        <p:spPr>
          <a:xfrm>
            <a:off x="1016000" y="2737485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创新与成果</a:t>
            </a:r>
            <a:endParaRPr lang="zh-CN" altLang="en-US"/>
          </a:p>
        </p:txBody>
      </p:sp>
      <p:sp>
        <p:nvSpPr>
          <p:cNvPr id="92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111885"/>
            <a:ext cx="1527175" cy="1524000"/>
          </a:xfrm>
        </p:spPr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93" name="文本框 3"/>
          <p:cNvSpPr txBox="1"/>
          <p:nvPr/>
        </p:nvSpPr>
        <p:spPr>
          <a:xfrm>
            <a:off x="1016000" y="34683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把电磁波消灭在墙内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屏蔽效能提升15%-25%，重量降低20%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三重突破破解跷跷板难题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96" name="文本框 3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功能、结构、工艺三方面性能的协同提升，如同跷跷板找平衡</a:t>
            </a:r>
            <a:endParaRPr sz="1500">
              <a:solidFill>
                <a:schemeClr val="tx1"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4"/>
          <p:cNvSpPr txBox="1"/>
          <p:nvPr/>
        </p:nvSpPr>
        <p:spPr>
          <a:xfrm>
            <a:off x="571500" y="1721729"/>
            <a:ext cx="296629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三大创新</a:t>
            </a:r>
            <a:r>
              <a:rPr 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破解</a:t>
            </a:r>
            <a:r>
              <a:rPr lang="en-US" alt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三大矛盾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任意多边形 5"/>
          <p:cNvSpPr/>
          <p:nvPr/>
        </p:nvSpPr>
        <p:spPr>
          <a:xfrm>
            <a:off x="575945" y="2545080"/>
            <a:ext cx="5438775" cy="3926840"/>
          </a:xfrm>
          <a:custGeom>
            <a:avLst/>
            <a:gdLst>
              <a:gd name="sw" fmla="*/ 1 w 8565"/>
              <a:gd name="sh" fmla="*/ 1 h 6184"/>
              <a:gd name="mins" fmla="min sw sh"/>
              <a:gd name="dsw" fmla="+- 0 sw mins"/>
              <a:gd name="dsh" fmla="+- 0 sh mins"/>
              <a:gd name="p0x0" fmla="*/ 120 w 8565"/>
              <a:gd name="p0y0" fmla="*/ 0 h 6184"/>
              <a:gd name="p0x1" fmla="*/ 8445 w 8565"/>
              <a:gd name="p0y1" fmla="*/ 0 h 6184"/>
              <a:gd name="p0x2" fmla="*/ 8511 w 8565"/>
              <a:gd name="p0y2" fmla="*/ 0 h 6184"/>
              <a:gd name="p0x3" fmla="*/ 8565 w 8565"/>
              <a:gd name="p0y3" fmla="*/ 53 h 6184"/>
              <a:gd name="p0x4" fmla="*/ 8565 w 8565"/>
              <a:gd name="p0y4" fmla="*/ 120 h 6184"/>
              <a:gd name="p0x5" fmla="*/ 8565 w 8565"/>
              <a:gd name="p0y5" fmla="*/ 6064 h 6184"/>
              <a:gd name="p0x6" fmla="*/ 8565 w 8565"/>
              <a:gd name="p0y6" fmla="*/ 6130 h 6184"/>
              <a:gd name="p0x7" fmla="*/ 8511 w 8565"/>
              <a:gd name="p0y7" fmla="*/ 6184 h 6184"/>
              <a:gd name="p0x8" fmla="*/ 8445 w 8565"/>
              <a:gd name="p0y8" fmla="*/ 6184 h 6184"/>
              <a:gd name="p0x9" fmla="*/ 120 w 8565"/>
              <a:gd name="p0y9" fmla="*/ 6184 h 6184"/>
              <a:gd name="p0x10" fmla="*/ 53 w 8565"/>
              <a:gd name="p0y10" fmla="*/ 6184 h 6184"/>
              <a:gd name="p0x11" fmla="*/ 0 w 8565"/>
              <a:gd name="p0y11" fmla="*/ 6130 h 6184"/>
              <a:gd name="p0x12" fmla="*/ 0 w 8565"/>
              <a:gd name="p0y12" fmla="*/ 6064 h 6184"/>
              <a:gd name="p0x13" fmla="*/ 0 w 8565"/>
              <a:gd name="p0y13" fmla="*/ 120 h 6184"/>
              <a:gd name="p0x14" fmla="*/ 0 w 8565"/>
              <a:gd name="p0y14" fmla="*/ 53 h 6184"/>
              <a:gd name="p0x15" fmla="*/ 53 w 8565"/>
              <a:gd name="p0y15" fmla="*/ 0 h 6184"/>
              <a:gd name="p0x16" fmla="*/ 120 w 856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99" name="文本框 6"/>
          <p:cNvSpPr txBox="1"/>
          <p:nvPr/>
        </p:nvSpPr>
        <p:spPr>
          <a:xfrm>
            <a:off x="771525" y="2724331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三大矛盾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7"/>
          <p:cNvSpPr txBox="1"/>
          <p:nvPr/>
        </p:nvSpPr>
        <p:spPr>
          <a:xfrm>
            <a:off x="771525" y="3511753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功能方面</a:t>
            </a:r>
            <a:endParaRPr sz="16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8"/>
          <p:cNvSpPr txBox="1"/>
          <p:nvPr/>
        </p:nvSpPr>
        <p:spPr>
          <a:xfrm>
            <a:off x="771525" y="3914140"/>
            <a:ext cx="540448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6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传统提升屏蔽性能的方法往往使材料强度变差或重量上升</a:t>
            </a:r>
            <a:endParaRPr sz="16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9"/>
          <p:cNvSpPr txBox="1"/>
          <p:nvPr/>
        </p:nvSpPr>
        <p:spPr>
          <a:xfrm>
            <a:off x="771525" y="4385513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结构方面</a:t>
            </a:r>
            <a:endParaRPr sz="16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"/>
          <p:cNvSpPr txBox="1"/>
          <p:nvPr/>
        </p:nvSpPr>
        <p:spPr>
          <a:xfrm>
            <a:off x="771525" y="4788103"/>
            <a:ext cx="5048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6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镁锂基材料强度提高时，塑韧性相应降低</a:t>
            </a:r>
            <a:endParaRPr sz="16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1"/>
          <p:cNvSpPr txBox="1"/>
          <p:nvPr/>
        </p:nvSpPr>
        <p:spPr>
          <a:xfrm>
            <a:off x="771525" y="5259273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工艺方面</a:t>
            </a:r>
            <a:endParaRPr sz="16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2"/>
          <p:cNvSpPr txBox="1"/>
          <p:nvPr/>
        </p:nvSpPr>
        <p:spPr>
          <a:xfrm>
            <a:off x="771525" y="5661863"/>
            <a:ext cx="5048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6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传统复合工艺危险性高且复合效果差</a:t>
            </a:r>
            <a:endParaRPr sz="16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任意多边形 13"/>
          <p:cNvSpPr/>
          <p:nvPr/>
        </p:nvSpPr>
        <p:spPr>
          <a:xfrm>
            <a:off x="6176645" y="2545080"/>
            <a:ext cx="5438775" cy="3926840"/>
          </a:xfrm>
          <a:custGeom>
            <a:avLst/>
            <a:gdLst>
              <a:gd name="sw" fmla="*/ 1 w 8565"/>
              <a:gd name="sh" fmla="*/ 1 h 6184"/>
              <a:gd name="mins" fmla="min sw sh"/>
              <a:gd name="dsw" fmla="+- 0 sw mins"/>
              <a:gd name="dsh" fmla="+- 0 sh mins"/>
              <a:gd name="p0x0" fmla="*/ 120 w 8565"/>
              <a:gd name="p0y0" fmla="*/ 0 h 6184"/>
              <a:gd name="p0x1" fmla="*/ 8445 w 8565"/>
              <a:gd name="p0y1" fmla="*/ 0 h 6184"/>
              <a:gd name="p0x2" fmla="*/ 8511 w 8565"/>
              <a:gd name="p0y2" fmla="*/ 0 h 6184"/>
              <a:gd name="p0x3" fmla="*/ 8565 w 8565"/>
              <a:gd name="p0y3" fmla="*/ 53 h 6184"/>
              <a:gd name="p0x4" fmla="*/ 8565 w 8565"/>
              <a:gd name="p0y4" fmla="*/ 120 h 6184"/>
              <a:gd name="p0x5" fmla="*/ 8565 w 8565"/>
              <a:gd name="p0y5" fmla="*/ 6064 h 6184"/>
              <a:gd name="p0x6" fmla="*/ 8565 w 8565"/>
              <a:gd name="p0y6" fmla="*/ 6130 h 6184"/>
              <a:gd name="p0x7" fmla="*/ 8511 w 8565"/>
              <a:gd name="p0y7" fmla="*/ 6184 h 6184"/>
              <a:gd name="p0x8" fmla="*/ 8445 w 8565"/>
              <a:gd name="p0y8" fmla="*/ 6184 h 6184"/>
              <a:gd name="p0x9" fmla="*/ 120 w 8565"/>
              <a:gd name="p0y9" fmla="*/ 6184 h 6184"/>
              <a:gd name="p0x10" fmla="*/ 53 w 8565"/>
              <a:gd name="p0y10" fmla="*/ 6184 h 6184"/>
              <a:gd name="p0x11" fmla="*/ 0 w 8565"/>
              <a:gd name="p0y11" fmla="*/ 6130 h 6184"/>
              <a:gd name="p0x12" fmla="*/ 0 w 8565"/>
              <a:gd name="p0y12" fmla="*/ 6064 h 6184"/>
              <a:gd name="p0x13" fmla="*/ 0 w 8565"/>
              <a:gd name="p0y13" fmla="*/ 120 h 6184"/>
              <a:gd name="p0x14" fmla="*/ 0 w 8565"/>
              <a:gd name="p0y14" fmla="*/ 53 h 6184"/>
              <a:gd name="p0x15" fmla="*/ 53 w 8565"/>
              <a:gd name="p0y15" fmla="*/ 0 h 6184"/>
              <a:gd name="p0x16" fmla="*/ 120 w 856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07" name="文本框 14"/>
          <p:cNvSpPr txBox="1"/>
          <p:nvPr/>
        </p:nvSpPr>
        <p:spPr>
          <a:xfrm>
            <a:off x="6372225" y="2724331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三项创新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任意多边形 15"/>
          <p:cNvSpPr/>
          <p:nvPr/>
        </p:nvSpPr>
        <p:spPr>
          <a:xfrm>
            <a:off x="6372225" y="377888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09" name="文本框 16"/>
          <p:cNvSpPr txBox="1"/>
          <p:nvPr/>
        </p:nvSpPr>
        <p:spPr>
          <a:xfrm>
            <a:off x="6505575" y="3660353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多维平行界面损耗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任意多边形 17"/>
          <p:cNvSpPr/>
          <p:nvPr/>
        </p:nvSpPr>
        <p:spPr>
          <a:xfrm>
            <a:off x="6372225" y="46843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11" name="文本框 18"/>
          <p:cNvSpPr txBox="1"/>
          <p:nvPr/>
        </p:nvSpPr>
        <p:spPr>
          <a:xfrm>
            <a:off x="6505575" y="4565904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镁锂合金强塑性协同提升技术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任意多边形 19"/>
          <p:cNvSpPr/>
          <p:nvPr/>
        </p:nvSpPr>
        <p:spPr>
          <a:xfrm>
            <a:off x="6372225" y="558990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13" name="文本框 20"/>
          <p:cNvSpPr txBox="1"/>
          <p:nvPr/>
        </p:nvSpPr>
        <p:spPr>
          <a:xfrm>
            <a:off x="6505575" y="5471446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纳米碳基镁锂合金固态复合工艺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创新一</a:t>
            </a:r>
            <a:r>
              <a:rPr lang="en-US" altLang="zh-CN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</a:t>
            </a: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多维平行界面损耗</a:t>
            </a:r>
            <a:endParaRPr lang="zh-CN" altLang="en-US"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16" name="任意多边形 6"/>
          <p:cNvSpPr/>
          <p:nvPr/>
        </p:nvSpPr>
        <p:spPr>
          <a:xfrm>
            <a:off x="7817485" y="1109345"/>
            <a:ext cx="3797935" cy="5362575"/>
          </a:xfrm>
          <a:custGeom>
            <a:avLst/>
            <a:gdLst>
              <a:gd name="sw" fmla="*/ 1 w 5980"/>
              <a:gd name="sh" fmla="*/ 1 h 8445"/>
              <a:gd name="mins" fmla="min sw sh"/>
              <a:gd name="dsw" fmla="+- 0 sw mins"/>
              <a:gd name="dsh" fmla="+- 0 sh mins"/>
              <a:gd name="p0x0" fmla="*/ 120 w 5980"/>
              <a:gd name="p0y0" fmla="*/ 0 h 8445"/>
              <a:gd name="p0x1" fmla="*/ 5860 w 5980"/>
              <a:gd name="p0y1" fmla="*/ 0 h 8445"/>
              <a:gd name="p0x2" fmla="*/ 5926 w 5980"/>
              <a:gd name="p0y2" fmla="*/ 0 h 8445"/>
              <a:gd name="p0x3" fmla="*/ 5980 w 5980"/>
              <a:gd name="p0y3" fmla="*/ 53 h 8445"/>
              <a:gd name="p0x4" fmla="*/ 5980 w 5980"/>
              <a:gd name="p0y4" fmla="*/ 120 h 8445"/>
              <a:gd name="p0x5" fmla="*/ 5980 w 5980"/>
              <a:gd name="p0y5" fmla="*/ 8325 h 8445"/>
              <a:gd name="p0x6" fmla="*/ 5980 w 5980"/>
              <a:gd name="p0y6" fmla="*/ 8391 h 8445"/>
              <a:gd name="p0x7" fmla="*/ 5926 w 5980"/>
              <a:gd name="p0y7" fmla="*/ 8445 h 8445"/>
              <a:gd name="p0x8" fmla="*/ 5860 w 5980"/>
              <a:gd name="p0y8" fmla="*/ 8445 h 8445"/>
              <a:gd name="p0x9" fmla="*/ 120 w 5980"/>
              <a:gd name="p0y9" fmla="*/ 8445 h 8445"/>
              <a:gd name="p0x10" fmla="*/ 53 w 5980"/>
              <a:gd name="p0y10" fmla="*/ 8445 h 8445"/>
              <a:gd name="p0x11" fmla="*/ 0 w 5980"/>
              <a:gd name="p0y11" fmla="*/ 8391 h 8445"/>
              <a:gd name="p0x12" fmla="*/ 0 w 5980"/>
              <a:gd name="p0y12" fmla="*/ 8325 h 8445"/>
              <a:gd name="p0x13" fmla="*/ 0 w 5980"/>
              <a:gd name="p0y13" fmla="*/ 120 h 8445"/>
              <a:gd name="p0x14" fmla="*/ 0 w 5980"/>
              <a:gd name="p0y14" fmla="*/ 53 h 8445"/>
              <a:gd name="p0x15" fmla="*/ 53 w 5980"/>
              <a:gd name="p0y15" fmla="*/ 0 h 8445"/>
              <a:gd name="p0x16" fmla="*/ 120 w 598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117" name="组合 21"/>
          <p:cNvGrpSpPr/>
          <p:nvPr/>
        </p:nvGrpSpPr>
        <p:grpSpPr>
          <a:xfrm>
            <a:off x="7936865" y="1228725"/>
            <a:ext cx="3558540" cy="580390"/>
            <a:chOff x="12499" y="1935"/>
            <a:chExt cx="5604" cy="914"/>
          </a:xfrm>
        </p:grpSpPr>
        <p:sp>
          <p:nvSpPr>
            <p:cNvPr id="118" name="任意多边形 7"/>
            <p:cNvSpPr/>
            <p:nvPr/>
          </p:nvSpPr>
          <p:spPr>
            <a:xfrm>
              <a:off x="12499" y="1935"/>
              <a:ext cx="5605" cy="915"/>
            </a:xfrm>
            <a:custGeom>
              <a:avLst/>
              <a:gdLst>
                <a:gd name="sw" fmla="*/ 1 w 5605"/>
                <a:gd name="sh" fmla="*/ 1 h 915"/>
                <a:gd name="mins" fmla="min sw sh"/>
                <a:gd name="dsw" fmla="+- 0 sw mins"/>
                <a:gd name="dsh" fmla="+- 0 sh mins"/>
                <a:gd name="p0x0" fmla="*/ 0 w 5605"/>
                <a:gd name="p0y0" fmla="*/ 0 h 915"/>
                <a:gd name="p0x1" fmla="*/ 5605 w 5605"/>
                <a:gd name="p0y1" fmla="*/ 0 h 915"/>
                <a:gd name="p0x2" fmla="*/ 5605 w 5605"/>
                <a:gd name="p0y2" fmla="*/ 915 h 915"/>
                <a:gd name="p0x3" fmla="*/ 0 w 5605"/>
                <a:gd name="p0y3" fmla="*/ 915 h 915"/>
                <a:gd name="p0x4" fmla="*/ 0 w 5605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19" name="任意多边形 8"/>
            <p:cNvSpPr/>
            <p:nvPr/>
          </p:nvSpPr>
          <p:spPr>
            <a:xfrm>
              <a:off x="12499" y="2835"/>
              <a:ext cx="5605" cy="15"/>
            </a:xfrm>
            <a:custGeom>
              <a:avLst/>
              <a:gdLst>
                <a:gd name="sw" fmla="*/ 1 w 5605"/>
                <a:gd name="sh" fmla="*/ 1 h 15"/>
                <a:gd name="mins" fmla="min sw sh"/>
                <a:gd name="dsw" fmla="+- 0 sw mins"/>
                <a:gd name="dsh" fmla="+- 0 sh mins"/>
                <a:gd name="p0x0" fmla="*/ 5605 w 5605"/>
                <a:gd name="p0y0" fmla="*/ 15 h 15"/>
                <a:gd name="p0x1" fmla="*/ 0 w 5605"/>
                <a:gd name="p0y1" fmla="*/ 15 h 15"/>
                <a:gd name="p0x2" fmla="*/ 0 w 5605"/>
                <a:gd name="p0y2" fmla="*/ 0 h 15"/>
                <a:gd name="p0x3" fmla="*/ 5605 w 5605"/>
                <a:gd name="p0y3" fmla="*/ 0 h 15"/>
                <a:gd name="p0x4" fmla="*/ 5605 w 5605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20" name="任意多边形 10"/>
          <p:cNvSpPr/>
          <p:nvPr/>
        </p:nvSpPr>
        <p:spPr>
          <a:xfrm>
            <a:off x="7936865" y="12287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21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2083" t="-2083" r="-2083" b="-2083"/>
          <a:stretch>
            <a:fillRect/>
          </a:stretch>
        </p:blipFill>
        <p:spPr>
          <a:xfrm>
            <a:off x="8065135" y="1356995"/>
            <a:ext cx="238125" cy="238125"/>
          </a:xfrm>
          <a:prstGeom prst="rect">
            <a:avLst/>
          </a:prstGeom>
        </p:spPr>
      </p:pic>
      <p:sp>
        <p:nvSpPr>
          <p:cNvPr id="122" name="文本框 13"/>
          <p:cNvSpPr txBox="1"/>
          <p:nvPr/>
        </p:nvSpPr>
        <p:spPr>
          <a:xfrm>
            <a:off x="8546754" y="1293495"/>
            <a:ext cx="189897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累积叠轧工艺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任意多边形 14"/>
          <p:cNvSpPr/>
          <p:nvPr/>
        </p:nvSpPr>
        <p:spPr>
          <a:xfrm>
            <a:off x="7936865" y="20097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24" name="文本框 15"/>
          <p:cNvSpPr txBox="1"/>
          <p:nvPr/>
        </p:nvSpPr>
        <p:spPr>
          <a:xfrm>
            <a:off x="8070504" y="1871663"/>
            <a:ext cx="342609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把材料反复擀平、切开、叠起、再擀，形成数量巨大的高平行度界面。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任意多边形 16"/>
          <p:cNvSpPr/>
          <p:nvPr/>
        </p:nvSpPr>
        <p:spPr>
          <a:xfrm>
            <a:off x="7936865" y="263842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26" name="文本框 17"/>
          <p:cNvSpPr txBox="1"/>
          <p:nvPr/>
        </p:nvSpPr>
        <p:spPr>
          <a:xfrm>
            <a:off x="8070504" y="2500836"/>
            <a:ext cx="3426094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调整叠轧温度参数、反复优化单次压下量，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反复实验五次</a:t>
            </a:r>
            <a:r>
              <a:rPr lang="en-US"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后得到理想的多维平行界面。</a:t>
            </a:r>
            <a:endParaRPr lang="zh-CN" altLang="en-US"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任意多边形 18"/>
          <p:cNvSpPr/>
          <p:nvPr/>
        </p:nvSpPr>
        <p:spPr>
          <a:xfrm>
            <a:off x="7936865" y="35255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28" name="文本框 19"/>
          <p:cNvSpPr txBox="1"/>
          <p:nvPr/>
        </p:nvSpPr>
        <p:spPr>
          <a:xfrm>
            <a:off x="8070504" y="3387480"/>
            <a:ext cx="342609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有效屏蔽波段范围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远超</a:t>
            </a: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现有铜、铝、铁等金属基屏蔽结构材料。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9" name="表格 20"/>
          <p:cNvGraphicFramePr/>
          <p:nvPr/>
        </p:nvGraphicFramePr>
        <p:xfrm>
          <a:off x="7936865" y="3992880"/>
          <a:ext cx="3559444" cy="235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481"/>
                <a:gridCol w="1077963"/>
              </a:tblGrid>
              <a:tr h="969616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对比维度</a:t>
                      </a:r>
                      <a:endParaRPr sz="1800" b="1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6078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提升幅度</a:t>
                      </a:r>
                      <a:endParaRPr sz="1800" b="1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6078"/>
                      </a:schemeClr>
                    </a:solidFill>
                  </a:tcPr>
                </a:tc>
              </a:tr>
              <a:tr h="842962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屏蔽效能（对比国外先进镁基材料）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15%—25%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538162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重量降低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30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744855" y="1367155"/>
            <a:ext cx="6636385" cy="4450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创新二 · 三：结构与工艺攻关</a:t>
            </a:r>
            <a:endParaRPr lang="zh-CN" altLang="en-US"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33" name="任意多边形 3"/>
          <p:cNvSpPr/>
          <p:nvPr/>
        </p:nvSpPr>
        <p:spPr>
          <a:xfrm>
            <a:off x="575945" y="1109345"/>
            <a:ext cx="5438775" cy="5362575"/>
          </a:xfrm>
          <a:custGeom>
            <a:avLst/>
            <a:gdLst>
              <a:gd name="sw" fmla="*/ 1 w 8565"/>
              <a:gd name="sh" fmla="*/ 1 h 8445"/>
              <a:gd name="mins" fmla="min sw sh"/>
              <a:gd name="dsw" fmla="+- 0 sw mins"/>
              <a:gd name="dsh" fmla="+- 0 sh mins"/>
              <a:gd name="p0x0" fmla="*/ 120 w 8565"/>
              <a:gd name="p0y0" fmla="*/ 0 h 8445"/>
              <a:gd name="p0x1" fmla="*/ 8445 w 8565"/>
              <a:gd name="p0y1" fmla="*/ 0 h 8445"/>
              <a:gd name="p0x2" fmla="*/ 8511 w 8565"/>
              <a:gd name="p0y2" fmla="*/ 0 h 8445"/>
              <a:gd name="p0x3" fmla="*/ 8565 w 8565"/>
              <a:gd name="p0y3" fmla="*/ 53 h 8445"/>
              <a:gd name="p0x4" fmla="*/ 8565 w 8565"/>
              <a:gd name="p0y4" fmla="*/ 120 h 8445"/>
              <a:gd name="p0x5" fmla="*/ 8565 w 8565"/>
              <a:gd name="p0y5" fmla="*/ 8325 h 8445"/>
              <a:gd name="p0x6" fmla="*/ 8565 w 8565"/>
              <a:gd name="p0y6" fmla="*/ 8391 h 8445"/>
              <a:gd name="p0x7" fmla="*/ 8511 w 8565"/>
              <a:gd name="p0y7" fmla="*/ 8445 h 8445"/>
              <a:gd name="p0x8" fmla="*/ 8445 w 8565"/>
              <a:gd name="p0y8" fmla="*/ 8445 h 8445"/>
              <a:gd name="p0x9" fmla="*/ 120 w 8565"/>
              <a:gd name="p0y9" fmla="*/ 8445 h 8445"/>
              <a:gd name="p0x10" fmla="*/ 53 w 8565"/>
              <a:gd name="p0y10" fmla="*/ 8445 h 8445"/>
              <a:gd name="p0x11" fmla="*/ 0 w 8565"/>
              <a:gd name="p0y11" fmla="*/ 8391 h 8445"/>
              <a:gd name="p0x12" fmla="*/ 0 w 8565"/>
              <a:gd name="p0y12" fmla="*/ 8325 h 8445"/>
              <a:gd name="p0x13" fmla="*/ 0 w 8565"/>
              <a:gd name="p0y13" fmla="*/ 120 h 8445"/>
              <a:gd name="p0x14" fmla="*/ 0 w 8565"/>
              <a:gd name="p0y14" fmla="*/ 53 h 8445"/>
              <a:gd name="p0x15" fmla="*/ 53 w 8565"/>
              <a:gd name="p0y15" fmla="*/ 0 h 8445"/>
              <a:gd name="p0x16" fmla="*/ 120 w 85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34" name="任意多边形 4"/>
          <p:cNvSpPr/>
          <p:nvPr/>
        </p:nvSpPr>
        <p:spPr>
          <a:xfrm>
            <a:off x="7715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35" name="图片 5" descr="084fb23e-c2fc-11f1-9e18-d2ad3781fd25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209550" cy="209550"/>
          </a:xfrm>
          <a:prstGeom prst="rect">
            <a:avLst/>
          </a:prstGeom>
        </p:spPr>
      </p:pic>
      <p:sp>
        <p:nvSpPr>
          <p:cNvPr id="136" name="文本框 8"/>
          <p:cNvSpPr txBox="1"/>
          <p:nvPr/>
        </p:nvSpPr>
        <p:spPr>
          <a:xfrm>
            <a:off x="1190625" y="1293495"/>
            <a:ext cx="380315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镁锂合金强塑性协同提升技术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矩形 9"/>
          <p:cNvSpPr/>
          <p:nvPr/>
        </p:nvSpPr>
        <p:spPr>
          <a:xfrm>
            <a:off x="771525" y="1762125"/>
            <a:ext cx="50482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38" name="任意多边形 10"/>
          <p:cNvSpPr/>
          <p:nvPr/>
        </p:nvSpPr>
        <p:spPr>
          <a:xfrm>
            <a:off x="771525" y="2635885"/>
            <a:ext cx="798195" cy="276225"/>
          </a:xfrm>
          <a:custGeom>
            <a:avLst/>
            <a:gdLst>
              <a:gd name="sw" fmla="*/ 1 w 1257"/>
              <a:gd name="sh" fmla="*/ 1 h 435"/>
              <a:gd name="mins" fmla="min sw sh"/>
              <a:gd name="dsw" fmla="+- 0 sw mins"/>
              <a:gd name="dsh" fmla="+- 0 sh mins"/>
              <a:gd name="p0x0" fmla="*/ 217 w 1257"/>
              <a:gd name="p0y0" fmla="*/ 0 h 435"/>
              <a:gd name="p0x1" fmla="*/ 1040 w 1257"/>
              <a:gd name="p0y1" fmla="*/ 0 h 435"/>
              <a:gd name="p0x2" fmla="*/ 1160 w 1257"/>
              <a:gd name="p0y2" fmla="*/ 0 h 435"/>
              <a:gd name="p0x3" fmla="*/ 1257 w 1257"/>
              <a:gd name="p0y3" fmla="*/ 97 h 435"/>
              <a:gd name="p0x4" fmla="*/ 1257 w 1257"/>
              <a:gd name="p0y4" fmla="*/ 217 h 435"/>
              <a:gd name="p0x5" fmla="*/ 1257 w 1257"/>
              <a:gd name="p0y5" fmla="*/ 337 h 435"/>
              <a:gd name="p0x6" fmla="*/ 1160 w 1257"/>
              <a:gd name="p0y6" fmla="*/ 435 h 435"/>
              <a:gd name="p0x7" fmla="*/ 1040 w 1257"/>
              <a:gd name="p0y7" fmla="*/ 435 h 435"/>
              <a:gd name="p0x8" fmla="*/ 217 w 1257"/>
              <a:gd name="p0y8" fmla="*/ 435 h 435"/>
              <a:gd name="p0x9" fmla="*/ 97 w 1257"/>
              <a:gd name="p0y9" fmla="*/ 435 h 435"/>
              <a:gd name="p0x10" fmla="*/ 0 w 1257"/>
              <a:gd name="p0y10" fmla="*/ 337 h 435"/>
              <a:gd name="p0x11" fmla="*/ 0 w 1257"/>
              <a:gd name="p0y11" fmla="*/ 217 h 435"/>
              <a:gd name="p0x12" fmla="*/ 0 w 1257"/>
              <a:gd name="p0y12" fmla="*/ 97 h 435"/>
              <a:gd name="p0x13" fmla="*/ 97 w 1257"/>
              <a:gd name="p0y13" fmla="*/ 0 h 435"/>
              <a:gd name="p0x14" fmla="*/ 217 w 125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39" name="文本框 11"/>
          <p:cNvSpPr txBox="1"/>
          <p:nvPr/>
        </p:nvSpPr>
        <p:spPr>
          <a:xfrm>
            <a:off x="847725" y="2674144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时间跨度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2"/>
          <p:cNvSpPr txBox="1"/>
          <p:nvPr/>
        </p:nvSpPr>
        <p:spPr>
          <a:xfrm>
            <a:off x="1684439" y="2607469"/>
            <a:ext cx="233176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月至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任意多边形 13"/>
          <p:cNvSpPr/>
          <p:nvPr/>
        </p:nvSpPr>
        <p:spPr>
          <a:xfrm>
            <a:off x="771525" y="3790950"/>
            <a:ext cx="1121410" cy="276225"/>
          </a:xfrm>
          <a:custGeom>
            <a:avLst/>
            <a:gdLst>
              <a:gd name="sw" fmla="*/ 1 w 1766"/>
              <a:gd name="sh" fmla="*/ 1 h 435"/>
              <a:gd name="mins" fmla="min sw sh"/>
              <a:gd name="dsw" fmla="+- 0 sw mins"/>
              <a:gd name="dsh" fmla="+- 0 sh mins"/>
              <a:gd name="p0x0" fmla="*/ 217 w 1766"/>
              <a:gd name="p0y0" fmla="*/ 0 h 435"/>
              <a:gd name="p0x1" fmla="*/ 1548 w 1766"/>
              <a:gd name="p0y1" fmla="*/ 0 h 435"/>
              <a:gd name="p0x2" fmla="*/ 1669 w 1766"/>
              <a:gd name="p0y2" fmla="*/ 0 h 435"/>
              <a:gd name="p0x3" fmla="*/ 1766 w 1766"/>
              <a:gd name="p0y3" fmla="*/ 97 h 435"/>
              <a:gd name="p0x4" fmla="*/ 1766 w 1766"/>
              <a:gd name="p0y4" fmla="*/ 217 h 435"/>
              <a:gd name="p0x5" fmla="*/ 1766 w 1766"/>
              <a:gd name="p0y5" fmla="*/ 337 h 435"/>
              <a:gd name="p0x6" fmla="*/ 1669 w 1766"/>
              <a:gd name="p0y6" fmla="*/ 435 h 435"/>
              <a:gd name="p0x7" fmla="*/ 1548 w 1766"/>
              <a:gd name="p0y7" fmla="*/ 435 h 435"/>
              <a:gd name="p0x8" fmla="*/ 217 w 1766"/>
              <a:gd name="p0y8" fmla="*/ 435 h 435"/>
              <a:gd name="p0x9" fmla="*/ 97 w 1766"/>
              <a:gd name="p0y9" fmla="*/ 435 h 435"/>
              <a:gd name="p0x10" fmla="*/ 0 w 1766"/>
              <a:gd name="p0y10" fmla="*/ 337 h 435"/>
              <a:gd name="p0x11" fmla="*/ 0 w 1766"/>
              <a:gd name="p0y11" fmla="*/ 217 h 435"/>
              <a:gd name="p0x12" fmla="*/ 0 w 1766"/>
              <a:gd name="p0y12" fmla="*/ 97 h 435"/>
              <a:gd name="p0x13" fmla="*/ 97 w 1766"/>
              <a:gd name="p0y13" fmla="*/ 0 h 435"/>
              <a:gd name="p0x14" fmla="*/ 217 w 1766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42" name="文本框 14"/>
          <p:cNvSpPr txBox="1"/>
          <p:nvPr/>
        </p:nvSpPr>
        <p:spPr>
          <a:xfrm>
            <a:off x="847725" y="3829050"/>
            <a:ext cx="112172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合金元素配比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5"/>
          <p:cNvSpPr txBox="1"/>
          <p:nvPr/>
        </p:nvSpPr>
        <p:spPr>
          <a:xfrm>
            <a:off x="2007546" y="3762375"/>
            <a:ext cx="18236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种以上</a:t>
            </a: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优化成分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任意多边形 16"/>
          <p:cNvSpPr/>
          <p:nvPr/>
        </p:nvSpPr>
        <p:spPr>
          <a:xfrm>
            <a:off x="771525" y="493141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45" name="文本框 17"/>
          <p:cNvSpPr txBox="1"/>
          <p:nvPr/>
        </p:nvSpPr>
        <p:spPr>
          <a:xfrm>
            <a:off x="847725" y="4969669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机理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8"/>
          <p:cNvSpPr txBox="1"/>
          <p:nvPr/>
        </p:nvSpPr>
        <p:spPr>
          <a:xfrm>
            <a:off x="1361332" y="4917281"/>
            <a:ext cx="445844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纳米析出强化</a:t>
            </a: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剧烈塑性变形晶粒微细化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，实现强度与塑韧性协同提升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任意多边形 19"/>
          <p:cNvSpPr/>
          <p:nvPr/>
        </p:nvSpPr>
        <p:spPr>
          <a:xfrm>
            <a:off x="6176645" y="1109345"/>
            <a:ext cx="5438775" cy="5362575"/>
          </a:xfrm>
          <a:custGeom>
            <a:avLst/>
            <a:gdLst>
              <a:gd name="sw" fmla="*/ 1 w 8565"/>
              <a:gd name="sh" fmla="*/ 1 h 8445"/>
              <a:gd name="mins" fmla="min sw sh"/>
              <a:gd name="dsw" fmla="+- 0 sw mins"/>
              <a:gd name="dsh" fmla="+- 0 sh mins"/>
              <a:gd name="p0x0" fmla="*/ 120 w 8565"/>
              <a:gd name="p0y0" fmla="*/ 0 h 8445"/>
              <a:gd name="p0x1" fmla="*/ 8445 w 8565"/>
              <a:gd name="p0y1" fmla="*/ 0 h 8445"/>
              <a:gd name="p0x2" fmla="*/ 8511 w 8565"/>
              <a:gd name="p0y2" fmla="*/ 0 h 8445"/>
              <a:gd name="p0x3" fmla="*/ 8565 w 8565"/>
              <a:gd name="p0y3" fmla="*/ 53 h 8445"/>
              <a:gd name="p0x4" fmla="*/ 8565 w 8565"/>
              <a:gd name="p0y4" fmla="*/ 120 h 8445"/>
              <a:gd name="p0x5" fmla="*/ 8565 w 8565"/>
              <a:gd name="p0y5" fmla="*/ 8325 h 8445"/>
              <a:gd name="p0x6" fmla="*/ 8565 w 8565"/>
              <a:gd name="p0y6" fmla="*/ 8391 h 8445"/>
              <a:gd name="p0x7" fmla="*/ 8511 w 8565"/>
              <a:gd name="p0y7" fmla="*/ 8445 h 8445"/>
              <a:gd name="p0x8" fmla="*/ 8445 w 8565"/>
              <a:gd name="p0y8" fmla="*/ 8445 h 8445"/>
              <a:gd name="p0x9" fmla="*/ 120 w 8565"/>
              <a:gd name="p0y9" fmla="*/ 8445 h 8445"/>
              <a:gd name="p0x10" fmla="*/ 53 w 8565"/>
              <a:gd name="p0y10" fmla="*/ 8445 h 8445"/>
              <a:gd name="p0x11" fmla="*/ 0 w 8565"/>
              <a:gd name="p0y11" fmla="*/ 8391 h 8445"/>
              <a:gd name="p0x12" fmla="*/ 0 w 8565"/>
              <a:gd name="p0y12" fmla="*/ 8325 h 8445"/>
              <a:gd name="p0x13" fmla="*/ 0 w 8565"/>
              <a:gd name="p0y13" fmla="*/ 120 h 8445"/>
              <a:gd name="p0x14" fmla="*/ 0 w 8565"/>
              <a:gd name="p0y14" fmla="*/ 53 h 8445"/>
              <a:gd name="p0x15" fmla="*/ 53 w 8565"/>
              <a:gd name="p0y15" fmla="*/ 0 h 8445"/>
              <a:gd name="p0x16" fmla="*/ 120 w 85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48" name="任意多边形 20"/>
          <p:cNvSpPr/>
          <p:nvPr/>
        </p:nvSpPr>
        <p:spPr>
          <a:xfrm>
            <a:off x="63722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49" name="图片 21" descr="084fb38e-c2fc-11f1-9e18-d2ad3781fd25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438900" y="1371600"/>
            <a:ext cx="209550" cy="209550"/>
          </a:xfrm>
          <a:prstGeom prst="rect">
            <a:avLst/>
          </a:prstGeom>
        </p:spPr>
      </p:pic>
      <p:sp>
        <p:nvSpPr>
          <p:cNvPr id="150" name="文本框 24"/>
          <p:cNvSpPr txBox="1"/>
          <p:nvPr/>
        </p:nvSpPr>
        <p:spPr>
          <a:xfrm>
            <a:off x="6791325" y="1293495"/>
            <a:ext cx="407521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纳米碳基镁锂合金固态复合工艺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矩形 25"/>
          <p:cNvSpPr/>
          <p:nvPr/>
        </p:nvSpPr>
        <p:spPr>
          <a:xfrm>
            <a:off x="6372225" y="1762125"/>
            <a:ext cx="50482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2" name="任意多边形 26"/>
          <p:cNvSpPr/>
          <p:nvPr/>
        </p:nvSpPr>
        <p:spPr>
          <a:xfrm>
            <a:off x="6372225" y="2635885"/>
            <a:ext cx="636905" cy="276225"/>
          </a:xfrm>
          <a:custGeom>
            <a:avLst/>
            <a:gdLst>
              <a:gd name="sw" fmla="*/ 1 w 1003"/>
              <a:gd name="sh" fmla="*/ 1 h 435"/>
              <a:gd name="mins" fmla="min sw sh"/>
              <a:gd name="dsw" fmla="+- 0 sw mins"/>
              <a:gd name="dsh" fmla="+- 0 sh mins"/>
              <a:gd name="p0x0" fmla="*/ 217 w 1003"/>
              <a:gd name="p0y0" fmla="*/ 0 h 435"/>
              <a:gd name="p0x1" fmla="*/ 785 w 1003"/>
              <a:gd name="p0y1" fmla="*/ 0 h 435"/>
              <a:gd name="p0x2" fmla="*/ 905 w 1003"/>
              <a:gd name="p0y2" fmla="*/ 0 h 435"/>
              <a:gd name="p0x3" fmla="*/ 1003 w 1003"/>
              <a:gd name="p0y3" fmla="*/ 97 h 435"/>
              <a:gd name="p0x4" fmla="*/ 1003 w 1003"/>
              <a:gd name="p0y4" fmla="*/ 217 h 435"/>
              <a:gd name="p0x5" fmla="*/ 1003 w 1003"/>
              <a:gd name="p0y5" fmla="*/ 337 h 435"/>
              <a:gd name="p0x6" fmla="*/ 905 w 1003"/>
              <a:gd name="p0y6" fmla="*/ 435 h 435"/>
              <a:gd name="p0x7" fmla="*/ 785 w 1003"/>
              <a:gd name="p0y7" fmla="*/ 435 h 435"/>
              <a:gd name="p0x8" fmla="*/ 217 w 1003"/>
              <a:gd name="p0y8" fmla="*/ 435 h 435"/>
              <a:gd name="p0x9" fmla="*/ 97 w 1003"/>
              <a:gd name="p0y9" fmla="*/ 435 h 435"/>
              <a:gd name="p0x10" fmla="*/ 0 w 1003"/>
              <a:gd name="p0y10" fmla="*/ 337 h 435"/>
              <a:gd name="p0x11" fmla="*/ 0 w 1003"/>
              <a:gd name="p0y11" fmla="*/ 217 h 435"/>
              <a:gd name="p0x12" fmla="*/ 0 w 1003"/>
              <a:gd name="p0y12" fmla="*/ 97 h 435"/>
              <a:gd name="p0x13" fmla="*/ 97 w 1003"/>
              <a:gd name="p0y13" fmla="*/ 0 h 435"/>
              <a:gd name="p0x14" fmla="*/ 217 w 100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3" name="文本框 27"/>
          <p:cNvSpPr txBox="1"/>
          <p:nvPr/>
        </p:nvSpPr>
        <p:spPr>
          <a:xfrm>
            <a:off x="6448425" y="2674144"/>
            <a:ext cx="63706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增强体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文本框 28"/>
          <p:cNvSpPr txBox="1"/>
          <p:nvPr/>
        </p:nvSpPr>
        <p:spPr>
          <a:xfrm>
            <a:off x="7123585" y="2607469"/>
            <a:ext cx="3810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多壁碳纳米管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：抗变形、高导电性、低密度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任意多边形 29"/>
          <p:cNvSpPr/>
          <p:nvPr/>
        </p:nvSpPr>
        <p:spPr>
          <a:xfrm>
            <a:off x="6372225" y="379095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6" name="文本框 30"/>
          <p:cNvSpPr txBox="1"/>
          <p:nvPr/>
        </p:nvSpPr>
        <p:spPr>
          <a:xfrm>
            <a:off x="6448425" y="3829050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工艺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31"/>
          <p:cNvSpPr txBox="1"/>
          <p:nvPr/>
        </p:nvSpPr>
        <p:spPr>
          <a:xfrm>
            <a:off x="6962032" y="3762375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电泳沉积工艺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，紧密结合均匀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任意多边形 32"/>
          <p:cNvSpPr/>
          <p:nvPr/>
        </p:nvSpPr>
        <p:spPr>
          <a:xfrm>
            <a:off x="6372225" y="493141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59" name="文本框 33"/>
          <p:cNvSpPr txBox="1"/>
          <p:nvPr/>
        </p:nvSpPr>
        <p:spPr>
          <a:xfrm>
            <a:off x="6448425" y="4969669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成果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34"/>
          <p:cNvSpPr txBox="1"/>
          <p:nvPr/>
        </p:nvSpPr>
        <p:spPr>
          <a:xfrm>
            <a:off x="6962032" y="4917281"/>
            <a:ext cx="445844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多功能镁锂基复合材料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，制备出超薄镁锂基电磁屏蔽箔片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学术成果结出累累硕果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163" name="任意多边形 3"/>
          <p:cNvSpPr/>
          <p:nvPr/>
        </p:nvSpPr>
        <p:spPr>
          <a:xfrm>
            <a:off x="575945" y="1109345"/>
            <a:ext cx="5920740" cy="536257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120 w 9324"/>
              <a:gd name="p0y0" fmla="*/ 0 h 8445"/>
              <a:gd name="p0x1" fmla="*/ 9204 w 9324"/>
              <a:gd name="p0y1" fmla="*/ 0 h 8445"/>
              <a:gd name="p0x2" fmla="*/ 9270 w 9324"/>
              <a:gd name="p0y2" fmla="*/ 0 h 8445"/>
              <a:gd name="p0x3" fmla="*/ 9324 w 9324"/>
              <a:gd name="p0y3" fmla="*/ 53 h 8445"/>
              <a:gd name="p0x4" fmla="*/ 9324 w 9324"/>
              <a:gd name="p0y4" fmla="*/ 120 h 8445"/>
              <a:gd name="p0x5" fmla="*/ 9324 w 9324"/>
              <a:gd name="p0y5" fmla="*/ 8325 h 8445"/>
              <a:gd name="p0x6" fmla="*/ 9324 w 9324"/>
              <a:gd name="p0y6" fmla="*/ 8391 h 8445"/>
              <a:gd name="p0x7" fmla="*/ 9270 w 9324"/>
              <a:gd name="p0y7" fmla="*/ 8445 h 8445"/>
              <a:gd name="p0x8" fmla="*/ 9204 w 9324"/>
              <a:gd name="p0y8" fmla="*/ 8445 h 8445"/>
              <a:gd name="p0x9" fmla="*/ 120 w 9324"/>
              <a:gd name="p0y9" fmla="*/ 8445 h 8445"/>
              <a:gd name="p0x10" fmla="*/ 53 w 9324"/>
              <a:gd name="p0y10" fmla="*/ 8445 h 8445"/>
              <a:gd name="p0x11" fmla="*/ 0 w 9324"/>
              <a:gd name="p0y11" fmla="*/ 8391 h 8445"/>
              <a:gd name="p0x12" fmla="*/ 0 w 9324"/>
              <a:gd name="p0y12" fmla="*/ 8325 h 8445"/>
              <a:gd name="p0x13" fmla="*/ 0 w 9324"/>
              <a:gd name="p0y13" fmla="*/ 120 h 8445"/>
              <a:gd name="p0x14" fmla="*/ 0 w 9324"/>
              <a:gd name="p0y14" fmla="*/ 53 h 8445"/>
              <a:gd name="p0x15" fmla="*/ 53 w 9324"/>
              <a:gd name="p0y15" fmla="*/ 0 h 8445"/>
              <a:gd name="p0x16" fmla="*/ 12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164" name="组合 70"/>
          <p:cNvGrpSpPr/>
          <p:nvPr/>
        </p:nvGrpSpPr>
        <p:grpSpPr>
          <a:xfrm>
            <a:off x="771525" y="1304925"/>
            <a:ext cx="5529580" cy="466090"/>
            <a:chOff x="1215" y="2055"/>
            <a:chExt cx="8708" cy="734"/>
          </a:xfrm>
        </p:grpSpPr>
        <p:sp>
          <p:nvSpPr>
            <p:cNvPr id="165" name="任意多边形 4"/>
            <p:cNvSpPr/>
            <p:nvPr/>
          </p:nvSpPr>
          <p:spPr>
            <a:xfrm>
              <a:off x="1215" y="2055"/>
              <a:ext cx="8709" cy="735"/>
            </a:xfrm>
            <a:custGeom>
              <a:avLst/>
              <a:gdLst>
                <a:gd name="sw" fmla="*/ 1 w 8709"/>
                <a:gd name="sh" fmla="*/ 1 h 735"/>
                <a:gd name="mins" fmla="min sw sh"/>
                <a:gd name="dsw" fmla="+- 0 sw mins"/>
                <a:gd name="dsh" fmla="+- 0 sh mins"/>
                <a:gd name="p0x0" fmla="*/ 0 w 8709"/>
                <a:gd name="p0y0" fmla="*/ 0 h 735"/>
                <a:gd name="p0x1" fmla="*/ 8709 w 8709"/>
                <a:gd name="p0y1" fmla="*/ 0 h 735"/>
                <a:gd name="p0x2" fmla="*/ 8709 w 8709"/>
                <a:gd name="p0y2" fmla="*/ 735 h 735"/>
                <a:gd name="p0x3" fmla="*/ 0 w 8709"/>
                <a:gd name="p0y3" fmla="*/ 735 h 735"/>
                <a:gd name="p0x4" fmla="*/ 0 w 870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66" name="任意多边形 5"/>
            <p:cNvSpPr/>
            <p:nvPr/>
          </p:nvSpPr>
          <p:spPr>
            <a:xfrm>
              <a:off x="1215" y="2775"/>
              <a:ext cx="8709" cy="15"/>
            </a:xfrm>
            <a:custGeom>
              <a:avLst/>
              <a:gdLst>
                <a:gd name="sw" fmla="*/ 1 w 8709"/>
                <a:gd name="sh" fmla="*/ 1 h 15"/>
                <a:gd name="mins" fmla="min sw sh"/>
                <a:gd name="dsw" fmla="+- 0 sw mins"/>
                <a:gd name="dsh" fmla="+- 0 sh mins"/>
                <a:gd name="p0x0" fmla="*/ 8709 w 8709"/>
                <a:gd name="p0y0" fmla="*/ 15 h 15"/>
                <a:gd name="p0x1" fmla="*/ 0 w 8709"/>
                <a:gd name="p0y1" fmla="*/ 15 h 15"/>
                <a:gd name="p0x2" fmla="*/ 0 w 8709"/>
                <a:gd name="p0y2" fmla="*/ 0 h 15"/>
                <a:gd name="p0x3" fmla="*/ 8709 w 8709"/>
                <a:gd name="p0y3" fmla="*/ 0 h 15"/>
                <a:gd name="p0x4" fmla="*/ 8709 w 870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67" name="任意多边形 7"/>
          <p:cNvSpPr/>
          <p:nvPr/>
        </p:nvSpPr>
        <p:spPr>
          <a:xfrm>
            <a:off x="7715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68" name="图片 8" descr="086cb851-c2fc-11f1-bb8f-8e436021541d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209550" cy="209550"/>
          </a:xfrm>
          <a:prstGeom prst="rect">
            <a:avLst/>
          </a:prstGeom>
        </p:spPr>
      </p:pic>
      <p:sp>
        <p:nvSpPr>
          <p:cNvPr id="169" name="文本框 11"/>
          <p:cNvSpPr txBox="1"/>
          <p:nvPr/>
        </p:nvSpPr>
        <p:spPr>
          <a:xfrm>
            <a:off x="1228725" y="1293495"/>
            <a:ext cx="244301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五类成果数量对比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任意多边形 14"/>
          <p:cNvSpPr/>
          <p:nvPr/>
        </p:nvSpPr>
        <p:spPr>
          <a:xfrm>
            <a:off x="2268855" y="612457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71" name="文本框 15"/>
          <p:cNvSpPr txBox="1"/>
          <p:nvPr/>
        </p:nvSpPr>
        <p:spPr>
          <a:xfrm>
            <a:off x="2421360" y="6048375"/>
            <a:ext cx="255433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E8EDF8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发文与知识产权成果总计</a:t>
            </a:r>
            <a:r>
              <a:rPr lang="en-US" altLang="zh-CN" sz="1350">
                <a:solidFill>
                  <a:srgbClr val="E8EDF8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2" name="图表 12"/>
          <p:cNvGraphicFramePr/>
          <p:nvPr/>
        </p:nvGraphicFramePr>
        <p:xfrm>
          <a:off x="771525" y="1885950"/>
          <a:ext cx="5534025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3" name="任意多边形 16"/>
          <p:cNvSpPr/>
          <p:nvPr/>
        </p:nvSpPr>
        <p:spPr>
          <a:xfrm>
            <a:off x="6772910" y="1109345"/>
            <a:ext cx="4842510" cy="5362575"/>
          </a:xfrm>
          <a:custGeom>
            <a:avLst/>
            <a:gdLst>
              <a:gd name="sw" fmla="*/ 1 w 7625"/>
              <a:gd name="sh" fmla="*/ 1 h 8445"/>
              <a:gd name="mins" fmla="min sw sh"/>
              <a:gd name="dsw" fmla="+- 0 sw mins"/>
              <a:gd name="dsh" fmla="+- 0 sh mins"/>
              <a:gd name="p0x0" fmla="*/ 120 w 7625"/>
              <a:gd name="p0y0" fmla="*/ 0 h 8445"/>
              <a:gd name="p0x1" fmla="*/ 7505 w 7625"/>
              <a:gd name="p0y1" fmla="*/ 0 h 8445"/>
              <a:gd name="p0x2" fmla="*/ 7572 w 7625"/>
              <a:gd name="p0y2" fmla="*/ 0 h 8445"/>
              <a:gd name="p0x3" fmla="*/ 7625 w 7625"/>
              <a:gd name="p0y3" fmla="*/ 53 h 8445"/>
              <a:gd name="p0x4" fmla="*/ 7625 w 7625"/>
              <a:gd name="p0y4" fmla="*/ 120 h 8445"/>
              <a:gd name="p0x5" fmla="*/ 7625 w 7625"/>
              <a:gd name="p0y5" fmla="*/ 8325 h 8445"/>
              <a:gd name="p0x6" fmla="*/ 7625 w 7625"/>
              <a:gd name="p0y6" fmla="*/ 8391 h 8445"/>
              <a:gd name="p0x7" fmla="*/ 7572 w 7625"/>
              <a:gd name="p0y7" fmla="*/ 8445 h 8445"/>
              <a:gd name="p0x8" fmla="*/ 7505 w 7625"/>
              <a:gd name="p0y8" fmla="*/ 8445 h 8445"/>
              <a:gd name="p0x9" fmla="*/ 120 w 7625"/>
              <a:gd name="p0y9" fmla="*/ 8445 h 8445"/>
              <a:gd name="p0x10" fmla="*/ 53 w 7625"/>
              <a:gd name="p0y10" fmla="*/ 8445 h 8445"/>
              <a:gd name="p0x11" fmla="*/ 0 w 7625"/>
              <a:gd name="p0y11" fmla="*/ 8391 h 8445"/>
              <a:gd name="p0x12" fmla="*/ 0 w 7625"/>
              <a:gd name="p0y12" fmla="*/ 8325 h 8445"/>
              <a:gd name="p0x13" fmla="*/ 0 w 7625"/>
              <a:gd name="p0y13" fmla="*/ 120 h 8445"/>
              <a:gd name="p0x14" fmla="*/ 0 w 7625"/>
              <a:gd name="p0y14" fmla="*/ 53 h 8445"/>
              <a:gd name="p0x15" fmla="*/ 53 w 7625"/>
              <a:gd name="p0y15" fmla="*/ 0 h 8445"/>
              <a:gd name="p0x16" fmla="*/ 120 w 76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174" name="组合 71"/>
          <p:cNvGrpSpPr/>
          <p:nvPr/>
        </p:nvGrpSpPr>
        <p:grpSpPr>
          <a:xfrm>
            <a:off x="6968490" y="1304925"/>
            <a:ext cx="4451350" cy="466090"/>
            <a:chOff x="10974" y="2055"/>
            <a:chExt cx="7010" cy="734"/>
          </a:xfrm>
        </p:grpSpPr>
        <p:sp>
          <p:nvSpPr>
            <p:cNvPr id="175" name="任意多边形 17"/>
            <p:cNvSpPr/>
            <p:nvPr/>
          </p:nvSpPr>
          <p:spPr>
            <a:xfrm>
              <a:off x="10974" y="2055"/>
              <a:ext cx="7011" cy="735"/>
            </a:xfrm>
            <a:custGeom>
              <a:avLst/>
              <a:gdLst>
                <a:gd name="sw" fmla="*/ 1 w 7010"/>
                <a:gd name="sh" fmla="*/ 1 h 735"/>
                <a:gd name="mins" fmla="min sw sh"/>
                <a:gd name="dsw" fmla="+- 0 sw mins"/>
                <a:gd name="dsh" fmla="+- 0 sh mins"/>
                <a:gd name="p0x0" fmla="*/ 0 w 7010"/>
                <a:gd name="p0y0" fmla="*/ 0 h 735"/>
                <a:gd name="p0x1" fmla="*/ 7010 w 7010"/>
                <a:gd name="p0y1" fmla="*/ 0 h 735"/>
                <a:gd name="p0x2" fmla="*/ 7010 w 7010"/>
                <a:gd name="p0y2" fmla="*/ 735 h 735"/>
                <a:gd name="p0x3" fmla="*/ 0 w 7010"/>
                <a:gd name="p0y3" fmla="*/ 735 h 735"/>
                <a:gd name="p0x4" fmla="*/ 0 w 70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76" name="任意多边形 18"/>
            <p:cNvSpPr/>
            <p:nvPr/>
          </p:nvSpPr>
          <p:spPr>
            <a:xfrm>
              <a:off x="10974" y="2775"/>
              <a:ext cx="7011" cy="15"/>
            </a:xfrm>
            <a:custGeom>
              <a:avLst/>
              <a:gdLst>
                <a:gd name="sw" fmla="*/ 1 w 7010"/>
                <a:gd name="sh" fmla="*/ 1 h 15"/>
                <a:gd name="mins" fmla="min sw sh"/>
                <a:gd name="dsw" fmla="+- 0 sw mins"/>
                <a:gd name="dsh" fmla="+- 0 sh mins"/>
                <a:gd name="p0x0" fmla="*/ 7010 w 7010"/>
                <a:gd name="p0y0" fmla="*/ 15 h 15"/>
                <a:gd name="p0x1" fmla="*/ 0 w 7010"/>
                <a:gd name="p0y1" fmla="*/ 15 h 15"/>
                <a:gd name="p0x2" fmla="*/ 0 w 7010"/>
                <a:gd name="p0y2" fmla="*/ 0 h 15"/>
                <a:gd name="p0x3" fmla="*/ 7010 w 7010"/>
                <a:gd name="p0y3" fmla="*/ 0 h 15"/>
                <a:gd name="p0x4" fmla="*/ 7010 w 7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77" name="任意多边形 20"/>
          <p:cNvSpPr/>
          <p:nvPr/>
        </p:nvSpPr>
        <p:spPr>
          <a:xfrm>
            <a:off x="6972935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178" name="图片 2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5383" r="-5383"/>
          <a:stretch>
            <a:fillRect/>
          </a:stretch>
        </p:blipFill>
        <p:spPr>
          <a:xfrm>
            <a:off x="7046595" y="1366520"/>
            <a:ext cx="186055" cy="214630"/>
          </a:xfrm>
          <a:prstGeom prst="rect">
            <a:avLst/>
          </a:prstGeom>
        </p:spPr>
      </p:pic>
      <p:sp>
        <p:nvSpPr>
          <p:cNvPr id="179" name="文本框 23"/>
          <p:cNvSpPr txBox="1"/>
          <p:nvPr/>
        </p:nvSpPr>
        <p:spPr>
          <a:xfrm>
            <a:off x="7425709" y="1293495"/>
            <a:ext cx="33357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成果明细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任意多边形 24"/>
          <p:cNvSpPr/>
          <p:nvPr/>
        </p:nvSpPr>
        <p:spPr>
          <a:xfrm>
            <a:off x="10880090" y="1333500"/>
            <a:ext cx="535305" cy="285750"/>
          </a:xfrm>
          <a:custGeom>
            <a:avLst/>
            <a:gdLst>
              <a:gd name="sw" fmla="*/ 1 w 842"/>
              <a:gd name="sh" fmla="*/ 1 h 450"/>
              <a:gd name="mins" fmla="min sw sh"/>
              <a:gd name="dsw" fmla="+- 0 sw mins"/>
              <a:gd name="dsh" fmla="+- 0 sh mins"/>
              <a:gd name="p0x0" fmla="*/ 225 w 842"/>
              <a:gd name="p0y0" fmla="*/ 0 h 450"/>
              <a:gd name="p0x1" fmla="*/ 617 w 842"/>
              <a:gd name="p0y1" fmla="*/ 0 h 450"/>
              <a:gd name="p0x2" fmla="*/ 742 w 842"/>
              <a:gd name="p0y2" fmla="*/ 0 h 450"/>
              <a:gd name="p0x3" fmla="*/ 842 w 842"/>
              <a:gd name="p0y3" fmla="*/ 100 h 450"/>
              <a:gd name="p0x4" fmla="*/ 842 w 842"/>
              <a:gd name="p0y4" fmla="*/ 225 h 450"/>
              <a:gd name="p0x5" fmla="*/ 842 w 842"/>
              <a:gd name="p0y5" fmla="*/ 349 h 450"/>
              <a:gd name="p0x6" fmla="*/ 742 w 842"/>
              <a:gd name="p0y6" fmla="*/ 450 h 450"/>
              <a:gd name="p0x7" fmla="*/ 617 w 842"/>
              <a:gd name="p0y7" fmla="*/ 450 h 450"/>
              <a:gd name="p0x8" fmla="*/ 225 w 842"/>
              <a:gd name="p0y8" fmla="*/ 450 h 450"/>
              <a:gd name="p0x9" fmla="*/ 100 w 842"/>
              <a:gd name="p0y9" fmla="*/ 450 h 450"/>
              <a:gd name="p0x10" fmla="*/ 0 w 842"/>
              <a:gd name="p0y10" fmla="*/ 349 h 450"/>
              <a:gd name="p0x11" fmla="*/ 0 w 842"/>
              <a:gd name="p0y11" fmla="*/ 225 h 450"/>
              <a:gd name="p0x12" fmla="*/ 0 w 842"/>
              <a:gd name="p0y12" fmla="*/ 100 h 450"/>
              <a:gd name="p0x13" fmla="*/ 100 w 842"/>
              <a:gd name="p0y13" fmla="*/ 0 h 450"/>
              <a:gd name="p0x14" fmla="*/ 225 w 84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181" name="文本框 25"/>
          <p:cNvSpPr txBox="1"/>
          <p:nvPr/>
        </p:nvSpPr>
        <p:spPr>
          <a:xfrm>
            <a:off x="10999594" y="1376363"/>
            <a:ext cx="4494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41430"/>
                    <a:lumOff val="5857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sz="1200" b="1">
                <a:solidFill>
                  <a:schemeClr val="accent1">
                    <a:lumMod val="41430"/>
                    <a:lumOff val="5857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200" b="1">
              <a:solidFill>
                <a:schemeClr val="accent1">
                  <a:lumMod val="41430"/>
                  <a:lumOff val="5857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2" name="组合 72"/>
          <p:cNvGrpSpPr/>
          <p:nvPr/>
        </p:nvGrpSpPr>
        <p:grpSpPr>
          <a:xfrm>
            <a:off x="6968490" y="1888490"/>
            <a:ext cx="4451350" cy="704850"/>
            <a:chOff x="10974" y="2974"/>
            <a:chExt cx="7010" cy="1110"/>
          </a:xfrm>
        </p:grpSpPr>
        <p:sp>
          <p:nvSpPr>
            <p:cNvPr id="183" name="任意多边形 26"/>
            <p:cNvSpPr/>
            <p:nvPr/>
          </p:nvSpPr>
          <p:spPr>
            <a:xfrm>
              <a:off x="10974" y="297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84" name="任意多边形 27"/>
            <p:cNvSpPr/>
            <p:nvPr/>
          </p:nvSpPr>
          <p:spPr>
            <a:xfrm>
              <a:off x="11011" y="2974"/>
              <a:ext cx="6956" cy="29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85" name="任意多边形 28"/>
            <p:cNvSpPr/>
            <p:nvPr/>
          </p:nvSpPr>
          <p:spPr>
            <a:xfrm>
              <a:off x="17956" y="299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86" name="任意多边形 29"/>
            <p:cNvSpPr/>
            <p:nvPr/>
          </p:nvSpPr>
          <p:spPr>
            <a:xfrm>
              <a:off x="11011" y="405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87" name="任意多边形 30"/>
            <p:cNvSpPr/>
            <p:nvPr/>
          </p:nvSpPr>
          <p:spPr>
            <a:xfrm>
              <a:off x="10974" y="297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88" name="文本框 32"/>
          <p:cNvSpPr txBox="1"/>
          <p:nvPr/>
        </p:nvSpPr>
        <p:spPr>
          <a:xfrm>
            <a:off x="7111384" y="1921459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</a:t>
            </a:r>
            <a:r>
              <a:rPr 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lang="zh-CN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文本框 33"/>
          <p:cNvSpPr txBox="1"/>
          <p:nvPr/>
        </p:nvSpPr>
        <p:spPr>
          <a:xfrm>
            <a:off x="7111384" y="2227212"/>
            <a:ext cx="41852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，含</a:t>
            </a: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学生第一作者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0" name="组合 73"/>
          <p:cNvGrpSpPr/>
          <p:nvPr/>
        </p:nvGrpSpPr>
        <p:grpSpPr>
          <a:xfrm>
            <a:off x="6968490" y="2672715"/>
            <a:ext cx="4451350" cy="704850"/>
            <a:chOff x="10974" y="4209"/>
            <a:chExt cx="7010" cy="1110"/>
          </a:xfrm>
        </p:grpSpPr>
        <p:sp>
          <p:nvSpPr>
            <p:cNvPr id="191" name="任意多边形 34"/>
            <p:cNvSpPr/>
            <p:nvPr/>
          </p:nvSpPr>
          <p:spPr>
            <a:xfrm>
              <a:off x="10974" y="4209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92" name="任意多边形 35"/>
            <p:cNvSpPr/>
            <p:nvPr/>
          </p:nvSpPr>
          <p:spPr>
            <a:xfrm>
              <a:off x="11011" y="4209"/>
              <a:ext cx="6956" cy="29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93" name="任意多边形 36"/>
            <p:cNvSpPr/>
            <p:nvPr/>
          </p:nvSpPr>
          <p:spPr>
            <a:xfrm>
              <a:off x="17956" y="4227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94" name="任意多边形 37"/>
            <p:cNvSpPr/>
            <p:nvPr/>
          </p:nvSpPr>
          <p:spPr>
            <a:xfrm>
              <a:off x="11011" y="5291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195" name="任意多边形 38"/>
            <p:cNvSpPr/>
            <p:nvPr/>
          </p:nvSpPr>
          <p:spPr>
            <a:xfrm>
              <a:off x="10974" y="4214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196" name="文本框 40"/>
          <p:cNvSpPr txBox="1"/>
          <p:nvPr/>
        </p:nvSpPr>
        <p:spPr>
          <a:xfrm>
            <a:off x="7111384" y="2705633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北大核心论文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41"/>
          <p:cNvSpPr txBox="1"/>
          <p:nvPr/>
        </p:nvSpPr>
        <p:spPr>
          <a:xfrm>
            <a:off x="7111384" y="3011386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98" name="组合 74"/>
          <p:cNvGrpSpPr/>
          <p:nvPr/>
        </p:nvGrpSpPr>
        <p:grpSpPr>
          <a:xfrm>
            <a:off x="6968490" y="3456940"/>
            <a:ext cx="4451350" cy="704850"/>
            <a:chOff x="10974" y="5444"/>
            <a:chExt cx="7010" cy="1110"/>
          </a:xfrm>
        </p:grpSpPr>
        <p:sp>
          <p:nvSpPr>
            <p:cNvPr id="199" name="任意多边形 42"/>
            <p:cNvSpPr/>
            <p:nvPr/>
          </p:nvSpPr>
          <p:spPr>
            <a:xfrm>
              <a:off x="10974" y="544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0" name="任意多边形 43"/>
            <p:cNvSpPr/>
            <p:nvPr/>
          </p:nvSpPr>
          <p:spPr>
            <a:xfrm>
              <a:off x="11011" y="5444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1" name="任意多边形 44"/>
            <p:cNvSpPr/>
            <p:nvPr/>
          </p:nvSpPr>
          <p:spPr>
            <a:xfrm>
              <a:off x="17956" y="546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2" name="任意多边形 45"/>
            <p:cNvSpPr/>
            <p:nvPr/>
          </p:nvSpPr>
          <p:spPr>
            <a:xfrm>
              <a:off x="11011" y="652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3" name="任意多边形 46"/>
            <p:cNvSpPr/>
            <p:nvPr/>
          </p:nvSpPr>
          <p:spPr>
            <a:xfrm>
              <a:off x="10974" y="544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204" name="文本框 48"/>
          <p:cNvSpPr txBox="1"/>
          <p:nvPr/>
        </p:nvSpPr>
        <p:spPr>
          <a:xfrm>
            <a:off x="7111384" y="3489808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授权发明专利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49"/>
          <p:cNvSpPr txBox="1"/>
          <p:nvPr/>
        </p:nvSpPr>
        <p:spPr>
          <a:xfrm>
            <a:off x="7111384" y="3795560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6" name="组合 75"/>
          <p:cNvGrpSpPr/>
          <p:nvPr/>
        </p:nvGrpSpPr>
        <p:grpSpPr>
          <a:xfrm>
            <a:off x="6968490" y="4241165"/>
            <a:ext cx="4451350" cy="704850"/>
            <a:chOff x="10974" y="6679"/>
            <a:chExt cx="7010" cy="1110"/>
          </a:xfrm>
        </p:grpSpPr>
        <p:sp>
          <p:nvSpPr>
            <p:cNvPr id="207" name="任意多边形 50"/>
            <p:cNvSpPr/>
            <p:nvPr/>
          </p:nvSpPr>
          <p:spPr>
            <a:xfrm>
              <a:off x="10974" y="6679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8" name="任意多边形 51"/>
            <p:cNvSpPr/>
            <p:nvPr/>
          </p:nvSpPr>
          <p:spPr>
            <a:xfrm>
              <a:off x="11011" y="6679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09" name="任意多边形 52"/>
            <p:cNvSpPr/>
            <p:nvPr/>
          </p:nvSpPr>
          <p:spPr>
            <a:xfrm>
              <a:off x="17956" y="6697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0" name="任意多边形 53"/>
            <p:cNvSpPr/>
            <p:nvPr/>
          </p:nvSpPr>
          <p:spPr>
            <a:xfrm>
              <a:off x="11011" y="7761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1" name="任意多边形 54"/>
            <p:cNvSpPr/>
            <p:nvPr/>
          </p:nvSpPr>
          <p:spPr>
            <a:xfrm>
              <a:off x="10974" y="6684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212" name="文本框 56"/>
          <p:cNvSpPr txBox="1"/>
          <p:nvPr/>
        </p:nvSpPr>
        <p:spPr>
          <a:xfrm>
            <a:off x="7111384" y="4273991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实用新型专利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57"/>
          <p:cNvSpPr txBox="1"/>
          <p:nvPr/>
        </p:nvSpPr>
        <p:spPr>
          <a:xfrm>
            <a:off x="7111384" y="4579744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14" name="组合 76"/>
          <p:cNvGrpSpPr/>
          <p:nvPr/>
        </p:nvGrpSpPr>
        <p:grpSpPr>
          <a:xfrm>
            <a:off x="6968490" y="5025390"/>
            <a:ext cx="4451350" cy="704850"/>
            <a:chOff x="10974" y="7914"/>
            <a:chExt cx="7010" cy="1110"/>
          </a:xfrm>
        </p:grpSpPr>
        <p:sp>
          <p:nvSpPr>
            <p:cNvPr id="215" name="任意多边形 58"/>
            <p:cNvSpPr/>
            <p:nvPr/>
          </p:nvSpPr>
          <p:spPr>
            <a:xfrm>
              <a:off x="10974" y="791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6" name="任意多边形 59"/>
            <p:cNvSpPr/>
            <p:nvPr/>
          </p:nvSpPr>
          <p:spPr>
            <a:xfrm>
              <a:off x="11011" y="7914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7" name="任意多边形 60"/>
            <p:cNvSpPr/>
            <p:nvPr/>
          </p:nvSpPr>
          <p:spPr>
            <a:xfrm>
              <a:off x="17956" y="793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8" name="任意多边形 61"/>
            <p:cNvSpPr/>
            <p:nvPr/>
          </p:nvSpPr>
          <p:spPr>
            <a:xfrm>
              <a:off x="11011" y="899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19" name="任意多边形 62"/>
            <p:cNvSpPr/>
            <p:nvPr/>
          </p:nvSpPr>
          <p:spPr>
            <a:xfrm>
              <a:off x="10974" y="791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220" name="文本框 64"/>
          <p:cNvSpPr txBox="1"/>
          <p:nvPr/>
        </p:nvSpPr>
        <p:spPr>
          <a:xfrm>
            <a:off x="7111384" y="5058166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软件著作权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65"/>
          <p:cNvSpPr txBox="1"/>
          <p:nvPr/>
        </p:nvSpPr>
        <p:spPr>
          <a:xfrm>
            <a:off x="7111384" y="5363918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2" name="组合 77"/>
          <p:cNvGrpSpPr/>
          <p:nvPr/>
        </p:nvGrpSpPr>
        <p:grpSpPr>
          <a:xfrm>
            <a:off x="6968490" y="5848350"/>
            <a:ext cx="4451350" cy="427990"/>
            <a:chOff x="10974" y="9210"/>
            <a:chExt cx="7010" cy="674"/>
          </a:xfrm>
        </p:grpSpPr>
        <p:sp>
          <p:nvSpPr>
            <p:cNvPr id="223" name="任意多边形 66"/>
            <p:cNvSpPr/>
            <p:nvPr/>
          </p:nvSpPr>
          <p:spPr>
            <a:xfrm>
              <a:off x="10974" y="9210"/>
              <a:ext cx="7011" cy="675"/>
            </a:xfrm>
            <a:custGeom>
              <a:avLst/>
              <a:gdLst>
                <a:gd name="sw" fmla="*/ 1 w 7010"/>
                <a:gd name="sh" fmla="*/ 1 h 675"/>
                <a:gd name="mins" fmla="min sw sh"/>
                <a:gd name="dsw" fmla="+- 0 sw mins"/>
                <a:gd name="dsh" fmla="+- 0 sh mins"/>
                <a:gd name="p0x0" fmla="*/ 0 w 7010"/>
                <a:gd name="p0y0" fmla="*/ 0 h 675"/>
                <a:gd name="p0x1" fmla="*/ 7010 w 7010"/>
                <a:gd name="p0y1" fmla="*/ 0 h 675"/>
                <a:gd name="p0x2" fmla="*/ 7010 w 7010"/>
                <a:gd name="p0y2" fmla="*/ 675 h 675"/>
                <a:gd name="p0x3" fmla="*/ 0 w 7010"/>
                <a:gd name="p0y3" fmla="*/ 675 h 675"/>
                <a:gd name="p0x4" fmla="*/ 0 w 701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224" name="任意多边形 67"/>
            <p:cNvSpPr/>
            <p:nvPr/>
          </p:nvSpPr>
          <p:spPr>
            <a:xfrm>
              <a:off x="10974" y="9210"/>
              <a:ext cx="7011" cy="15"/>
            </a:xfrm>
            <a:custGeom>
              <a:avLst/>
              <a:gdLst>
                <a:gd name="sw" fmla="*/ 1 w 7010"/>
                <a:gd name="sh" fmla="*/ 1 h 15"/>
                <a:gd name="mins" fmla="min sw sh"/>
                <a:gd name="dsw" fmla="+- 0 sw mins"/>
                <a:gd name="dsh" fmla="+- 0 sh mins"/>
                <a:gd name="p0x0" fmla="*/ 0 w 7010"/>
                <a:gd name="p0y0" fmla="*/ 0 h 15"/>
                <a:gd name="p0x1" fmla="*/ 7010 w 7010"/>
                <a:gd name="p0y1" fmla="*/ 0 h 15"/>
                <a:gd name="p0x2" fmla="*/ 7010 w 7010"/>
                <a:gd name="p0y2" fmla="*/ 15 h 15"/>
                <a:gd name="p0x3" fmla="*/ 0 w 7010"/>
                <a:gd name="p0y3" fmla="*/ 15 h 15"/>
                <a:gd name="p0x4" fmla="*/ 0 w 7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225" name="文本框 69"/>
          <p:cNvSpPr txBox="1"/>
          <p:nvPr/>
        </p:nvSpPr>
        <p:spPr>
          <a:xfrm>
            <a:off x="7670454" y="5957888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学术成果丰硕，知识产权布局完整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文本框 2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产业化迈出坚实一步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28" name="任意多边形 3"/>
          <p:cNvSpPr/>
          <p:nvPr/>
        </p:nvSpPr>
        <p:spPr>
          <a:xfrm>
            <a:off x="575945" y="1109345"/>
            <a:ext cx="11039475" cy="1550670"/>
          </a:xfrm>
          <a:custGeom>
            <a:avLst/>
            <a:gdLst>
              <a:gd name="sw" fmla="*/ 1 w 17385"/>
              <a:gd name="sh" fmla="*/ 1 h 2441"/>
              <a:gd name="mins" fmla="min sw sh"/>
              <a:gd name="dsw" fmla="+- 0 sw mins"/>
              <a:gd name="dsh" fmla="+- 0 sh mins"/>
              <a:gd name="p0x0" fmla="*/ 120 w 17385"/>
              <a:gd name="p0y0" fmla="*/ 0 h 2441"/>
              <a:gd name="p0x1" fmla="*/ 17265 w 17385"/>
              <a:gd name="p0y1" fmla="*/ 0 h 2441"/>
              <a:gd name="p0x2" fmla="*/ 17331 w 17385"/>
              <a:gd name="p0y2" fmla="*/ 0 h 2441"/>
              <a:gd name="p0x3" fmla="*/ 17385 w 17385"/>
              <a:gd name="p0y3" fmla="*/ 53 h 2441"/>
              <a:gd name="p0x4" fmla="*/ 17385 w 17385"/>
              <a:gd name="p0y4" fmla="*/ 120 h 2441"/>
              <a:gd name="p0x5" fmla="*/ 17385 w 17385"/>
              <a:gd name="p0y5" fmla="*/ 2321 h 2441"/>
              <a:gd name="p0x6" fmla="*/ 17385 w 17385"/>
              <a:gd name="p0y6" fmla="*/ 2388 h 2441"/>
              <a:gd name="p0x7" fmla="*/ 17331 w 17385"/>
              <a:gd name="p0y7" fmla="*/ 2441 h 2441"/>
              <a:gd name="p0x8" fmla="*/ 17265 w 17385"/>
              <a:gd name="p0y8" fmla="*/ 2441 h 2441"/>
              <a:gd name="p0x9" fmla="*/ 120 w 17385"/>
              <a:gd name="p0y9" fmla="*/ 2441 h 2441"/>
              <a:gd name="p0x10" fmla="*/ 53 w 17385"/>
              <a:gd name="p0y10" fmla="*/ 2441 h 2441"/>
              <a:gd name="p0x11" fmla="*/ 0 w 17385"/>
              <a:gd name="p0y11" fmla="*/ 2388 h 2441"/>
              <a:gd name="p0x12" fmla="*/ 0 w 17385"/>
              <a:gd name="p0y12" fmla="*/ 2321 h 2441"/>
              <a:gd name="p0x13" fmla="*/ 0 w 17385"/>
              <a:gd name="p0y13" fmla="*/ 120 h 2441"/>
              <a:gd name="p0x14" fmla="*/ 0 w 17385"/>
              <a:gd name="p0y14" fmla="*/ 53 h 2441"/>
              <a:gd name="p0x15" fmla="*/ 53 w 17385"/>
              <a:gd name="p0y15" fmla="*/ 0 h 2441"/>
              <a:gd name="p0x16" fmla="*/ 120 w 17385"/>
              <a:gd name="p0y16" fmla="*/ 0 h 24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29" name="任意多边形 4"/>
          <p:cNvSpPr/>
          <p:nvPr/>
        </p:nvSpPr>
        <p:spPr>
          <a:xfrm>
            <a:off x="695325" y="16751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230" name="图片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781050" y="1755775"/>
            <a:ext cx="247650" cy="252730"/>
          </a:xfrm>
          <a:prstGeom prst="rect">
            <a:avLst/>
          </a:prstGeom>
        </p:spPr>
      </p:pic>
      <p:sp>
        <p:nvSpPr>
          <p:cNvPr id="231" name="文本框 7"/>
          <p:cNvSpPr txBox="1"/>
          <p:nvPr/>
        </p:nvSpPr>
        <p:spPr>
          <a:xfrm>
            <a:off x="1190625" y="1702098"/>
            <a:ext cx="78783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项目已从实验室走向产业化验证，收获多家头部企业合作意向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任意多边形 8"/>
          <p:cNvSpPr/>
          <p:nvPr/>
        </p:nvSpPr>
        <p:spPr>
          <a:xfrm>
            <a:off x="8611235" y="1572895"/>
            <a:ext cx="1366520" cy="622935"/>
          </a:xfrm>
          <a:custGeom>
            <a:avLst/>
            <a:gdLst>
              <a:gd name="sw" fmla="*/ 1 w 2151"/>
              <a:gd name="sh" fmla="*/ 1 h 980"/>
              <a:gd name="mins" fmla="min sw sh"/>
              <a:gd name="dsw" fmla="+- 0 sw mins"/>
              <a:gd name="dsh" fmla="+- 0 sh mins"/>
              <a:gd name="p0x0" fmla="*/ 60 w 2151"/>
              <a:gd name="p0y0" fmla="*/ 0 h 980"/>
              <a:gd name="p0x1" fmla="*/ 2091 w 2151"/>
              <a:gd name="p0y1" fmla="*/ 0 h 980"/>
              <a:gd name="p0x2" fmla="*/ 2124 w 2151"/>
              <a:gd name="p0y2" fmla="*/ 0 h 980"/>
              <a:gd name="p0x3" fmla="*/ 2151 w 2151"/>
              <a:gd name="p0y3" fmla="*/ 26 h 980"/>
              <a:gd name="p0x4" fmla="*/ 2151 w 2151"/>
              <a:gd name="p0y4" fmla="*/ 60 h 980"/>
              <a:gd name="p0x5" fmla="*/ 2151 w 2151"/>
              <a:gd name="p0y5" fmla="*/ 920 h 980"/>
              <a:gd name="p0x6" fmla="*/ 2151 w 2151"/>
              <a:gd name="p0y6" fmla="*/ 954 h 980"/>
              <a:gd name="p0x7" fmla="*/ 2124 w 2151"/>
              <a:gd name="p0y7" fmla="*/ 980 h 980"/>
              <a:gd name="p0x8" fmla="*/ 2091 w 2151"/>
              <a:gd name="p0y8" fmla="*/ 980 h 980"/>
              <a:gd name="p0x9" fmla="*/ 60 w 2151"/>
              <a:gd name="p0y9" fmla="*/ 980 h 980"/>
              <a:gd name="p0x10" fmla="*/ 26 w 2151"/>
              <a:gd name="p0y10" fmla="*/ 980 h 980"/>
              <a:gd name="p0x11" fmla="*/ 0 w 2151"/>
              <a:gd name="p0y11" fmla="*/ 954 h 980"/>
              <a:gd name="p0x12" fmla="*/ 0 w 2151"/>
              <a:gd name="p0y12" fmla="*/ 920 h 980"/>
              <a:gd name="p0x13" fmla="*/ 0 w 2151"/>
              <a:gd name="p0y13" fmla="*/ 60 h 980"/>
              <a:gd name="p0x14" fmla="*/ 0 w 2151"/>
              <a:gd name="p0y14" fmla="*/ 26 h 980"/>
              <a:gd name="p0x15" fmla="*/ 26 w 2151"/>
              <a:gd name="p0y15" fmla="*/ 0 h 980"/>
              <a:gd name="p0x16" fmla="*/ 60 w 2151"/>
              <a:gd name="p0y16" fmla="*/ 0 h 9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33" name="文本框 9"/>
          <p:cNvSpPr txBox="1"/>
          <p:nvPr/>
        </p:nvSpPr>
        <p:spPr>
          <a:xfrm>
            <a:off x="8609114" y="1632537"/>
            <a:ext cx="1600276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代工合作落地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10"/>
          <p:cNvSpPr txBox="1"/>
          <p:nvPr/>
        </p:nvSpPr>
        <p:spPr>
          <a:xfrm>
            <a:off x="8913838" y="1920173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产业化验证</a:t>
            </a:r>
            <a:endParaRPr sz="12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11"/>
          <p:cNvSpPr/>
          <p:nvPr/>
        </p:nvSpPr>
        <p:spPr>
          <a:xfrm>
            <a:off x="10130155" y="1572895"/>
            <a:ext cx="1366520" cy="622935"/>
          </a:xfrm>
          <a:custGeom>
            <a:avLst/>
            <a:gdLst>
              <a:gd name="sw" fmla="*/ 1 w 2151"/>
              <a:gd name="sh" fmla="*/ 1 h 980"/>
              <a:gd name="mins" fmla="min sw sh"/>
              <a:gd name="dsw" fmla="+- 0 sw mins"/>
              <a:gd name="dsh" fmla="+- 0 sh mins"/>
              <a:gd name="p0x0" fmla="*/ 60 w 2151"/>
              <a:gd name="p0y0" fmla="*/ 0 h 980"/>
              <a:gd name="p0x1" fmla="*/ 2091 w 2151"/>
              <a:gd name="p0y1" fmla="*/ 0 h 980"/>
              <a:gd name="p0x2" fmla="*/ 2124 w 2151"/>
              <a:gd name="p0y2" fmla="*/ 0 h 980"/>
              <a:gd name="p0x3" fmla="*/ 2151 w 2151"/>
              <a:gd name="p0y3" fmla="*/ 26 h 980"/>
              <a:gd name="p0x4" fmla="*/ 2151 w 2151"/>
              <a:gd name="p0y4" fmla="*/ 60 h 980"/>
              <a:gd name="p0x5" fmla="*/ 2151 w 2151"/>
              <a:gd name="p0y5" fmla="*/ 920 h 980"/>
              <a:gd name="p0x6" fmla="*/ 2151 w 2151"/>
              <a:gd name="p0y6" fmla="*/ 954 h 980"/>
              <a:gd name="p0x7" fmla="*/ 2124 w 2151"/>
              <a:gd name="p0y7" fmla="*/ 980 h 980"/>
              <a:gd name="p0x8" fmla="*/ 2091 w 2151"/>
              <a:gd name="p0y8" fmla="*/ 980 h 980"/>
              <a:gd name="p0x9" fmla="*/ 60 w 2151"/>
              <a:gd name="p0y9" fmla="*/ 980 h 980"/>
              <a:gd name="p0x10" fmla="*/ 26 w 2151"/>
              <a:gd name="p0y10" fmla="*/ 980 h 980"/>
              <a:gd name="p0x11" fmla="*/ 0 w 2151"/>
              <a:gd name="p0y11" fmla="*/ 954 h 980"/>
              <a:gd name="p0x12" fmla="*/ 0 w 2151"/>
              <a:gd name="p0y12" fmla="*/ 920 h 980"/>
              <a:gd name="p0x13" fmla="*/ 0 w 2151"/>
              <a:gd name="p0y13" fmla="*/ 60 h 980"/>
              <a:gd name="p0x14" fmla="*/ 0 w 2151"/>
              <a:gd name="p0y14" fmla="*/ 26 h 980"/>
              <a:gd name="p0x15" fmla="*/ 26 w 2151"/>
              <a:gd name="p0y15" fmla="*/ 0 h 980"/>
              <a:gd name="p0x16" fmla="*/ 60 w 2151"/>
              <a:gd name="p0y16" fmla="*/ 0 h 9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36" name="文本框 12"/>
          <p:cNvSpPr txBox="1"/>
          <p:nvPr/>
        </p:nvSpPr>
        <p:spPr>
          <a:xfrm>
            <a:off x="10127761" y="1632537"/>
            <a:ext cx="1600276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头部企业关注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13"/>
          <p:cNvSpPr txBox="1"/>
          <p:nvPr/>
        </p:nvSpPr>
        <p:spPr>
          <a:xfrm>
            <a:off x="10508685" y="192017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转化对接</a:t>
            </a:r>
            <a:endParaRPr sz="12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任意多边形 14"/>
          <p:cNvSpPr/>
          <p:nvPr/>
        </p:nvSpPr>
        <p:spPr>
          <a:xfrm>
            <a:off x="571500" y="2835910"/>
            <a:ext cx="914400" cy="824433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1230 w 1440"/>
              <a:gd name="p0y0" fmla="*/ 1298 h 1298"/>
              <a:gd name="p0x1" fmla="*/ 60 w 1440"/>
              <a:gd name="p0y1" fmla="*/ 1298 h 1298"/>
              <a:gd name="p0x2" fmla="*/ 58 w 1440"/>
              <a:gd name="p0y2" fmla="*/ 1298 h 1298"/>
              <a:gd name="p0x3" fmla="*/ 56 w 1440"/>
              <a:gd name="p0y3" fmla="*/ 1298 h 1298"/>
              <a:gd name="p0x4" fmla="*/ 55 w 1440"/>
              <a:gd name="p0y4" fmla="*/ 1298 h 1298"/>
              <a:gd name="p0x5" fmla="*/ 53 w 1440"/>
              <a:gd name="p0y5" fmla="*/ 1297 h 1298"/>
              <a:gd name="p0x6" fmla="*/ 51 w 1440"/>
              <a:gd name="p0y6" fmla="*/ 1297 h 1298"/>
              <a:gd name="p0x7" fmla="*/ 50 w 1440"/>
              <a:gd name="p0y7" fmla="*/ 1297 h 1298"/>
              <a:gd name="p0x8" fmla="*/ 48 w 1440"/>
              <a:gd name="p0y8" fmla="*/ 1297 h 1298"/>
              <a:gd name="p0x9" fmla="*/ 47 w 1440"/>
              <a:gd name="p0y9" fmla="*/ 1296 h 1298"/>
              <a:gd name="p0x10" fmla="*/ 45 w 1440"/>
              <a:gd name="p0y10" fmla="*/ 1296 h 1298"/>
              <a:gd name="p0x11" fmla="*/ 44 w 1440"/>
              <a:gd name="p0y11" fmla="*/ 1296 h 1298"/>
              <a:gd name="p0x12" fmla="*/ 42 w 1440"/>
              <a:gd name="p0y12" fmla="*/ 1295 h 1298"/>
              <a:gd name="p0x13" fmla="*/ 41 w 1440"/>
              <a:gd name="p0y13" fmla="*/ 1295 h 1298"/>
              <a:gd name="p0x14" fmla="*/ 39 w 1440"/>
              <a:gd name="p0y14" fmla="*/ 1294 h 1298"/>
              <a:gd name="p0x15" fmla="*/ 38 w 1440"/>
              <a:gd name="p0y15" fmla="*/ 1294 h 1298"/>
              <a:gd name="p0x16" fmla="*/ 36 w 1440"/>
              <a:gd name="p0y16" fmla="*/ 1293 h 1298"/>
              <a:gd name="p0x17" fmla="*/ 35 w 1440"/>
              <a:gd name="p0y17" fmla="*/ 1293 h 1298"/>
              <a:gd name="p0x18" fmla="*/ 34 w 1440"/>
              <a:gd name="p0y18" fmla="*/ 1292 h 1298"/>
              <a:gd name="p0x19" fmla="*/ 32 w 1440"/>
              <a:gd name="p0y19" fmla="*/ 1291 h 1298"/>
              <a:gd name="p0x20" fmla="*/ 31 w 1440"/>
              <a:gd name="p0y20" fmla="*/ 1291 h 1298"/>
              <a:gd name="p0x21" fmla="*/ 30 w 1440"/>
              <a:gd name="p0y21" fmla="*/ 1290 h 1298"/>
              <a:gd name="p0x22" fmla="*/ 28 w 1440"/>
              <a:gd name="p0y22" fmla="*/ 1289 h 1298"/>
              <a:gd name="p0x23" fmla="*/ 27 w 1440"/>
              <a:gd name="p0y23" fmla="*/ 1288 h 1298"/>
              <a:gd name="p0x24" fmla="*/ 26 w 1440"/>
              <a:gd name="p0y24" fmla="*/ 1287 h 1298"/>
              <a:gd name="p0x25" fmla="*/ 25 w 1440"/>
              <a:gd name="p0y25" fmla="*/ 1287 h 1298"/>
              <a:gd name="p0x26" fmla="*/ 23 w 1440"/>
              <a:gd name="p0y26" fmla="*/ 1286 h 1298"/>
              <a:gd name="p0x27" fmla="*/ 22 w 1440"/>
              <a:gd name="p0y27" fmla="*/ 1285 h 1298"/>
              <a:gd name="p0x28" fmla="*/ 21 w 1440"/>
              <a:gd name="p0y28" fmla="*/ 1284 h 1298"/>
              <a:gd name="p0x29" fmla="*/ 20 w 1440"/>
              <a:gd name="p0y29" fmla="*/ 1283 h 1298"/>
              <a:gd name="p0x30" fmla="*/ 19 w 1440"/>
              <a:gd name="p0y30" fmla="*/ 1282 h 1298"/>
              <a:gd name="p0x31" fmla="*/ 18 w 1440"/>
              <a:gd name="p0y31" fmla="*/ 1281 h 1298"/>
              <a:gd name="p0x32" fmla="*/ 17 w 1440"/>
              <a:gd name="p0y32" fmla="*/ 1280 h 1298"/>
              <a:gd name="p0x33" fmla="*/ 16 w 1440"/>
              <a:gd name="p0y33" fmla="*/ 1279 h 1298"/>
              <a:gd name="p0x34" fmla="*/ 14 w 1440"/>
              <a:gd name="p0y34" fmla="*/ 1277 h 1298"/>
              <a:gd name="p0x35" fmla="*/ 14 w 1440"/>
              <a:gd name="p0y35" fmla="*/ 1276 h 1298"/>
              <a:gd name="p0x36" fmla="*/ 13 w 1440"/>
              <a:gd name="p0y36" fmla="*/ 1275 h 1298"/>
              <a:gd name="p0x37" fmla="*/ 12 w 1440"/>
              <a:gd name="p0y37" fmla="*/ 1274 h 1298"/>
              <a:gd name="p0x38" fmla="*/ 11 w 1440"/>
              <a:gd name="p0y38" fmla="*/ 1273 h 1298"/>
              <a:gd name="p0x39" fmla="*/ 10 w 1440"/>
              <a:gd name="p0y39" fmla="*/ 1272 h 1298"/>
              <a:gd name="p0x40" fmla="*/ 9 w 1440"/>
              <a:gd name="p0y40" fmla="*/ 1270 h 1298"/>
              <a:gd name="p0x41" fmla="*/ 8 w 1440"/>
              <a:gd name="p0y41" fmla="*/ 1269 h 1298"/>
              <a:gd name="p0x42" fmla="*/ 7 w 1440"/>
              <a:gd name="p0y42" fmla="*/ 1268 h 1298"/>
              <a:gd name="p0x43" fmla="*/ 7 w 1440"/>
              <a:gd name="p0y43" fmla="*/ 1266 h 1298"/>
              <a:gd name="p0x44" fmla="*/ 6 w 1440"/>
              <a:gd name="p0y44" fmla="*/ 1265 h 1298"/>
              <a:gd name="p0x45" fmla="*/ 5 w 1440"/>
              <a:gd name="p0y45" fmla="*/ 1264 h 1298"/>
              <a:gd name="p0x46" fmla="*/ 5 w 1440"/>
              <a:gd name="p0y46" fmla="*/ 1262 h 1298"/>
              <a:gd name="p0x47" fmla="*/ 4 w 1440"/>
              <a:gd name="p0y47" fmla="*/ 1261 h 1298"/>
              <a:gd name="p0x48" fmla="*/ 3 w 1440"/>
              <a:gd name="p0y48" fmla="*/ 1259 h 1298"/>
              <a:gd name="p0x49" fmla="*/ 3 w 1440"/>
              <a:gd name="p0y49" fmla="*/ 1258 h 1298"/>
              <a:gd name="p0x50" fmla="*/ 2 w 1440"/>
              <a:gd name="p0y50" fmla="*/ 1256 h 1298"/>
              <a:gd name="p0x51" fmla="*/ 2 w 1440"/>
              <a:gd name="p0y51" fmla="*/ 1255 h 1298"/>
              <a:gd name="p0x52" fmla="*/ 2 w 1440"/>
              <a:gd name="p0y52" fmla="*/ 1254 h 1298"/>
              <a:gd name="p0x53" fmla="*/ 1 w 1440"/>
              <a:gd name="p0y53" fmla="*/ 1252 h 1298"/>
              <a:gd name="p0x54" fmla="*/ 1 w 1440"/>
              <a:gd name="p0y54" fmla="*/ 1250 h 1298"/>
              <a:gd name="p0x55" fmla="*/ 1 w 1440"/>
              <a:gd name="p0y55" fmla="*/ 1249 h 1298"/>
              <a:gd name="p0x56" fmla="*/ 0 w 1440"/>
              <a:gd name="p0y56" fmla="*/ 1247 h 1298"/>
              <a:gd name="p0x57" fmla="*/ 0 w 1440"/>
              <a:gd name="p0y57" fmla="*/ 1246 h 1298"/>
              <a:gd name="p0x58" fmla="*/ 0 w 1440"/>
              <a:gd name="p0y58" fmla="*/ 1244 h 1298"/>
              <a:gd name="p0x59" fmla="*/ 0 w 1440"/>
              <a:gd name="p0y59" fmla="*/ 1243 h 1298"/>
              <a:gd name="p0x60" fmla="*/ 0 w 1440"/>
              <a:gd name="p0y60" fmla="*/ 1241 h 1298"/>
              <a:gd name="p0x61" fmla="*/ 0 w 1440"/>
              <a:gd name="p0y61" fmla="*/ 1239 h 1298"/>
              <a:gd name="p0x62" fmla="*/ 0 w 1440"/>
              <a:gd name="p0y62" fmla="*/ 1238 h 1298"/>
              <a:gd name="p0x63" fmla="*/ 0 w 1440"/>
              <a:gd name="p0y63" fmla="*/ 59 h 1298"/>
              <a:gd name="p0x64" fmla="*/ 0 w 1440"/>
              <a:gd name="p0y64" fmla="*/ 58 h 1298"/>
              <a:gd name="p0x65" fmla="*/ 0 w 1440"/>
              <a:gd name="p0y65" fmla="*/ 56 h 1298"/>
              <a:gd name="p0x66" fmla="*/ 0 w 1440"/>
              <a:gd name="p0y66" fmla="*/ 55 h 1298"/>
              <a:gd name="p0x67" fmla="*/ 0 w 1440"/>
              <a:gd name="p0y67" fmla="*/ 53 h 1298"/>
              <a:gd name="p0x68" fmla="*/ 0 w 1440"/>
              <a:gd name="p0y68" fmla="*/ 51 h 1298"/>
              <a:gd name="p0x69" fmla="*/ 0 w 1440"/>
              <a:gd name="p0y69" fmla="*/ 50 h 1298"/>
              <a:gd name="p0x70" fmla="*/ 1 w 1440"/>
              <a:gd name="p0y70" fmla="*/ 48 h 1298"/>
              <a:gd name="p0x71" fmla="*/ 1 w 1440"/>
              <a:gd name="p0y71" fmla="*/ 47 h 1298"/>
              <a:gd name="p0x72" fmla="*/ 1 w 1440"/>
              <a:gd name="p0y72" fmla="*/ 45 h 1298"/>
              <a:gd name="p0x73" fmla="*/ 2 w 1440"/>
              <a:gd name="p0y73" fmla="*/ 44 h 1298"/>
              <a:gd name="p0x74" fmla="*/ 2 w 1440"/>
              <a:gd name="p0y74" fmla="*/ 42 h 1298"/>
              <a:gd name="p0x75" fmla="*/ 2 w 1440"/>
              <a:gd name="p0y75" fmla="*/ 41 h 1298"/>
              <a:gd name="p0x76" fmla="*/ 3 w 1440"/>
              <a:gd name="p0y76" fmla="*/ 39 h 1298"/>
              <a:gd name="p0x77" fmla="*/ 3 w 1440"/>
              <a:gd name="p0y77" fmla="*/ 38 h 1298"/>
              <a:gd name="p0x78" fmla="*/ 4 w 1440"/>
              <a:gd name="p0y78" fmla="*/ 36 h 1298"/>
              <a:gd name="p0x79" fmla="*/ 5 w 1440"/>
              <a:gd name="p0y79" fmla="*/ 35 h 1298"/>
              <a:gd name="p0x80" fmla="*/ 5 w 1440"/>
              <a:gd name="p0y80" fmla="*/ 34 h 1298"/>
              <a:gd name="p0x81" fmla="*/ 6 w 1440"/>
              <a:gd name="p0y81" fmla="*/ 32 h 1298"/>
              <a:gd name="p0x82" fmla="*/ 7 w 1440"/>
              <a:gd name="p0y82" fmla="*/ 31 h 1298"/>
              <a:gd name="p0x83" fmla="*/ 7 w 1440"/>
              <a:gd name="p0y83" fmla="*/ 30 h 1298"/>
              <a:gd name="p0x84" fmla="*/ 8 w 1440"/>
              <a:gd name="p0y84" fmla="*/ 28 h 1298"/>
              <a:gd name="p0x85" fmla="*/ 9 w 1440"/>
              <a:gd name="p0y85" fmla="*/ 27 h 1298"/>
              <a:gd name="p0x86" fmla="*/ 10 w 1440"/>
              <a:gd name="p0y86" fmla="*/ 26 h 1298"/>
              <a:gd name="p0x87" fmla="*/ 11 w 1440"/>
              <a:gd name="p0y87" fmla="*/ 25 h 1298"/>
              <a:gd name="p0x88" fmla="*/ 12 w 1440"/>
              <a:gd name="p0y88" fmla="*/ 23 h 1298"/>
              <a:gd name="p0x89" fmla="*/ 13 w 1440"/>
              <a:gd name="p0y89" fmla="*/ 22 h 1298"/>
              <a:gd name="p0x90" fmla="*/ 14 w 1440"/>
              <a:gd name="p0y90" fmla="*/ 21 h 1298"/>
              <a:gd name="p0x91" fmla="*/ 14 w 1440"/>
              <a:gd name="p0y91" fmla="*/ 20 h 1298"/>
              <a:gd name="p0x92" fmla="*/ 16 w 1440"/>
              <a:gd name="p0y92" fmla="*/ 19 h 1298"/>
              <a:gd name="p0x93" fmla="*/ 17 w 1440"/>
              <a:gd name="p0y93" fmla="*/ 18 h 1298"/>
              <a:gd name="p0x94" fmla="*/ 18 w 1440"/>
              <a:gd name="p0y94" fmla="*/ 17 h 1298"/>
              <a:gd name="p0x95" fmla="*/ 19 w 1440"/>
              <a:gd name="p0y95" fmla="*/ 16 h 1298"/>
              <a:gd name="p0x96" fmla="*/ 20 w 1440"/>
              <a:gd name="p0y96" fmla="*/ 14 h 1298"/>
              <a:gd name="p0x97" fmla="*/ 21 w 1440"/>
              <a:gd name="p0y97" fmla="*/ 14 h 1298"/>
              <a:gd name="p0x98" fmla="*/ 22 w 1440"/>
              <a:gd name="p0y98" fmla="*/ 13 h 1298"/>
              <a:gd name="p0x99" fmla="*/ 23 w 1440"/>
              <a:gd name="p0y99" fmla="*/ 12 h 1298"/>
              <a:gd name="p0x100" fmla="*/ 25 w 1440"/>
              <a:gd name="p0y100" fmla="*/ 11 h 1298"/>
              <a:gd name="p0x101" fmla="*/ 26 w 1440"/>
              <a:gd name="p0y101" fmla="*/ 10 h 1298"/>
              <a:gd name="p0x102" fmla="*/ 27 w 1440"/>
              <a:gd name="p0y102" fmla="*/ 9 h 1298"/>
              <a:gd name="p0x103" fmla="*/ 28 w 1440"/>
              <a:gd name="p0y103" fmla="*/ 8 h 1298"/>
              <a:gd name="p0x104" fmla="*/ 30 w 1440"/>
              <a:gd name="p0y104" fmla="*/ 7 h 1298"/>
              <a:gd name="p0x105" fmla="*/ 31 w 1440"/>
              <a:gd name="p0y105" fmla="*/ 7 h 1298"/>
              <a:gd name="p0x106" fmla="*/ 32 w 1440"/>
              <a:gd name="p0y106" fmla="*/ 6 h 1298"/>
              <a:gd name="p0x107" fmla="*/ 34 w 1440"/>
              <a:gd name="p0y107" fmla="*/ 5 h 1298"/>
              <a:gd name="p0x108" fmla="*/ 35 w 1440"/>
              <a:gd name="p0y108" fmla="*/ 5 h 1298"/>
              <a:gd name="p0x109" fmla="*/ 36 w 1440"/>
              <a:gd name="p0y109" fmla="*/ 4 h 1298"/>
              <a:gd name="p0x110" fmla="*/ 38 w 1440"/>
              <a:gd name="p0y110" fmla="*/ 3 h 1298"/>
              <a:gd name="p0x111" fmla="*/ 39 w 1440"/>
              <a:gd name="p0y111" fmla="*/ 3 h 1298"/>
              <a:gd name="p0x112" fmla="*/ 41 w 1440"/>
              <a:gd name="p0y112" fmla="*/ 2 h 1298"/>
              <a:gd name="p0x113" fmla="*/ 42 w 1440"/>
              <a:gd name="p0y113" fmla="*/ 2 h 1298"/>
              <a:gd name="p0x114" fmla="*/ 44 w 1440"/>
              <a:gd name="p0y114" fmla="*/ 2 h 1298"/>
              <a:gd name="p0x115" fmla="*/ 45 w 1440"/>
              <a:gd name="p0y115" fmla="*/ 1 h 1298"/>
              <a:gd name="p0x116" fmla="*/ 47 w 1440"/>
              <a:gd name="p0y116" fmla="*/ 1 h 1298"/>
              <a:gd name="p0x117" fmla="*/ 48 w 1440"/>
              <a:gd name="p0y117" fmla="*/ 1 h 1298"/>
              <a:gd name="p0x118" fmla="*/ 50 w 1440"/>
              <a:gd name="p0y118" fmla="*/ 0 h 1298"/>
              <a:gd name="p0x119" fmla="*/ 51 w 1440"/>
              <a:gd name="p0y119" fmla="*/ 0 h 1298"/>
              <a:gd name="p0x120" fmla="*/ 53 w 1440"/>
              <a:gd name="p0y120" fmla="*/ 0 h 1298"/>
              <a:gd name="p0x121" fmla="*/ 55 w 1440"/>
              <a:gd name="p0y121" fmla="*/ 0 h 1298"/>
              <a:gd name="p0x122" fmla="*/ 56 w 1440"/>
              <a:gd name="p0y122" fmla="*/ 0 h 1298"/>
              <a:gd name="p0x123" fmla="*/ 58 w 1440"/>
              <a:gd name="p0y123" fmla="*/ 0 h 1298"/>
              <a:gd name="p0x124" fmla="*/ 59 w 1440"/>
              <a:gd name="p0y124" fmla="*/ 0 h 1298"/>
              <a:gd name="p0x125" fmla="*/ 1230 w 1440"/>
              <a:gd name="p0y125" fmla="*/ 0 h 1298"/>
              <a:gd name="p0x126" fmla="*/ 1440 w 1440"/>
              <a:gd name="p0y126" fmla="*/ 649 h 1298"/>
              <a:gd name="p0x127" fmla="*/ 1230 w 1440"/>
              <a:gd name="p0y127" fmla="*/ 1298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39" name="文本框 15"/>
          <p:cNvSpPr txBox="1"/>
          <p:nvPr/>
        </p:nvSpPr>
        <p:spPr>
          <a:xfrm>
            <a:off x="723681" y="3034379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1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0" name="文本框 16"/>
          <p:cNvSpPr txBox="1"/>
          <p:nvPr/>
        </p:nvSpPr>
        <p:spPr>
          <a:xfrm>
            <a:off x="742950" y="3210592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落地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1" name="任意多边形 17"/>
          <p:cNvSpPr/>
          <p:nvPr/>
        </p:nvSpPr>
        <p:spPr>
          <a:xfrm>
            <a:off x="1642745" y="2840990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42" name="任意多边形 18"/>
          <p:cNvSpPr/>
          <p:nvPr/>
        </p:nvSpPr>
        <p:spPr>
          <a:xfrm>
            <a:off x="1800225" y="2945130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4623 1"/>
              <a:gd name="p0a1dx" fmla="*/ dsw -147150 1"/>
              <a:gd name="p0a1dy" fmla="*/ dsh -144874 1"/>
              <a:gd name="p0a2dx" fmla="*/ dsw 152820 1"/>
              <a:gd name="p0a2dy" fmla="*/ dsh -144874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43" name="文本框 19"/>
          <p:cNvSpPr txBox="1"/>
          <p:nvPr/>
        </p:nvSpPr>
        <p:spPr>
          <a:xfrm>
            <a:off x="1800225" y="2939672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代工合作落地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4" name="文本框 20"/>
          <p:cNvSpPr txBox="1"/>
          <p:nvPr/>
        </p:nvSpPr>
        <p:spPr>
          <a:xfrm>
            <a:off x="1800225" y="3258083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团队负责人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郭政佑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牵头达成代工合作协议，完成超薄箔材产业化成形验证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任意多边形 21"/>
          <p:cNvSpPr/>
          <p:nvPr/>
        </p:nvSpPr>
        <p:spPr>
          <a:xfrm>
            <a:off x="571500" y="3775075"/>
            <a:ext cx="914400" cy="824230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46" name="文本框 22"/>
          <p:cNvSpPr txBox="1"/>
          <p:nvPr/>
        </p:nvSpPr>
        <p:spPr>
          <a:xfrm>
            <a:off x="723681" y="3973116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2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7" name="文本框 23"/>
          <p:cNvSpPr txBox="1"/>
          <p:nvPr/>
        </p:nvSpPr>
        <p:spPr>
          <a:xfrm>
            <a:off x="742950" y="414932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关注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48" name="任意多边形 24"/>
          <p:cNvSpPr/>
          <p:nvPr/>
        </p:nvSpPr>
        <p:spPr>
          <a:xfrm>
            <a:off x="1642745" y="3779520"/>
            <a:ext cx="9972675" cy="815340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49" name="任意多边形 25"/>
          <p:cNvSpPr/>
          <p:nvPr/>
        </p:nvSpPr>
        <p:spPr>
          <a:xfrm>
            <a:off x="1800225" y="3883660"/>
            <a:ext cx="0" cy="300355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6101 1"/>
              <a:gd name="p0a1dx" fmla="*/ dsw -147150 1"/>
              <a:gd name="p0a1dy" fmla="*/ dsh -143395 1"/>
              <a:gd name="p0a2dx" fmla="*/ dsw 152820 1"/>
              <a:gd name="p0a2dy" fmla="*/ dsh -143395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0" name="文本框 26"/>
          <p:cNvSpPr txBox="1"/>
          <p:nvPr/>
        </p:nvSpPr>
        <p:spPr>
          <a:xfrm>
            <a:off x="1800225" y="3878409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头部企业关注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51" name="文本框 27"/>
          <p:cNvSpPr txBox="1"/>
          <p:nvPr/>
        </p:nvSpPr>
        <p:spPr>
          <a:xfrm>
            <a:off x="1800225" y="4196820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第二届全国先进技术成果转化大会上，收获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宝钢金属、长安汽车</a:t>
            </a:r>
            <a:r>
              <a:rPr 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等企业合作意向</a:t>
            </a:r>
            <a:endParaRPr lang="zh-CN" altLang="en-US"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任意多边形 28"/>
          <p:cNvSpPr/>
          <p:nvPr/>
        </p:nvSpPr>
        <p:spPr>
          <a:xfrm>
            <a:off x="571500" y="4713605"/>
            <a:ext cx="914400" cy="824230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3" name="文本框 29"/>
          <p:cNvSpPr txBox="1"/>
          <p:nvPr/>
        </p:nvSpPr>
        <p:spPr>
          <a:xfrm>
            <a:off x="723681" y="4911842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3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54" name="文本框 30"/>
          <p:cNvSpPr txBox="1"/>
          <p:nvPr/>
        </p:nvSpPr>
        <p:spPr>
          <a:xfrm>
            <a:off x="742950" y="508805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亮相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55" name="任意多边形 31"/>
          <p:cNvSpPr/>
          <p:nvPr/>
        </p:nvSpPr>
        <p:spPr>
          <a:xfrm>
            <a:off x="1642745" y="4718685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6" name="任意多边形 32"/>
          <p:cNvSpPr/>
          <p:nvPr/>
        </p:nvSpPr>
        <p:spPr>
          <a:xfrm>
            <a:off x="1800225" y="482282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7580 1"/>
              <a:gd name="p0a1dx" fmla="*/ dsw -147150 1"/>
              <a:gd name="p0a1dy" fmla="*/ dsh -141917 1"/>
              <a:gd name="p0a2dx" fmla="*/ dsw 152820 1"/>
              <a:gd name="p0a2dy" fmla="*/ dsh -141917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57" name="文本框 33"/>
          <p:cNvSpPr txBox="1"/>
          <p:nvPr/>
        </p:nvSpPr>
        <p:spPr>
          <a:xfrm>
            <a:off x="1800225" y="481713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国家级路演亮相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58" name="文本框 34"/>
          <p:cNvSpPr txBox="1"/>
          <p:nvPr/>
        </p:nvSpPr>
        <p:spPr>
          <a:xfrm>
            <a:off x="1800225" y="5135547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工信部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年专项路演（雄安站）开幕式，全场仅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亮相项目之一，郭政佑为唯一本科生</a:t>
            </a:r>
            <a:endParaRPr lang="zh-CN"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9" name="任意多边形 35"/>
          <p:cNvSpPr/>
          <p:nvPr/>
        </p:nvSpPr>
        <p:spPr>
          <a:xfrm>
            <a:off x="571500" y="5652135"/>
            <a:ext cx="914400" cy="824433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60" name="文本框 36"/>
          <p:cNvSpPr txBox="1"/>
          <p:nvPr/>
        </p:nvSpPr>
        <p:spPr>
          <a:xfrm>
            <a:off x="723681" y="5850579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 4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  <a:sym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61" name="文本框 37"/>
          <p:cNvSpPr txBox="1"/>
          <p:nvPr/>
        </p:nvSpPr>
        <p:spPr>
          <a:xfrm>
            <a:off x="742950" y="6026791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升级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62" name="任意多边形 38"/>
          <p:cNvSpPr/>
          <p:nvPr/>
        </p:nvSpPr>
        <p:spPr>
          <a:xfrm>
            <a:off x="1642745" y="5657215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63" name="任意多边形 39"/>
          <p:cNvSpPr/>
          <p:nvPr/>
        </p:nvSpPr>
        <p:spPr>
          <a:xfrm>
            <a:off x="1800225" y="576135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9058 1"/>
              <a:gd name="p0a1dx" fmla="*/ dsw -147150 1"/>
              <a:gd name="p0a1dy" fmla="*/ dsh -140439 1"/>
              <a:gd name="p0a2dx" fmla="*/ dsw 152820 1"/>
              <a:gd name="p0a2dy" fmla="*/ dsh -140439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264" name="文本框 40"/>
          <p:cNvSpPr txBox="1"/>
          <p:nvPr/>
        </p:nvSpPr>
        <p:spPr>
          <a:xfrm>
            <a:off x="1800225" y="5755872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下一步方向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sp>
        <p:nvSpPr>
          <p:cNvPr id="265" name="文本框 41"/>
          <p:cNvSpPr txBox="1"/>
          <p:nvPr/>
        </p:nvSpPr>
        <p:spPr>
          <a:xfrm>
            <a:off x="1800225" y="6074283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开发更先进、更高效、更高质量的新型电磁屏蔽材料，拓展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民生电子消费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等领域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标题 1"/>
          <p:cNvSpPr>
            <a:spLocks noGrp="1"/>
          </p:cNvSpPr>
          <p:nvPr>
            <p:ph type="title" idx="16385"/>
          </p:nvPr>
        </p:nvSpPr>
        <p:spPr>
          <a:xfrm>
            <a:off x="1016000" y="2962910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团队介绍</a:t>
            </a:r>
            <a:endParaRPr lang="zh-CN" altLang="en-US"/>
          </a:p>
        </p:txBody>
      </p:sp>
      <p:sp>
        <p:nvSpPr>
          <p:cNvPr id="301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337310"/>
            <a:ext cx="1527175" cy="1524000"/>
          </a:xfrm>
        </p:spPr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302" name="文本框 3"/>
          <p:cNvSpPr txBox="1"/>
          <p:nvPr/>
        </p:nvSpPr>
        <p:spPr>
          <a:xfrm>
            <a:off x="1016000" y="36944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八名本科生，各展所长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从机理研究到成果整理的完整协作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文本框 2"/>
          <p:cNvSpPr txBox="1"/>
          <p:nvPr/>
        </p:nvSpPr>
        <p:spPr>
          <a:xfrm>
            <a:off x="399415" y="356553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sym typeface="汉仪雅酷黑-65J" panose="00020600040101010101" charset="-122"/>
              </a:rPr>
              <a:t>八人团队与分工总览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sym typeface="汉仪雅酷黑-65J" panose="00020600040101010101" charset="-122"/>
            </a:endParaRPr>
          </a:p>
        </p:txBody>
      </p:sp>
      <p:pic>
        <p:nvPicPr>
          <p:cNvPr id="305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806440" cy="3722522"/>
          </a:xfrm>
          <a:prstGeom prst="rect">
            <a:avLst/>
          </a:prstGeom>
        </p:spPr>
      </p:pic>
      <p:sp>
        <p:nvSpPr>
          <p:cNvPr id="306" name="Rounded Rectangle 6"/>
          <p:cNvSpPr/>
          <p:nvPr/>
        </p:nvSpPr>
        <p:spPr>
          <a:xfrm>
            <a:off x="457200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机理研究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" name="Rounded Rectangle 7"/>
          <p:cNvSpPr/>
          <p:nvPr/>
        </p:nvSpPr>
        <p:spPr>
          <a:xfrm>
            <a:off x="1636776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成分设计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8" name="Rounded Rectangle 8"/>
          <p:cNvSpPr/>
          <p:nvPr/>
        </p:nvSpPr>
        <p:spPr>
          <a:xfrm>
            <a:off x="2816352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成形复合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" name="Rounded Rectangle 9"/>
          <p:cNvSpPr/>
          <p:nvPr/>
        </p:nvSpPr>
        <p:spPr>
          <a:xfrm>
            <a:off x="3995928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表征测试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0" name="Rounded Rectangle 10"/>
          <p:cNvSpPr/>
          <p:nvPr/>
        </p:nvSpPr>
        <p:spPr>
          <a:xfrm>
            <a:off x="5175504" y="5321808"/>
            <a:ext cx="1078992" cy="338328"/>
          </a:xfrm>
          <a:prstGeom prst="roundRect">
            <a:avLst>
              <a:gd name="adj" fmla="val 50000"/>
            </a:avLst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成果整理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12" name="Table 12"/>
          <p:cNvGraphicFramePr>
            <a:graphicFrameLocks noGrp="1"/>
          </p:cNvGraphicFramePr>
          <p:nvPr/>
        </p:nvGraphicFramePr>
        <p:xfrm>
          <a:off x="6355715" y="1371600"/>
          <a:ext cx="5548630" cy="4395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3030"/>
                <a:gridCol w="416560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 员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397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角色与主要分工（依据原稿）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397AF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郭政佑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团队负责人：</a:t>
                      </a:r>
                      <a:r>
                        <a:rPr sz="1600" b="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统筹项目整体；提出弹球游戏灵感；建立电磁损耗模型；开展时效热处理实验；主导电泳沉积工艺；牵头达成代工合作协议</a:t>
                      </a:r>
                      <a:endParaRPr sz="1600" b="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李佳睿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b="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参与材料成分优化与性能平衡；参与超过 15 种合金元素配比实验</a:t>
                      </a:r>
                      <a:endParaRPr sz="1600" b="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　弛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北大核心论文作者</a:t>
                      </a:r>
                      <a:endParaRPr sz="160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贾昊阳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北大核心论文作者、SCI一作</a:t>
                      </a:r>
                      <a:endParaRPr lang="zh-CN" altLang="en-US" sz="1600" b="1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刘锦洋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参与合金材料研发，专利发明人</a:t>
                      </a:r>
                      <a:endParaRPr sz="160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A2F3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蒋筱钰</a:t>
                      </a:r>
                      <a:endParaRPr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汉仪雅酷黑-65J" panose="00020600040101010101" charset="-122"/>
                        </a:rPr>
                        <a:t>周子晴</a:t>
                      </a:r>
                      <a:endParaRPr sz="1600" b="1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汉仪雅酷黑-65J" panose="00020600040101010101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6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汉仪雅酷黑-65J" panose="00020600040101010101" charset="-122"/>
                        </a:rPr>
                        <a:t>刘奕彤</a:t>
                      </a:r>
                      <a:endParaRPr lang="zh-CN" sz="1600" b="1" i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汉仪雅酷黑-65J" panose="00020600040101010101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1" i="0">
                          <a:solidFill>
                            <a:srgbClr val="397AF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团队成员：</a:t>
                      </a:r>
                      <a:r>
                        <a:rPr sz="1600" i="0">
                          <a:solidFill>
                            <a:srgbClr val="D9DEE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参与项目实验检测和资料整理</a:t>
                      </a:r>
                      <a:endParaRPr sz="1600" i="0">
                        <a:solidFill>
                          <a:srgbClr val="D9DEE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23272E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11250" y="5824220"/>
            <a:ext cx="40640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</a:pPr>
            <a:r>
              <a:rPr sz="100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团队分工覆盖上述五大环节，环环相扣（原稿信息）。</a:t>
            </a:r>
            <a:endParaRPr sz="1000" b="0">
              <a:solidFill>
                <a:srgbClr val="9AA3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成员年级：大四 4 人、大三 4 人。</a:t>
            </a:r>
            <a:endParaRPr lang="zh-CN" altLang="en-US" sz="1000">
              <a:solidFill>
                <a:srgbClr val="9AA3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文本框 4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汉仪雅酷黑-65J" panose="00020600040101010101" charset="-122"/>
                <a:cs typeface="+mj-lt"/>
              </a:rPr>
              <a:t>故事的起点：一堂导论课</a:t>
            </a:r>
            <a:endParaRPr sz="3000" b="1">
              <a:solidFill>
                <a:schemeClr val="tx2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316" name="文本框 5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一群志同道合的伙伴，从一堂课出发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17" name="任意多边形 17"/>
          <p:cNvSpPr/>
          <p:nvPr/>
        </p:nvSpPr>
        <p:spPr>
          <a:xfrm>
            <a:off x="3962400" y="431800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18" name="图片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4105275" y="4432300"/>
            <a:ext cx="95250" cy="152400"/>
          </a:xfrm>
          <a:prstGeom prst="rect">
            <a:avLst/>
          </a:prstGeom>
        </p:spPr>
      </p:pic>
      <p:sp>
        <p:nvSpPr>
          <p:cNvPr id="319" name="任意多边形 29"/>
          <p:cNvSpPr/>
          <p:nvPr/>
        </p:nvSpPr>
        <p:spPr>
          <a:xfrm>
            <a:off x="7848600" y="431800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20" name="图片 3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7991475" y="4432300"/>
            <a:ext cx="95250" cy="152400"/>
          </a:xfrm>
          <a:prstGeom prst="rect">
            <a:avLst/>
          </a:prstGeom>
        </p:spPr>
      </p:pic>
      <p:sp>
        <p:nvSpPr>
          <p:cNvPr id="321" name="任意多边形 6"/>
          <p:cNvSpPr/>
          <p:nvPr/>
        </p:nvSpPr>
        <p:spPr>
          <a:xfrm>
            <a:off x="571500" y="1447800"/>
            <a:ext cx="11049000" cy="863600"/>
          </a:xfrm>
          <a:custGeom>
            <a:avLst/>
            <a:gdLst>
              <a:gd name="sw" fmla="*/ 1 w 17400"/>
              <a:gd name="sh" fmla="*/ 1 h 1360"/>
              <a:gd name="mins" fmla="min sw sh"/>
              <a:gd name="dsw" fmla="+- 0 sw mins"/>
              <a:gd name="dsh" fmla="+- 0 sh mins"/>
              <a:gd name="p0x0" fmla="*/ 180 w 17400"/>
              <a:gd name="p0y0" fmla="*/ 0 h 1360"/>
              <a:gd name="p0x1" fmla="*/ 17220 w 17400"/>
              <a:gd name="p0y1" fmla="*/ 0 h 1360"/>
              <a:gd name="p0x2" fmla="*/ 17319 w 17400"/>
              <a:gd name="p0y2" fmla="*/ 0 h 1360"/>
              <a:gd name="p0x3" fmla="*/ 17400 w 17400"/>
              <a:gd name="p0y3" fmla="*/ 80 h 1360"/>
              <a:gd name="p0x4" fmla="*/ 17400 w 17400"/>
              <a:gd name="p0y4" fmla="*/ 180 h 1360"/>
              <a:gd name="p0x5" fmla="*/ 17400 w 17400"/>
              <a:gd name="p0y5" fmla="*/ 1180 h 1360"/>
              <a:gd name="p0x6" fmla="*/ 17400 w 17400"/>
              <a:gd name="p0y6" fmla="*/ 1280 h 1360"/>
              <a:gd name="p0x7" fmla="*/ 17319 w 17400"/>
              <a:gd name="p0y7" fmla="*/ 1360 h 1360"/>
              <a:gd name="p0x8" fmla="*/ 17220 w 17400"/>
              <a:gd name="p0y8" fmla="*/ 1360 h 1360"/>
              <a:gd name="p0x9" fmla="*/ 180 w 17400"/>
              <a:gd name="p0y9" fmla="*/ 1360 h 1360"/>
              <a:gd name="p0x10" fmla="*/ 80 w 17400"/>
              <a:gd name="p0y10" fmla="*/ 1360 h 1360"/>
              <a:gd name="p0x11" fmla="*/ 0 w 17400"/>
              <a:gd name="p0y11" fmla="*/ 1280 h 1360"/>
              <a:gd name="p0x12" fmla="*/ 0 w 17400"/>
              <a:gd name="p0y12" fmla="*/ 1180 h 1360"/>
              <a:gd name="p0x13" fmla="*/ 0 w 17400"/>
              <a:gd name="p0y13" fmla="*/ 180 h 1360"/>
              <a:gd name="p0x14" fmla="*/ 0 w 17400"/>
              <a:gd name="p0y14" fmla="*/ 80 h 1360"/>
              <a:gd name="p0x15" fmla="*/ 80 w 17400"/>
              <a:gd name="p0y15" fmla="*/ 0 h 1360"/>
              <a:gd name="p0x16" fmla="*/ 180 w 17400"/>
              <a:gd name="p0y16" fmla="*/ 0 h 1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76000"/>
            </a:schemeClr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22" name="文本框 7"/>
          <p:cNvSpPr txBox="1"/>
          <p:nvPr/>
        </p:nvSpPr>
        <p:spPr>
          <a:xfrm>
            <a:off x="762000" y="1721729"/>
            <a:ext cx="34291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兴趣是最强引擎</a:t>
            </a:r>
            <a:r>
              <a:rPr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，</a:t>
            </a:r>
            <a:r>
              <a:rPr b="1">
                <a:solidFill>
                  <a:srgbClr val="F3861A"/>
                </a:solidFill>
                <a:ea typeface="汉仪雅酷黑-65J" panose="00020600040101010101" charset="-122"/>
                <a:cs typeface="+mn-lt"/>
              </a:rPr>
              <a:t>从一堂课开始</a:t>
            </a:r>
            <a:endParaRPr b="1">
              <a:solidFill>
                <a:srgbClr val="F3861A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23" name="任意多边形 8"/>
          <p:cNvSpPr/>
          <p:nvPr/>
        </p:nvSpPr>
        <p:spPr>
          <a:xfrm>
            <a:off x="575945" y="2545080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24" name="任意多边形 9"/>
          <p:cNvSpPr/>
          <p:nvPr/>
        </p:nvSpPr>
        <p:spPr>
          <a:xfrm>
            <a:off x="7715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25" name="文本框 10"/>
          <p:cNvSpPr txBox="1"/>
          <p:nvPr/>
        </p:nvSpPr>
        <p:spPr>
          <a:xfrm>
            <a:off x="909714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1</a:t>
            </a:r>
            <a:endParaRPr b="1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26" name="文本框 11"/>
          <p:cNvSpPr txBox="1"/>
          <p:nvPr/>
        </p:nvSpPr>
        <p:spPr>
          <a:xfrm>
            <a:off x="13049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2E65B0"/>
                </a:solidFill>
                <a:ea typeface="汉仪雅酷黑-65J" panose="00020600040101010101" charset="-122"/>
                <a:cs typeface="+mn-lt"/>
              </a:rPr>
              <a:t>阶段</a:t>
            </a:r>
            <a:r>
              <a:rPr lang="en-US" altLang="zh-CN" sz="1050" b="1" spc="63">
                <a:solidFill>
                  <a:srgbClr val="2E65B0"/>
                </a:solidFill>
                <a:ea typeface="汉仪雅酷黑-65J" panose="00020600040101010101" charset="-122"/>
                <a:cs typeface="+mn-lt"/>
              </a:rPr>
              <a:t> 01</a:t>
            </a:r>
            <a:endParaRPr lang="en-US" altLang="zh-CN" sz="1050" b="1" spc="63">
              <a:solidFill>
                <a:srgbClr val="2E65B0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27" name="文本框 12"/>
          <p:cNvSpPr txBox="1"/>
          <p:nvPr/>
        </p:nvSpPr>
        <p:spPr>
          <a:xfrm>
            <a:off x="13049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导论课初识</a:t>
            </a:r>
            <a:endParaRPr b="1">
              <a:solidFill>
                <a:schemeClr val="tx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28" name="任意多边形 13"/>
          <p:cNvSpPr/>
          <p:nvPr/>
        </p:nvSpPr>
        <p:spPr>
          <a:xfrm>
            <a:off x="771525" y="3383280"/>
            <a:ext cx="990600" cy="266700"/>
          </a:xfrm>
          <a:custGeom>
            <a:avLst/>
            <a:gdLst>
              <a:gd name="sw" fmla="*/ 1 w 1560"/>
              <a:gd name="sh" fmla="*/ 1 h 420"/>
              <a:gd name="mins" fmla="min sw sh"/>
              <a:gd name="dsw" fmla="+- 0 sw mins"/>
              <a:gd name="dsh" fmla="+- 0 sh mins"/>
              <a:gd name="p0x0" fmla="*/ 210 w 1560"/>
              <a:gd name="p0y0" fmla="*/ 0 h 420"/>
              <a:gd name="p0x1" fmla="*/ 1350 w 1560"/>
              <a:gd name="p0y1" fmla="*/ 0 h 420"/>
              <a:gd name="p0x2" fmla="*/ 1466 w 1560"/>
              <a:gd name="p0y2" fmla="*/ 0 h 420"/>
              <a:gd name="p0x3" fmla="*/ 1560 w 1560"/>
              <a:gd name="p0y3" fmla="*/ 94 h 420"/>
              <a:gd name="p0x4" fmla="*/ 1560 w 1560"/>
              <a:gd name="p0y4" fmla="*/ 210 h 420"/>
              <a:gd name="p0x5" fmla="*/ 1560 w 1560"/>
              <a:gd name="p0y5" fmla="*/ 325 h 420"/>
              <a:gd name="p0x6" fmla="*/ 1466 w 1560"/>
              <a:gd name="p0y6" fmla="*/ 420 h 420"/>
              <a:gd name="p0x7" fmla="*/ 1350 w 1560"/>
              <a:gd name="p0y7" fmla="*/ 420 h 420"/>
              <a:gd name="p0x8" fmla="*/ 210 w 1560"/>
              <a:gd name="p0y8" fmla="*/ 420 h 420"/>
              <a:gd name="p0x9" fmla="*/ 94 w 1560"/>
              <a:gd name="p0y9" fmla="*/ 420 h 420"/>
              <a:gd name="p0x10" fmla="*/ 0 w 1560"/>
              <a:gd name="p0y10" fmla="*/ 325 h 420"/>
              <a:gd name="p0x11" fmla="*/ 0 w 1560"/>
              <a:gd name="p0y11" fmla="*/ 210 h 420"/>
              <a:gd name="p0x12" fmla="*/ 0 w 1560"/>
              <a:gd name="p0y12" fmla="*/ 94 h 420"/>
              <a:gd name="p0x13" fmla="*/ 94 w 1560"/>
              <a:gd name="p0y13" fmla="*/ 0 h 420"/>
              <a:gd name="p0x14" fmla="*/ 210 w 15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29" name="文本框 14"/>
          <p:cNvSpPr txBox="1"/>
          <p:nvPr/>
        </p:nvSpPr>
        <p:spPr>
          <a:xfrm>
            <a:off x="885825" y="3412989"/>
            <a:ext cx="9144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163C7A"/>
                </a:solidFill>
                <a:ea typeface="汉仪雅酷黑-65J" panose="00020600040101010101" charset="-122"/>
                <a:cs typeface="+mn-lt"/>
              </a:rPr>
              <a:t>专业导论课</a:t>
            </a:r>
            <a:endParaRPr sz="1200" b="1">
              <a:solidFill>
                <a:srgbClr val="163C7A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0" name="矩形 15"/>
          <p:cNvSpPr/>
          <p:nvPr/>
        </p:nvSpPr>
        <p:spPr>
          <a:xfrm>
            <a:off x="7715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1" name="任意多边形 16"/>
          <p:cNvSpPr/>
          <p:nvPr/>
        </p:nvSpPr>
        <p:spPr>
          <a:xfrm>
            <a:off x="694690" y="408305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2" name="文本框 19"/>
          <p:cNvSpPr txBox="1"/>
          <p:nvPr/>
        </p:nvSpPr>
        <p:spPr>
          <a:xfrm>
            <a:off x="837565" y="3964083"/>
            <a:ext cx="26670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大二时，郭政佑在</a:t>
            </a:r>
            <a:r>
              <a:rPr sz="2000"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巫瑞智教授</a:t>
            </a: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的专业导论课上第一次接触到</a:t>
            </a:r>
            <a:r>
              <a:rPr sz="2000"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镁锂合金</a:t>
            </a:r>
            <a:endParaRPr sz="2000" b="1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3" name="任意多边形 20"/>
          <p:cNvSpPr/>
          <p:nvPr/>
        </p:nvSpPr>
        <p:spPr>
          <a:xfrm>
            <a:off x="4462145" y="2545080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4" name="任意多边形 21"/>
          <p:cNvSpPr/>
          <p:nvPr/>
        </p:nvSpPr>
        <p:spPr>
          <a:xfrm>
            <a:off x="46577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5" name="文本框 22"/>
          <p:cNvSpPr txBox="1"/>
          <p:nvPr/>
        </p:nvSpPr>
        <p:spPr>
          <a:xfrm>
            <a:off x="4795914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2</a:t>
            </a:r>
            <a:endParaRPr b="1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6" name="文本框 23"/>
          <p:cNvSpPr txBox="1"/>
          <p:nvPr/>
        </p:nvSpPr>
        <p:spPr>
          <a:xfrm>
            <a:off x="51911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F3861A"/>
                </a:solidFill>
                <a:ea typeface="汉仪雅酷黑-65J" panose="00020600040101010101" charset="-122"/>
                <a:cs typeface="+mn-lt"/>
              </a:rPr>
              <a:t>阶段</a:t>
            </a:r>
            <a:r>
              <a:rPr lang="en-US" altLang="zh-CN" sz="1050" b="1" spc="63">
                <a:solidFill>
                  <a:srgbClr val="F3861A"/>
                </a:solidFill>
                <a:ea typeface="汉仪雅酷黑-65J" panose="00020600040101010101" charset="-122"/>
                <a:cs typeface="+mn-lt"/>
              </a:rPr>
              <a:t> 02</a:t>
            </a:r>
            <a:endParaRPr lang="en-US" altLang="zh-CN" sz="1050" b="1" spc="63">
              <a:solidFill>
                <a:srgbClr val="F3861A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7" name="文本框 24"/>
          <p:cNvSpPr txBox="1"/>
          <p:nvPr/>
        </p:nvSpPr>
        <p:spPr>
          <a:xfrm>
            <a:off x="51911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加入课题</a:t>
            </a:r>
            <a:endParaRPr b="1">
              <a:solidFill>
                <a:schemeClr val="tx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38" name="任意多边形 25"/>
          <p:cNvSpPr/>
          <p:nvPr/>
        </p:nvSpPr>
        <p:spPr>
          <a:xfrm>
            <a:off x="4657725" y="3383280"/>
            <a:ext cx="838200" cy="266700"/>
          </a:xfrm>
          <a:custGeom>
            <a:avLst/>
            <a:gdLst>
              <a:gd name="sw" fmla="*/ 1 w 1320"/>
              <a:gd name="sh" fmla="*/ 1 h 420"/>
              <a:gd name="mins" fmla="min sw sh"/>
              <a:gd name="dsw" fmla="+- 0 sw mins"/>
              <a:gd name="dsh" fmla="+- 0 sh mins"/>
              <a:gd name="p0x0" fmla="*/ 210 w 1320"/>
              <a:gd name="p0y0" fmla="*/ 0 h 420"/>
              <a:gd name="p0x1" fmla="*/ 1110 w 1320"/>
              <a:gd name="p0y1" fmla="*/ 0 h 420"/>
              <a:gd name="p0x2" fmla="*/ 1226 w 1320"/>
              <a:gd name="p0y2" fmla="*/ 0 h 420"/>
              <a:gd name="p0x3" fmla="*/ 1320 w 1320"/>
              <a:gd name="p0y3" fmla="*/ 94 h 420"/>
              <a:gd name="p0x4" fmla="*/ 1320 w 1320"/>
              <a:gd name="p0y4" fmla="*/ 210 h 420"/>
              <a:gd name="p0x5" fmla="*/ 1320 w 1320"/>
              <a:gd name="p0y5" fmla="*/ 325 h 420"/>
              <a:gd name="p0x6" fmla="*/ 1226 w 1320"/>
              <a:gd name="p0y6" fmla="*/ 420 h 420"/>
              <a:gd name="p0x7" fmla="*/ 1110 w 1320"/>
              <a:gd name="p0y7" fmla="*/ 420 h 420"/>
              <a:gd name="p0x8" fmla="*/ 210 w 1320"/>
              <a:gd name="p0y8" fmla="*/ 420 h 420"/>
              <a:gd name="p0x9" fmla="*/ 94 w 1320"/>
              <a:gd name="p0y9" fmla="*/ 420 h 420"/>
              <a:gd name="p0x10" fmla="*/ 0 w 1320"/>
              <a:gd name="p0y10" fmla="*/ 325 h 420"/>
              <a:gd name="p0x11" fmla="*/ 0 w 1320"/>
              <a:gd name="p0y11" fmla="*/ 210 h 420"/>
              <a:gd name="p0x12" fmla="*/ 0 w 1320"/>
              <a:gd name="p0y12" fmla="*/ 94 h 420"/>
              <a:gd name="p0x13" fmla="*/ 94 w 1320"/>
              <a:gd name="p0y13" fmla="*/ 0 h 420"/>
              <a:gd name="p0x14" fmla="*/ 210 w 132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lumMod val="20331"/>
              <a:lumOff val="7966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39" name="文本框 26"/>
          <p:cNvSpPr txBox="1"/>
          <p:nvPr/>
        </p:nvSpPr>
        <p:spPr>
          <a:xfrm>
            <a:off x="4772025" y="3412989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B25E00"/>
                </a:solidFill>
                <a:ea typeface="汉仪雅酷黑-65J" panose="00020600040101010101" charset="-122"/>
                <a:cs typeface="+mn-lt"/>
              </a:rPr>
              <a:t>浓厚兴趣</a:t>
            </a:r>
            <a:endParaRPr sz="1200" b="1">
              <a:solidFill>
                <a:srgbClr val="B25E00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0" name="矩形 27"/>
          <p:cNvSpPr/>
          <p:nvPr/>
        </p:nvSpPr>
        <p:spPr>
          <a:xfrm>
            <a:off x="46577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1" name="任意多边形 28"/>
          <p:cNvSpPr/>
          <p:nvPr/>
        </p:nvSpPr>
        <p:spPr>
          <a:xfrm>
            <a:off x="4580890" y="408305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2" name="文本框 31"/>
          <p:cNvSpPr txBox="1"/>
          <p:nvPr/>
        </p:nvSpPr>
        <p:spPr>
          <a:xfrm>
            <a:off x="4723765" y="3964083"/>
            <a:ext cx="27336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带着浓厚兴趣，加入巫教授带领的</a:t>
            </a:r>
            <a:r>
              <a:rPr sz="2000"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“镁锂基电磁屏蔽材料”</a:t>
            </a: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课题研究</a:t>
            </a:r>
            <a:endParaRPr sz="2000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3" name="任意多边形 32"/>
          <p:cNvSpPr/>
          <p:nvPr/>
        </p:nvSpPr>
        <p:spPr>
          <a:xfrm>
            <a:off x="8348345" y="2568575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4" name="任意多边形 33"/>
          <p:cNvSpPr/>
          <p:nvPr/>
        </p:nvSpPr>
        <p:spPr>
          <a:xfrm>
            <a:off x="85439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5" name="文本框 34"/>
          <p:cNvSpPr txBox="1"/>
          <p:nvPr/>
        </p:nvSpPr>
        <p:spPr>
          <a:xfrm>
            <a:off x="8682113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3</a:t>
            </a:r>
            <a:endParaRPr b="1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6" name="文本框 35"/>
          <p:cNvSpPr txBox="1"/>
          <p:nvPr/>
        </p:nvSpPr>
        <p:spPr>
          <a:xfrm>
            <a:off x="90773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3D7FA8"/>
                </a:solidFill>
                <a:ea typeface="汉仪雅酷黑-65J" panose="00020600040101010101" charset="-122"/>
                <a:cs typeface="+mn-lt"/>
              </a:rPr>
              <a:t>阶段</a:t>
            </a:r>
            <a:r>
              <a:rPr lang="en-US" altLang="zh-CN" sz="1050" b="1" spc="63">
                <a:solidFill>
                  <a:srgbClr val="3D7FA8"/>
                </a:solidFill>
                <a:ea typeface="汉仪雅酷黑-65J" panose="00020600040101010101" charset="-122"/>
                <a:cs typeface="+mn-lt"/>
              </a:rPr>
              <a:t> 03</a:t>
            </a:r>
            <a:endParaRPr lang="en-US" altLang="zh-CN" sz="1050" b="1" spc="63">
              <a:solidFill>
                <a:srgbClr val="3D7FA8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7" name="文本框 36"/>
          <p:cNvSpPr txBox="1"/>
          <p:nvPr/>
        </p:nvSpPr>
        <p:spPr>
          <a:xfrm>
            <a:off x="90773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开启研究</a:t>
            </a:r>
            <a:endParaRPr b="1">
              <a:solidFill>
                <a:schemeClr val="tx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48" name="任意多边形 37"/>
          <p:cNvSpPr/>
          <p:nvPr/>
        </p:nvSpPr>
        <p:spPr>
          <a:xfrm>
            <a:off x="8543925" y="3383280"/>
            <a:ext cx="838200" cy="266700"/>
          </a:xfrm>
          <a:custGeom>
            <a:avLst/>
            <a:gdLst>
              <a:gd name="sw" fmla="*/ 1 w 1320"/>
              <a:gd name="sh" fmla="*/ 1 h 420"/>
              <a:gd name="mins" fmla="min sw sh"/>
              <a:gd name="dsw" fmla="+- 0 sw mins"/>
              <a:gd name="dsh" fmla="+- 0 sh mins"/>
              <a:gd name="p0x0" fmla="*/ 210 w 1320"/>
              <a:gd name="p0y0" fmla="*/ 0 h 420"/>
              <a:gd name="p0x1" fmla="*/ 1110 w 1320"/>
              <a:gd name="p0y1" fmla="*/ 0 h 420"/>
              <a:gd name="p0x2" fmla="*/ 1226 w 1320"/>
              <a:gd name="p0y2" fmla="*/ 0 h 420"/>
              <a:gd name="p0x3" fmla="*/ 1320 w 1320"/>
              <a:gd name="p0y3" fmla="*/ 94 h 420"/>
              <a:gd name="p0x4" fmla="*/ 1320 w 1320"/>
              <a:gd name="p0y4" fmla="*/ 210 h 420"/>
              <a:gd name="p0x5" fmla="*/ 1320 w 1320"/>
              <a:gd name="p0y5" fmla="*/ 325 h 420"/>
              <a:gd name="p0x6" fmla="*/ 1226 w 1320"/>
              <a:gd name="p0y6" fmla="*/ 420 h 420"/>
              <a:gd name="p0x7" fmla="*/ 1110 w 1320"/>
              <a:gd name="p0y7" fmla="*/ 420 h 420"/>
              <a:gd name="p0x8" fmla="*/ 210 w 1320"/>
              <a:gd name="p0y8" fmla="*/ 420 h 420"/>
              <a:gd name="p0x9" fmla="*/ 94 w 1320"/>
              <a:gd name="p0y9" fmla="*/ 420 h 420"/>
              <a:gd name="p0x10" fmla="*/ 0 w 1320"/>
              <a:gd name="p0y10" fmla="*/ 325 h 420"/>
              <a:gd name="p0x11" fmla="*/ 0 w 1320"/>
              <a:gd name="p0y11" fmla="*/ 210 h 420"/>
              <a:gd name="p0x12" fmla="*/ 0 w 1320"/>
              <a:gd name="p0y12" fmla="*/ 94 h 420"/>
              <a:gd name="p0x13" fmla="*/ 94 w 1320"/>
              <a:gd name="p0y13" fmla="*/ 0 h 420"/>
              <a:gd name="p0x14" fmla="*/ 210 w 132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>
              <a:lumMod val="18506"/>
              <a:lumOff val="8149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49" name="文本框 38"/>
          <p:cNvSpPr txBox="1"/>
          <p:nvPr/>
        </p:nvSpPr>
        <p:spPr>
          <a:xfrm>
            <a:off x="8658225" y="3412989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1B5C82"/>
                </a:solidFill>
                <a:ea typeface="汉仪雅酷黑-65J" panose="00020600040101010101" charset="-122"/>
                <a:cs typeface="+mn-lt"/>
              </a:rPr>
              <a:t>志同道合</a:t>
            </a:r>
            <a:endParaRPr sz="1200" b="1">
              <a:solidFill>
                <a:srgbClr val="1B5C8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50" name="矩形 39"/>
          <p:cNvSpPr/>
          <p:nvPr/>
        </p:nvSpPr>
        <p:spPr>
          <a:xfrm>
            <a:off x="85439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51" name="任意多边形 40"/>
          <p:cNvSpPr/>
          <p:nvPr/>
        </p:nvSpPr>
        <p:spPr>
          <a:xfrm>
            <a:off x="8467090" y="408305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52" name="文本框 41"/>
          <p:cNvSpPr txBox="1"/>
          <p:nvPr/>
        </p:nvSpPr>
        <p:spPr>
          <a:xfrm>
            <a:off x="8609965" y="3964083"/>
            <a:ext cx="27622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与一群志同道合的小伙伴，开启</a:t>
            </a:r>
            <a:r>
              <a:rPr sz="2000" b="1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镁锂合金材料综合性能提升</a:t>
            </a:r>
            <a:r>
              <a:rPr sz="2000">
                <a:solidFill>
                  <a:srgbClr val="FFFFFF"/>
                </a:solidFill>
                <a:ea typeface="汉仪雅酷黑-65J" panose="00020600040101010101" charset="-122"/>
                <a:cs typeface="+mn-lt"/>
              </a:rPr>
              <a:t>的研究之路</a:t>
            </a:r>
            <a:endParaRPr sz="2000">
              <a:solidFill>
                <a:srgbClr val="FFFFFF"/>
              </a:solidFill>
              <a:ea typeface="汉仪雅酷黑-65J" panose="00020600040101010101" charset="-122"/>
              <a:cs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文本框 4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汉仪雅酷黑-65J" panose="00020600040101010101" charset="-122"/>
                <a:cs typeface="+mj-lt"/>
              </a:rPr>
              <a:t>并肩同行，共赢的力量</a:t>
            </a:r>
            <a:endParaRPr sz="3000" b="1">
              <a:solidFill>
                <a:schemeClr val="tx2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355" name="文本框 5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学习与科创，是相辅相成的两翼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56" name="任意多边形 6"/>
          <p:cNvSpPr/>
          <p:nvPr/>
        </p:nvSpPr>
        <p:spPr>
          <a:xfrm>
            <a:off x="571500" y="1447800"/>
            <a:ext cx="11049000" cy="863600"/>
          </a:xfrm>
          <a:custGeom>
            <a:avLst/>
            <a:gdLst>
              <a:gd name="sw" fmla="*/ 1 w 17400"/>
              <a:gd name="sh" fmla="*/ 1 h 1360"/>
              <a:gd name="mins" fmla="min sw sh"/>
              <a:gd name="dsw" fmla="+- 0 sw mins"/>
              <a:gd name="dsh" fmla="+- 0 sh mins"/>
              <a:gd name="p0x0" fmla="*/ 180 w 17400"/>
              <a:gd name="p0y0" fmla="*/ 0 h 1360"/>
              <a:gd name="p0x1" fmla="*/ 17220 w 17400"/>
              <a:gd name="p0y1" fmla="*/ 0 h 1360"/>
              <a:gd name="p0x2" fmla="*/ 17319 w 17400"/>
              <a:gd name="p0y2" fmla="*/ 0 h 1360"/>
              <a:gd name="p0x3" fmla="*/ 17400 w 17400"/>
              <a:gd name="p0y3" fmla="*/ 80 h 1360"/>
              <a:gd name="p0x4" fmla="*/ 17400 w 17400"/>
              <a:gd name="p0y4" fmla="*/ 180 h 1360"/>
              <a:gd name="p0x5" fmla="*/ 17400 w 17400"/>
              <a:gd name="p0y5" fmla="*/ 1180 h 1360"/>
              <a:gd name="p0x6" fmla="*/ 17400 w 17400"/>
              <a:gd name="p0y6" fmla="*/ 1280 h 1360"/>
              <a:gd name="p0x7" fmla="*/ 17319 w 17400"/>
              <a:gd name="p0y7" fmla="*/ 1360 h 1360"/>
              <a:gd name="p0x8" fmla="*/ 17220 w 17400"/>
              <a:gd name="p0y8" fmla="*/ 1360 h 1360"/>
              <a:gd name="p0x9" fmla="*/ 180 w 17400"/>
              <a:gd name="p0y9" fmla="*/ 1360 h 1360"/>
              <a:gd name="p0x10" fmla="*/ 80 w 17400"/>
              <a:gd name="p0y10" fmla="*/ 1360 h 1360"/>
              <a:gd name="p0x11" fmla="*/ 0 w 17400"/>
              <a:gd name="p0y11" fmla="*/ 1280 h 1360"/>
              <a:gd name="p0x12" fmla="*/ 0 w 17400"/>
              <a:gd name="p0y12" fmla="*/ 1180 h 1360"/>
              <a:gd name="p0x13" fmla="*/ 0 w 17400"/>
              <a:gd name="p0y13" fmla="*/ 180 h 1360"/>
              <a:gd name="p0x14" fmla="*/ 0 w 17400"/>
              <a:gd name="p0y14" fmla="*/ 80 h 1360"/>
              <a:gd name="p0x15" fmla="*/ 80 w 17400"/>
              <a:gd name="p0y15" fmla="*/ 0 h 1360"/>
              <a:gd name="p0x16" fmla="*/ 180 w 17400"/>
              <a:gd name="p0y16" fmla="*/ 0 h 1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tx1">
              <a:lumMod val="85000"/>
              <a:alpha val="23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57" name="文本框 7"/>
          <p:cNvSpPr txBox="1"/>
          <p:nvPr/>
        </p:nvSpPr>
        <p:spPr>
          <a:xfrm>
            <a:off x="762000" y="1480820"/>
            <a:ext cx="10710545" cy="6407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000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团队行稳致远的三个关键词：</a:t>
            </a:r>
            <a:r>
              <a:rPr sz="3600">
                <a:solidFill>
                  <a:schemeClr val="tx2"/>
                </a:solidFill>
                <a:ea typeface="汉仪雅酷黑-65J" panose="00020600040101010101" charset="-122"/>
                <a:cs typeface="+mn-lt"/>
              </a:rPr>
              <a:t>协作 · 传承 · 学业基石</a:t>
            </a:r>
            <a:endParaRPr sz="3600" b="1">
              <a:solidFill>
                <a:schemeClr val="tx2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58" name="任意多边形 8"/>
          <p:cNvSpPr/>
          <p:nvPr>
            <p:custDataLst>
              <p:tags r:id="rId1"/>
            </p:custDataLst>
          </p:nvPr>
        </p:nvSpPr>
        <p:spPr>
          <a:xfrm>
            <a:off x="575945" y="2545080"/>
            <a:ext cx="11039475" cy="3926840"/>
          </a:xfrm>
          <a:custGeom>
            <a:avLst/>
            <a:gdLst>
              <a:gd name="sw" fmla="*/ 1 w 17385"/>
              <a:gd name="sh" fmla="*/ 1 h 6184"/>
              <a:gd name="mins" fmla="min sw sh"/>
              <a:gd name="dsw" fmla="+- 0 sw mins"/>
              <a:gd name="dsh" fmla="+- 0 sh mins"/>
              <a:gd name="p0x0" fmla="*/ 180 w 17385"/>
              <a:gd name="p0y0" fmla="*/ 0 h 6184"/>
              <a:gd name="p0x1" fmla="*/ 17205 w 17385"/>
              <a:gd name="p0y1" fmla="*/ 0 h 6184"/>
              <a:gd name="p0x2" fmla="*/ 17304 w 17385"/>
              <a:gd name="p0y2" fmla="*/ 0 h 6184"/>
              <a:gd name="p0x3" fmla="*/ 17385 w 17385"/>
              <a:gd name="p0y3" fmla="*/ 80 h 6184"/>
              <a:gd name="p0x4" fmla="*/ 17385 w 17385"/>
              <a:gd name="p0y4" fmla="*/ 180 h 6184"/>
              <a:gd name="p0x5" fmla="*/ 17385 w 17385"/>
              <a:gd name="p0y5" fmla="*/ 6004 h 6184"/>
              <a:gd name="p0x6" fmla="*/ 17385 w 17385"/>
              <a:gd name="p0y6" fmla="*/ 6103 h 6184"/>
              <a:gd name="p0x7" fmla="*/ 17304 w 17385"/>
              <a:gd name="p0y7" fmla="*/ 6184 h 6184"/>
              <a:gd name="p0x8" fmla="*/ 17205 w 17385"/>
              <a:gd name="p0y8" fmla="*/ 6184 h 6184"/>
              <a:gd name="p0x9" fmla="*/ 180 w 17385"/>
              <a:gd name="p0y9" fmla="*/ 6184 h 6184"/>
              <a:gd name="p0x10" fmla="*/ 80 w 17385"/>
              <a:gd name="p0y10" fmla="*/ 6184 h 6184"/>
              <a:gd name="p0x11" fmla="*/ 0 w 17385"/>
              <a:gd name="p0y11" fmla="*/ 6103 h 6184"/>
              <a:gd name="p0x12" fmla="*/ 0 w 17385"/>
              <a:gd name="p0y12" fmla="*/ 6004 h 6184"/>
              <a:gd name="p0x13" fmla="*/ 0 w 17385"/>
              <a:gd name="p0y13" fmla="*/ 180 h 6184"/>
              <a:gd name="p0x14" fmla="*/ 0 w 17385"/>
              <a:gd name="p0y14" fmla="*/ 80 h 6184"/>
              <a:gd name="p0x15" fmla="*/ 80 w 17385"/>
              <a:gd name="p0y15" fmla="*/ 0 h 6184"/>
              <a:gd name="p0x16" fmla="*/ 180 w 1738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sp>
        <p:nvSpPr>
          <p:cNvPr id="359" name="任意多边形 9"/>
          <p:cNvSpPr/>
          <p:nvPr>
            <p:custDataLst>
              <p:tags r:id="rId2"/>
            </p:custDataLst>
          </p:nvPr>
        </p:nvSpPr>
        <p:spPr>
          <a:xfrm>
            <a:off x="775970" y="2745105"/>
            <a:ext cx="5219700" cy="1663065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0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360" name="组合 48"/>
          <p:cNvGrpSpPr/>
          <p:nvPr>
            <p:custDataLst>
              <p:tags r:id="rId3"/>
            </p:custDataLst>
          </p:nvPr>
        </p:nvGrpSpPr>
        <p:grpSpPr>
          <a:xfrm>
            <a:off x="781050" y="2749550"/>
            <a:ext cx="5209540" cy="571500"/>
            <a:chOff x="1230" y="4330"/>
            <a:chExt cx="8204" cy="900"/>
          </a:xfrm>
        </p:grpSpPr>
        <p:sp>
          <p:nvSpPr>
            <p:cNvPr id="361" name="任意多边形 10"/>
            <p:cNvSpPr/>
            <p:nvPr>
              <p:custDataLst>
                <p:tags r:id="rId4"/>
              </p:custDataLst>
            </p:nvPr>
          </p:nvSpPr>
          <p:spPr>
            <a:xfrm>
              <a:off x="1230" y="4330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362" name="任意多边形 11"/>
            <p:cNvSpPr/>
            <p:nvPr>
              <p:custDataLst>
                <p:tags r:id="rId5"/>
              </p:custDataLst>
            </p:nvPr>
          </p:nvSpPr>
          <p:spPr>
            <a:xfrm>
              <a:off x="1230" y="5215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363" name="任意多边形 12"/>
          <p:cNvSpPr/>
          <p:nvPr>
            <p:custDataLst>
              <p:tags r:id="rId6"/>
            </p:custDataLst>
          </p:nvPr>
        </p:nvSpPr>
        <p:spPr>
          <a:xfrm>
            <a:off x="933450" y="2897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6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1000125" y="2959100"/>
            <a:ext cx="133350" cy="138430"/>
          </a:xfrm>
          <a:prstGeom prst="rect">
            <a:avLst/>
          </a:prstGeom>
        </p:spPr>
      </p:pic>
      <p:sp>
        <p:nvSpPr>
          <p:cNvPr id="365" name="文本框 15"/>
          <p:cNvSpPr txBox="1"/>
          <p:nvPr>
            <p:custDataLst>
              <p:tags r:id="rId10"/>
            </p:custDataLst>
          </p:nvPr>
        </p:nvSpPr>
        <p:spPr>
          <a:xfrm>
            <a:off x="1314450" y="284815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协作共赢</a:t>
            </a:r>
            <a:endParaRPr sz="2100" b="1" spc="42">
              <a:solidFill>
                <a:srgbClr val="1E3A5C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66" name="文本框 16"/>
          <p:cNvSpPr txBox="1"/>
          <p:nvPr>
            <p:custDataLst>
              <p:tags r:id="rId11"/>
            </p:custDataLst>
          </p:nvPr>
        </p:nvSpPr>
        <p:spPr>
          <a:xfrm>
            <a:off x="933450" y="3459661"/>
            <a:ext cx="49053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9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团队成员各展所长，从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材料选择、复合制备到性能检验</a:t>
            </a:r>
            <a:r>
              <a:rPr sz="1900">
                <a:ea typeface="汉仪雅酷黑-65J" panose="00020600040101010101" charset="-122"/>
                <a:cs typeface="+mn-lt"/>
              </a:rPr>
              <a:t>环环推进。</a:t>
            </a:r>
            <a:endParaRPr sz="1900">
              <a:ea typeface="汉仪雅酷黑-65J" panose="00020600040101010101" charset="-122"/>
              <a:cs typeface="+mn-lt"/>
            </a:endParaRPr>
          </a:p>
        </p:txBody>
      </p:sp>
      <p:sp>
        <p:nvSpPr>
          <p:cNvPr id="367" name="任意多边形 18"/>
          <p:cNvSpPr/>
          <p:nvPr>
            <p:custDataLst>
              <p:tags r:id="rId12"/>
            </p:custDataLst>
          </p:nvPr>
        </p:nvSpPr>
        <p:spPr>
          <a:xfrm>
            <a:off x="6195695" y="2745105"/>
            <a:ext cx="5219700" cy="1663065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0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368" name="组合 49"/>
          <p:cNvGrpSpPr/>
          <p:nvPr>
            <p:custDataLst>
              <p:tags r:id="rId13"/>
            </p:custDataLst>
          </p:nvPr>
        </p:nvGrpSpPr>
        <p:grpSpPr>
          <a:xfrm>
            <a:off x="6200775" y="2749550"/>
            <a:ext cx="5209540" cy="571500"/>
            <a:chOff x="9765" y="4330"/>
            <a:chExt cx="8204" cy="900"/>
          </a:xfrm>
        </p:grpSpPr>
        <p:sp>
          <p:nvSpPr>
            <p:cNvPr id="369" name="任意多边形 19"/>
            <p:cNvSpPr/>
            <p:nvPr>
              <p:custDataLst>
                <p:tags r:id="rId14"/>
              </p:custDataLst>
            </p:nvPr>
          </p:nvSpPr>
          <p:spPr>
            <a:xfrm>
              <a:off x="9765" y="4330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370" name="任意多边形 20"/>
            <p:cNvSpPr/>
            <p:nvPr>
              <p:custDataLst>
                <p:tags r:id="rId15"/>
              </p:custDataLst>
            </p:nvPr>
          </p:nvSpPr>
          <p:spPr>
            <a:xfrm>
              <a:off x="9765" y="5215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371" name="任意多边形 22"/>
          <p:cNvSpPr/>
          <p:nvPr>
            <p:custDataLst>
              <p:tags r:id="rId16"/>
            </p:custDataLst>
          </p:nvPr>
        </p:nvSpPr>
        <p:spPr>
          <a:xfrm>
            <a:off x="6353175" y="2897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72" name="图片 2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3333" t="-10556" r="-3333" b="-10556"/>
          <a:stretch>
            <a:fillRect/>
          </a:stretch>
        </p:blipFill>
        <p:spPr>
          <a:xfrm>
            <a:off x="6410325" y="2959100"/>
            <a:ext cx="152400" cy="138430"/>
          </a:xfrm>
          <a:prstGeom prst="rect">
            <a:avLst/>
          </a:prstGeom>
        </p:spPr>
      </p:pic>
      <p:sp>
        <p:nvSpPr>
          <p:cNvPr id="373" name="文本框 25"/>
          <p:cNvSpPr txBox="1"/>
          <p:nvPr>
            <p:custDataLst>
              <p:tags r:id="rId20"/>
            </p:custDataLst>
          </p:nvPr>
        </p:nvSpPr>
        <p:spPr>
          <a:xfrm>
            <a:off x="6734175" y="284815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传帮带</a:t>
            </a:r>
            <a:endParaRPr sz="2100" b="1" spc="42">
              <a:solidFill>
                <a:srgbClr val="1E3A5C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74" name="文本框 26"/>
          <p:cNvSpPr txBox="1"/>
          <p:nvPr>
            <p:custDataLst>
              <p:tags r:id="rId21"/>
            </p:custDataLst>
          </p:nvPr>
        </p:nvSpPr>
        <p:spPr>
          <a:xfrm>
            <a:off x="6353175" y="3459661"/>
            <a:ext cx="49053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900">
                <a:ea typeface="汉仪雅酷黑-65J" panose="00020600040101010101" charset="-122"/>
                <a:cs typeface="+mn-lt"/>
              </a:rPr>
              <a:t>师兄师姐传帮带，师生接力把课题一步步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做深做实</a:t>
            </a:r>
            <a:r>
              <a:rPr sz="1900">
                <a:solidFill>
                  <a:srgbClr val="4A6178"/>
                </a:solidFill>
                <a:ea typeface="汉仪雅酷黑-65J" panose="00020600040101010101" charset="-122"/>
                <a:cs typeface="+mn-lt"/>
              </a:rPr>
              <a:t>。</a:t>
            </a:r>
            <a:endParaRPr sz="1900">
              <a:solidFill>
                <a:srgbClr val="4A6178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75" name="任意多边形 28"/>
          <p:cNvSpPr/>
          <p:nvPr>
            <p:custDataLst>
              <p:tags r:id="rId22"/>
            </p:custDataLst>
          </p:nvPr>
        </p:nvSpPr>
        <p:spPr>
          <a:xfrm>
            <a:off x="775970" y="4608195"/>
            <a:ext cx="5219700" cy="1663700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28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376" name="组合 50"/>
          <p:cNvGrpSpPr/>
          <p:nvPr>
            <p:custDataLst>
              <p:tags r:id="rId23"/>
            </p:custDataLst>
          </p:nvPr>
        </p:nvGrpSpPr>
        <p:grpSpPr>
          <a:xfrm>
            <a:off x="781050" y="4613275"/>
            <a:ext cx="5209540" cy="571500"/>
            <a:chOff x="1230" y="7265"/>
            <a:chExt cx="8204" cy="900"/>
          </a:xfrm>
        </p:grpSpPr>
        <p:sp>
          <p:nvSpPr>
            <p:cNvPr id="377" name="任意多边形 29"/>
            <p:cNvSpPr/>
            <p:nvPr>
              <p:custDataLst>
                <p:tags r:id="rId24"/>
              </p:custDataLst>
            </p:nvPr>
          </p:nvSpPr>
          <p:spPr>
            <a:xfrm>
              <a:off x="1230" y="7265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378" name="任意多边形 30"/>
            <p:cNvSpPr/>
            <p:nvPr>
              <p:custDataLst>
                <p:tags r:id="rId25"/>
              </p:custDataLst>
            </p:nvPr>
          </p:nvSpPr>
          <p:spPr>
            <a:xfrm>
              <a:off x="1230" y="8150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379" name="任意多边形 32"/>
          <p:cNvSpPr/>
          <p:nvPr>
            <p:custDataLst>
              <p:tags r:id="rId26"/>
            </p:custDataLst>
          </p:nvPr>
        </p:nvSpPr>
        <p:spPr>
          <a:xfrm>
            <a:off x="933450" y="4760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80" name="图片 3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3333" t="-15758" r="-3333" b="-15758"/>
          <a:stretch>
            <a:fillRect/>
          </a:stretch>
        </p:blipFill>
        <p:spPr>
          <a:xfrm>
            <a:off x="990600" y="4822825"/>
            <a:ext cx="152400" cy="137795"/>
          </a:xfrm>
          <a:prstGeom prst="rect">
            <a:avLst/>
          </a:prstGeom>
        </p:spPr>
      </p:pic>
      <p:sp>
        <p:nvSpPr>
          <p:cNvPr id="381" name="文本框 35"/>
          <p:cNvSpPr txBox="1"/>
          <p:nvPr>
            <p:custDataLst>
              <p:tags r:id="rId30"/>
            </p:custDataLst>
          </p:nvPr>
        </p:nvSpPr>
        <p:spPr>
          <a:xfrm>
            <a:off x="1314450" y="471163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代工合作</a:t>
            </a:r>
            <a:endParaRPr sz="2100" b="1" spc="42">
              <a:solidFill>
                <a:srgbClr val="1E3A5C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82" name="文本框 36"/>
          <p:cNvSpPr txBox="1"/>
          <p:nvPr>
            <p:custDataLst>
              <p:tags r:id="rId31"/>
            </p:custDataLst>
          </p:nvPr>
        </p:nvSpPr>
        <p:spPr>
          <a:xfrm>
            <a:off x="933450" y="5323141"/>
            <a:ext cx="49053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900">
                <a:ea typeface="汉仪雅酷黑-65J" panose="00020600040101010101" charset="-122"/>
                <a:cs typeface="+mn-lt"/>
              </a:rPr>
              <a:t>郭政佑牵头达成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代工合作协议</a:t>
            </a:r>
            <a:r>
              <a:rPr sz="1900">
                <a:solidFill>
                  <a:srgbClr val="4A6178"/>
                </a:solidFill>
                <a:ea typeface="汉仪雅酷黑-65J" panose="00020600040101010101" charset="-122"/>
                <a:cs typeface="+mn-lt"/>
              </a:rPr>
              <a:t>，</a:t>
            </a:r>
            <a:r>
              <a:rPr sz="1900">
                <a:ea typeface="汉仪雅酷黑-65J" panose="00020600040101010101" charset="-122"/>
                <a:cs typeface="+mn-lt"/>
              </a:rPr>
              <a:t>实现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超薄箔材的产业化成形验证</a:t>
            </a:r>
            <a:r>
              <a:rPr sz="1900">
                <a:solidFill>
                  <a:srgbClr val="4A6178"/>
                </a:solidFill>
                <a:ea typeface="汉仪雅酷黑-65J" panose="00020600040101010101" charset="-122"/>
                <a:cs typeface="+mn-lt"/>
              </a:rPr>
              <a:t>，</a:t>
            </a:r>
            <a:r>
              <a:rPr sz="1900">
                <a:ea typeface="汉仪雅酷黑-65J" panose="00020600040101010101" charset="-122"/>
                <a:cs typeface="+mn-lt"/>
              </a:rPr>
              <a:t>同多家企业密切合作。</a:t>
            </a:r>
            <a:endParaRPr sz="1900">
              <a:solidFill>
                <a:srgbClr val="4A6178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83" name="任意多边形 38"/>
          <p:cNvSpPr/>
          <p:nvPr>
            <p:custDataLst>
              <p:tags r:id="rId32"/>
            </p:custDataLst>
          </p:nvPr>
        </p:nvSpPr>
        <p:spPr>
          <a:xfrm>
            <a:off x="6195695" y="4608195"/>
            <a:ext cx="5219700" cy="1663700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1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grpSp>
        <p:nvGrpSpPr>
          <p:cNvPr id="384" name="组合 51"/>
          <p:cNvGrpSpPr/>
          <p:nvPr>
            <p:custDataLst>
              <p:tags r:id="rId33"/>
            </p:custDataLst>
          </p:nvPr>
        </p:nvGrpSpPr>
        <p:grpSpPr>
          <a:xfrm>
            <a:off x="6200775" y="4613275"/>
            <a:ext cx="5209540" cy="571500"/>
            <a:chOff x="9765" y="7265"/>
            <a:chExt cx="8204" cy="900"/>
          </a:xfrm>
        </p:grpSpPr>
        <p:sp>
          <p:nvSpPr>
            <p:cNvPr id="385" name="任意多边形 39"/>
            <p:cNvSpPr/>
            <p:nvPr>
              <p:custDataLst>
                <p:tags r:id="rId34"/>
              </p:custDataLst>
            </p:nvPr>
          </p:nvSpPr>
          <p:spPr>
            <a:xfrm>
              <a:off x="9765" y="7265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  <p:sp>
          <p:nvSpPr>
            <p:cNvPr id="386" name="任意多边形 40"/>
            <p:cNvSpPr/>
            <p:nvPr>
              <p:custDataLst>
                <p:tags r:id="rId35"/>
              </p:custDataLst>
            </p:nvPr>
          </p:nvSpPr>
          <p:spPr>
            <a:xfrm>
              <a:off x="9765" y="8150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ea typeface="汉仪雅酷黑-65J" panose="00020600040101010101" charset="-122"/>
              </a:endParaRPr>
            </a:p>
          </p:txBody>
        </p:sp>
      </p:grpSp>
      <p:sp>
        <p:nvSpPr>
          <p:cNvPr id="387" name="任意多边形 42"/>
          <p:cNvSpPr/>
          <p:nvPr>
            <p:custDataLst>
              <p:tags r:id="rId36"/>
            </p:custDataLst>
          </p:nvPr>
        </p:nvSpPr>
        <p:spPr>
          <a:xfrm>
            <a:off x="6353175" y="4760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ea typeface="汉仪雅酷黑-65J" panose="00020600040101010101" charset="-122"/>
            </a:endParaRPr>
          </a:p>
        </p:txBody>
      </p:sp>
      <p:pic>
        <p:nvPicPr>
          <p:cNvPr id="388" name="图片 43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3333" t="-15758" r="-3333" b="-15758"/>
          <a:stretch>
            <a:fillRect/>
          </a:stretch>
        </p:blipFill>
        <p:spPr>
          <a:xfrm>
            <a:off x="6410325" y="4822825"/>
            <a:ext cx="152400" cy="137795"/>
          </a:xfrm>
          <a:prstGeom prst="rect">
            <a:avLst/>
          </a:prstGeom>
        </p:spPr>
      </p:pic>
      <p:sp>
        <p:nvSpPr>
          <p:cNvPr id="389" name="文本框 45"/>
          <p:cNvSpPr txBox="1"/>
          <p:nvPr>
            <p:custDataLst>
              <p:tags r:id="rId40"/>
            </p:custDataLst>
          </p:nvPr>
        </p:nvSpPr>
        <p:spPr>
          <a:xfrm>
            <a:off x="6734175" y="471163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ea typeface="汉仪雅酷黑-65J" panose="00020600040101010101" charset="-122"/>
                <a:cs typeface="+mn-lt"/>
              </a:rPr>
              <a:t>学业基石</a:t>
            </a:r>
            <a:endParaRPr sz="2100" b="1" spc="42">
              <a:solidFill>
                <a:srgbClr val="1E3A5C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390" name="文本框 46"/>
          <p:cNvSpPr txBox="1"/>
          <p:nvPr>
            <p:custDataLst>
              <p:tags r:id="rId41"/>
            </p:custDataLst>
          </p:nvPr>
        </p:nvSpPr>
        <p:spPr>
          <a:xfrm>
            <a:off x="6353175" y="5323141"/>
            <a:ext cx="49053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900">
                <a:ea typeface="汉仪雅酷黑-65J" panose="00020600040101010101" charset="-122"/>
                <a:cs typeface="+mn-lt"/>
              </a:rPr>
              <a:t>团队一直坚信：好的学习成绩是</a:t>
            </a:r>
            <a:r>
              <a:rPr sz="1900" b="1">
                <a:solidFill>
                  <a:schemeClr val="accent1"/>
                </a:solidFill>
                <a:ea typeface="汉仪雅酷黑-65J" panose="00020600040101010101" charset="-122"/>
                <a:cs typeface="+mn-lt"/>
              </a:rPr>
              <a:t>科创道路上的基石</a:t>
            </a:r>
            <a:r>
              <a:rPr sz="1900">
                <a:solidFill>
                  <a:srgbClr val="4A6178"/>
                </a:solidFill>
                <a:ea typeface="汉仪雅酷黑-65J" panose="00020600040101010101" charset="-122"/>
                <a:cs typeface="+mn-lt"/>
              </a:rPr>
              <a:t>。</a:t>
            </a:r>
            <a:endParaRPr sz="1900">
              <a:solidFill>
                <a:srgbClr val="4A6178"/>
              </a:solidFill>
              <a:ea typeface="汉仪雅酷黑-65J" panose="00020600040101010101" charset="-122"/>
              <a:cs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标题 1"/>
          <p:cNvSpPr>
            <a:spLocks noGrp="1"/>
          </p:cNvSpPr>
          <p:nvPr>
            <p:ph type="title" idx="16385"/>
          </p:nvPr>
        </p:nvSpPr>
        <p:spPr>
          <a:xfrm>
            <a:off x="1016000" y="2905125"/>
            <a:ext cx="6352117" cy="1524000"/>
          </a:xfrm>
        </p:spPr>
        <p:txBody>
          <a:bodyPr>
            <a:normAutofit/>
          </a:bodyPr>
          <a:p>
            <a:r>
              <a:rPr lang="zh-CN" altLang="en-US"/>
              <a:t>历程与启示</a:t>
            </a:r>
            <a:endParaRPr lang="zh-CN" altLang="en-US"/>
          </a:p>
        </p:txBody>
      </p:sp>
      <p:sp>
        <p:nvSpPr>
          <p:cNvPr id="393" name="节编号 3"/>
          <p:cNvSpPr>
            <a:spLocks noGrp="1"/>
          </p:cNvSpPr>
          <p:nvPr>
            <p:ph type="body" sz="quarter" idx="16386"/>
          </p:nvPr>
        </p:nvSpPr>
        <p:spPr>
          <a:xfrm>
            <a:off x="1016000" y="1279525"/>
            <a:ext cx="1527175" cy="1524000"/>
          </a:xfrm>
        </p:spPr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  <p:sp>
        <p:nvSpPr>
          <p:cNvPr id="394" name="文本框 3"/>
          <p:cNvSpPr txBox="1"/>
          <p:nvPr/>
        </p:nvSpPr>
        <p:spPr>
          <a:xfrm>
            <a:off x="1016000" y="36366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从起点到诞生，是持续迭代的成果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  <a:ea typeface="汉仪雅酷黑-65J" panose="00020600040101010101" charset="-122"/>
              </a:rPr>
              <a:t>致敬每一位并肩前行的追光者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发展历程：从课堂到领奖台</a:t>
            </a:r>
            <a:endParaRPr sz="3000" b="1">
              <a:solidFill>
                <a:schemeClr val="tx1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399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2022 年 8 月—2023 年 5 月集中实验，探索约三年</a:t>
            </a:r>
            <a:endParaRPr sz="1500">
              <a:solidFill>
                <a:schemeClr val="tx1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400" name="Rectangle 17"/>
          <p:cNvSpPr/>
          <p:nvPr/>
        </p:nvSpPr>
        <p:spPr>
          <a:xfrm>
            <a:off x="809244" y="1783080"/>
            <a:ext cx="14630" cy="4160520"/>
          </a:xfrm>
          <a:prstGeom prst="rect">
            <a:avLst/>
          </a:prstGeom>
          <a:solidFill>
            <a:srgbClr val="3A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01" name="Oval 18"/>
          <p:cNvSpPr/>
          <p:nvPr/>
        </p:nvSpPr>
        <p:spPr>
          <a:xfrm>
            <a:off x="731520" y="1696212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02" name="TextBox 19"/>
          <p:cNvSpPr txBox="1"/>
          <p:nvPr>
            <p:custDataLst>
              <p:tags r:id="rId1"/>
            </p:custDataLst>
          </p:nvPr>
        </p:nvSpPr>
        <p:spPr>
          <a:xfrm>
            <a:off x="1170432" y="1627632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· 课堂起点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3" name="TextBox 20"/>
          <p:cNvSpPr txBox="1"/>
          <p:nvPr>
            <p:custDataLst>
              <p:tags r:id="rId2"/>
            </p:custDataLst>
          </p:nvPr>
        </p:nvSpPr>
        <p:spPr>
          <a:xfrm>
            <a:off x="1170432" y="1920240"/>
            <a:ext cx="59893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郭政佑大二在专业导论课初识镁锂合金，随后加入巫瑞智教授“镁锂基电磁屏蔽材料”课题组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4" name="Oval 21"/>
          <p:cNvSpPr/>
          <p:nvPr/>
        </p:nvSpPr>
        <p:spPr>
          <a:xfrm>
            <a:off x="731520" y="2647188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05" name="TextBox 22"/>
          <p:cNvSpPr txBox="1"/>
          <p:nvPr>
            <p:custDataLst>
              <p:tags r:id="rId3"/>
            </p:custDataLst>
          </p:nvPr>
        </p:nvSpPr>
        <p:spPr>
          <a:xfrm>
            <a:off x="1170432" y="257860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· 功能攻关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6" name="TextBox 23"/>
          <p:cNvSpPr txBox="1"/>
          <p:nvPr>
            <p:custDataLst>
              <p:tags r:id="rId4"/>
            </p:custDataLst>
          </p:nvPr>
        </p:nvSpPr>
        <p:spPr>
          <a:xfrm>
            <a:off x="1170432" y="2871216"/>
            <a:ext cx="598932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反复实验五次，得到理想的多维平行界面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7" name="Oval 24"/>
          <p:cNvSpPr/>
          <p:nvPr/>
        </p:nvSpPr>
        <p:spPr>
          <a:xfrm>
            <a:off x="731520" y="3598164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08" name="TextBox 25"/>
          <p:cNvSpPr txBox="1"/>
          <p:nvPr>
            <p:custDataLst>
              <p:tags r:id="rId5"/>
            </p:custDataLst>
          </p:nvPr>
        </p:nvSpPr>
        <p:spPr>
          <a:xfrm>
            <a:off x="1170432" y="3529584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配方探索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TextBox 26"/>
          <p:cNvSpPr txBox="1"/>
          <p:nvPr>
            <p:custDataLst>
              <p:tags r:id="rId6"/>
            </p:custDataLst>
          </p:nvPr>
        </p:nvSpPr>
        <p:spPr>
          <a:xfrm>
            <a:off x="1170432" y="3822192"/>
            <a:ext cx="59893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先后尝试超过 15 种合金元素配比；比例不当时成形性不足，累积叠轧“一轧就断裂”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Oval 27"/>
          <p:cNvSpPr/>
          <p:nvPr/>
        </p:nvSpPr>
        <p:spPr>
          <a:xfrm>
            <a:off x="731520" y="4549140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11" name="TextBox 28"/>
          <p:cNvSpPr txBox="1"/>
          <p:nvPr>
            <p:custDataLst>
              <p:tags r:id="rId7"/>
            </p:custDataLst>
          </p:nvPr>
        </p:nvSpPr>
        <p:spPr>
          <a:xfrm>
            <a:off x="1170432" y="4480560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参数攻坚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Box 29"/>
          <p:cNvSpPr txBox="1"/>
          <p:nvPr>
            <p:custDataLst>
              <p:tags r:id="rId8"/>
            </p:custDataLst>
          </p:nvPr>
        </p:nvSpPr>
        <p:spPr>
          <a:xfrm>
            <a:off x="1170432" y="4773168"/>
            <a:ext cx="59893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不断调整叠轧温度、优化单次压下量；因实验强度大、初期参数不当，报废过一台电源、两台磁力搅拌器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3" name="Oval 30"/>
          <p:cNvSpPr/>
          <p:nvPr/>
        </p:nvSpPr>
        <p:spPr>
          <a:xfrm>
            <a:off x="731520" y="5500116"/>
            <a:ext cx="173736" cy="173736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14" name="TextBox 31"/>
          <p:cNvSpPr txBox="1"/>
          <p:nvPr>
            <p:custDataLst>
              <p:tags r:id="rId9"/>
            </p:custDataLst>
          </p:nvPr>
        </p:nvSpPr>
        <p:spPr>
          <a:xfrm>
            <a:off x="1170432" y="5431536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材料诞生</a:t>
            </a:r>
            <a:endParaRPr sz="130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5" name="TextBox 32"/>
          <p:cNvSpPr txBox="1"/>
          <p:nvPr>
            <p:custDataLst>
              <p:tags r:id="rId10"/>
            </p:custDataLst>
          </p:nvPr>
        </p:nvSpPr>
        <p:spPr>
          <a:xfrm>
            <a:off x="1170432" y="5724144"/>
            <a:ext cx="59893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集超轻、高强韧、高电磁屏蔽性于一体的多功能镁锂基复合材料在实验室诞生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6" name="Picture 33" descr="image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1627632"/>
            <a:ext cx="4114800" cy="2954548"/>
          </a:xfrm>
          <a:prstGeom prst="rect">
            <a:avLst/>
          </a:prstGeom>
        </p:spPr>
      </p:pic>
      <p:sp>
        <p:nvSpPr>
          <p:cNvPr id="417" name="TextBox 34"/>
          <p:cNvSpPr txBox="1"/>
          <p:nvPr/>
        </p:nvSpPr>
        <p:spPr>
          <a:xfrm>
            <a:off x="7543800" y="46553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3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实验攻坚中报废的电源与制备的箔材（原稿素材）</a:t>
            </a:r>
            <a:endParaRPr sz="900" b="0">
              <a:solidFill>
                <a:srgbClr val="9AA3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8" name="Rectangle 35"/>
          <p:cNvSpPr/>
          <p:nvPr/>
        </p:nvSpPr>
        <p:spPr>
          <a:xfrm>
            <a:off x="7543800" y="4993660"/>
            <a:ext cx="4114800" cy="960120"/>
          </a:xfrm>
          <a:prstGeom prst="rect">
            <a:avLst/>
          </a:prstGeom>
          <a:solidFill>
            <a:srgbClr val="23272E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19" name="TextBox 36"/>
          <p:cNvSpPr txBox="1"/>
          <p:nvPr/>
        </p:nvSpPr>
        <p:spPr>
          <a:xfrm>
            <a:off x="7726679" y="4993660"/>
            <a:ext cx="374903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“从起点到诞生，是持续迭代的成果。”</a:t>
            </a:r>
            <a:endParaRPr sz="1200" b="1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文本框 15"/>
          <p:cNvSpPr txBox="1"/>
          <p:nvPr/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1"/>
                </a:solidFill>
                <a:latin typeface="+mj-lt"/>
                <a:ea typeface="汉仪雅酷黑-65J" panose="00020600040101010101" charset="-122"/>
                <a:cs typeface="+mj-lt"/>
              </a:rPr>
              <a:t>总结与启示</a:t>
            </a:r>
            <a:endParaRPr sz="3000" b="1">
              <a:solidFill>
                <a:schemeClr val="tx1"/>
              </a:solidFill>
              <a:latin typeface="+mj-lt"/>
              <a:ea typeface="汉仪雅酷黑-65J" panose="00020600040101010101" charset="-122"/>
              <a:cs typeface="+mj-lt"/>
            </a:endParaRPr>
          </a:p>
        </p:txBody>
      </p:sp>
      <p:sp>
        <p:nvSpPr>
          <p:cNvPr id="424" name="文本框 16"/>
          <p:cNvSpPr txBox="1"/>
          <p:nvPr/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1"/>
                </a:solidFill>
                <a:ea typeface="汉仪雅酷黑-65J" panose="00020600040101010101" charset="-122"/>
                <a:cs typeface="+mn-lt"/>
              </a:rPr>
              <a:t>项目成功的关键因素 · 对大学生科创团队建设的启示</a:t>
            </a:r>
            <a:r>
              <a:rPr sz="1500">
                <a:solidFill>
                  <a:srgbClr val="4D6A8A"/>
                </a:solidFill>
                <a:ea typeface="汉仪雅酷黑-65J" panose="00020600040101010101" charset="-122"/>
                <a:cs typeface="+mn-lt"/>
              </a:rPr>
              <a:t>（依据原稿内容整理）</a:t>
            </a:r>
            <a:endParaRPr sz="1500">
              <a:solidFill>
                <a:srgbClr val="4D6A8A"/>
              </a:solidFill>
              <a:ea typeface="汉仪雅酷黑-65J" panose="00020600040101010101" charset="-122"/>
              <a:cs typeface="+mn-lt"/>
            </a:endParaRPr>
          </a:p>
        </p:txBody>
      </p:sp>
      <p:sp>
        <p:nvSpPr>
          <p:cNvPr id="425" name="Rectangle 17"/>
          <p:cNvSpPr/>
          <p:nvPr/>
        </p:nvSpPr>
        <p:spPr>
          <a:xfrm>
            <a:off x="548640" y="1481328"/>
            <a:ext cx="5376672" cy="4315968"/>
          </a:xfrm>
          <a:prstGeom prst="rect">
            <a:avLst/>
          </a:prstGeom>
          <a:solidFill>
            <a:srgbClr val="23272E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26" name="Rectangle 18"/>
          <p:cNvSpPr/>
          <p:nvPr/>
        </p:nvSpPr>
        <p:spPr>
          <a:xfrm>
            <a:off x="822959" y="1755648"/>
            <a:ext cx="50292" cy="310896"/>
          </a:xfrm>
          <a:prstGeom prst="rect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27" name="TextBox 19"/>
          <p:cNvSpPr txBox="1"/>
          <p:nvPr/>
        </p:nvSpPr>
        <p:spPr>
          <a:xfrm>
            <a:off x="987552" y="1737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项目成功的关键因素</a:t>
            </a:r>
            <a:endParaRPr sz="1500" b="1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Oval 20"/>
          <p:cNvSpPr/>
          <p:nvPr/>
        </p:nvSpPr>
        <p:spPr>
          <a:xfrm>
            <a:off x="841247" y="2414015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29" name="TextBox 21"/>
          <p:cNvSpPr txBox="1"/>
          <p:nvPr/>
        </p:nvSpPr>
        <p:spPr>
          <a:xfrm>
            <a:off x="1097280" y="2313432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兴趣驱动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从一堂专业导论课出发，兴趣是最强引擎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Oval 22"/>
          <p:cNvSpPr/>
          <p:nvPr/>
        </p:nvSpPr>
        <p:spPr>
          <a:xfrm>
            <a:off x="841247" y="3255263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1" name="TextBox 23"/>
          <p:cNvSpPr txBox="1"/>
          <p:nvPr/>
        </p:nvSpPr>
        <p:spPr>
          <a:xfrm>
            <a:off x="1097280" y="3154679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名师领航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巫瑞智教授团队与超轻材料与表面技术教育部重点实验室支撑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Oval 24"/>
          <p:cNvSpPr/>
          <p:nvPr/>
        </p:nvSpPr>
        <p:spPr>
          <a:xfrm>
            <a:off x="841247" y="4096511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3" name="TextBox 25"/>
          <p:cNvSpPr txBox="1"/>
          <p:nvPr/>
        </p:nvSpPr>
        <p:spPr>
          <a:xfrm>
            <a:off x="1097280" y="3995928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分工协作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机理研究、成分设计、成形复合、表征测试、成果整理环环相扣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4" name="Oval 26"/>
          <p:cNvSpPr/>
          <p:nvPr/>
        </p:nvSpPr>
        <p:spPr>
          <a:xfrm>
            <a:off x="841247" y="4937759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5" name="TextBox 27"/>
          <p:cNvSpPr txBox="1"/>
          <p:nvPr/>
        </p:nvSpPr>
        <p:spPr>
          <a:xfrm>
            <a:off x="1097280" y="4837176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迭代攻坚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五次修整、十五种配比，报废设备仍坚持迭代改进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Rectangle 28"/>
          <p:cNvSpPr/>
          <p:nvPr/>
        </p:nvSpPr>
        <p:spPr>
          <a:xfrm>
            <a:off x="6263640" y="1481328"/>
            <a:ext cx="5376672" cy="4315968"/>
          </a:xfrm>
          <a:prstGeom prst="rect">
            <a:avLst/>
          </a:prstGeom>
          <a:solidFill>
            <a:srgbClr val="23272E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7" name="Rectangle 29"/>
          <p:cNvSpPr/>
          <p:nvPr/>
        </p:nvSpPr>
        <p:spPr>
          <a:xfrm>
            <a:off x="6537959" y="1755648"/>
            <a:ext cx="50292" cy="310896"/>
          </a:xfrm>
          <a:prstGeom prst="rect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38" name="TextBox 30"/>
          <p:cNvSpPr txBox="1"/>
          <p:nvPr/>
        </p:nvSpPr>
        <p:spPr>
          <a:xfrm>
            <a:off x="6702552" y="1737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对大学生科创团队的启示</a:t>
            </a:r>
            <a:endParaRPr sz="1500" b="1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9" name="Oval 31"/>
          <p:cNvSpPr/>
          <p:nvPr/>
        </p:nvSpPr>
        <p:spPr>
          <a:xfrm>
            <a:off x="6556248" y="2414015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0" name="TextBox 32"/>
          <p:cNvSpPr txBox="1"/>
          <p:nvPr/>
        </p:nvSpPr>
        <p:spPr>
          <a:xfrm>
            <a:off x="6812279" y="2313432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学业为基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学习与科创相辅相成，好的学习成绩是科创道路的基石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" name="Oval 33"/>
          <p:cNvSpPr/>
          <p:nvPr/>
        </p:nvSpPr>
        <p:spPr>
          <a:xfrm>
            <a:off x="6556248" y="3255263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2" name="TextBox 34"/>
          <p:cNvSpPr txBox="1"/>
          <p:nvPr/>
        </p:nvSpPr>
        <p:spPr>
          <a:xfrm>
            <a:off x="6812279" y="3154679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传帮带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师兄师姐传帮带、师生接力，把课题一步步做深做实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3" name="Oval 35"/>
          <p:cNvSpPr/>
          <p:nvPr/>
        </p:nvSpPr>
        <p:spPr>
          <a:xfrm>
            <a:off x="6556248" y="4096511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4" name="TextBox 36"/>
          <p:cNvSpPr txBox="1"/>
          <p:nvPr/>
        </p:nvSpPr>
        <p:spPr>
          <a:xfrm>
            <a:off x="6812279" y="3995928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需求牵引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面向真实需求选题，成果才能从实验室走向产业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5" name="Oval 37"/>
          <p:cNvSpPr/>
          <p:nvPr/>
        </p:nvSpPr>
        <p:spPr>
          <a:xfrm>
            <a:off x="6556248" y="4937759"/>
            <a:ext cx="91440" cy="91440"/>
          </a:xfrm>
          <a:prstGeom prst="ellipse">
            <a:avLst/>
          </a:prstGeom>
          <a:solidFill>
            <a:srgbClr val="397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6" name="TextBox 38"/>
          <p:cNvSpPr txBox="1"/>
          <p:nvPr/>
        </p:nvSpPr>
        <p:spPr>
          <a:xfrm>
            <a:off x="6812279" y="4837176"/>
            <a:ext cx="4617720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坚持迭代　</a:t>
            </a:r>
            <a:r>
              <a:rPr sz="1600" b="0">
                <a:solidFill>
                  <a:srgbClr val="D9DE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明确分工＋长期坚持，让想法一步步变成特等奖成果</a:t>
            </a:r>
            <a:endParaRPr sz="1600" b="0">
              <a:solidFill>
                <a:srgbClr val="D9DE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7" name="Rectangle 39"/>
          <p:cNvSpPr/>
          <p:nvPr/>
        </p:nvSpPr>
        <p:spPr>
          <a:xfrm>
            <a:off x="548640" y="6053328"/>
            <a:ext cx="11091672" cy="530352"/>
          </a:xfrm>
          <a:prstGeom prst="rect">
            <a:avLst/>
          </a:prstGeom>
          <a:solidFill>
            <a:srgbClr val="2A2F37"/>
          </a:solidFill>
          <a:ln w="9525">
            <a:solidFill>
              <a:srgbClr val="3A4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>
              <a:ea typeface="汉仪雅酷黑-65J" panose="00020600040101010101" charset="-122"/>
            </a:endParaRPr>
          </a:p>
        </p:txBody>
      </p:sp>
      <p:sp>
        <p:nvSpPr>
          <p:cNvPr id="448" name="TextBox 40"/>
          <p:cNvSpPr txBox="1"/>
          <p:nvPr/>
        </p:nvSpPr>
        <p:spPr>
          <a:xfrm>
            <a:off x="548640" y="6053328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御磁坚盾：以材料之韧守护科技之梦，点亮青年创新之光</a:t>
            </a:r>
            <a:endParaRPr sz="1250" b="1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副标题 2"/>
          <p:cNvSpPr>
            <a:spLocks noGrp="1"/>
          </p:cNvSpPr>
          <p:nvPr>
            <p:ph type="body" idx="16386"/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51" name="标题 1"/>
          <p:cNvSpPr>
            <a:spLocks noGrp="1"/>
          </p:cNvSpPr>
          <p:nvPr>
            <p:ph type="ctrTitle" idx="16385"/>
          </p:nvPr>
        </p:nvSpPr>
        <p:spPr/>
        <p:txBody>
          <a:bodyPr>
            <a:normAutofit fontScale="90000"/>
          </a:bodyPr>
          <a:p>
            <a:r>
              <a:rPr lang="zh-CN" altLang="en-US" sz="4300"/>
              <a:t>致敬每一位追光的科创人</a:t>
            </a:r>
            <a:endParaRPr lang="zh-CN" altLang="en-US" sz="43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3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4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5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6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7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8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9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0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1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2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3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4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5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6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7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8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19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0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1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2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3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4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5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6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7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8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29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30.xml><?xml version="1.0" encoding="utf-8"?>
<p:tagLst xmlns:p="http://schemas.openxmlformats.org/presentationml/2006/main">
  <p:tag name="KSO_WM_DIAGRAM_VIRTUALLY_FRAME" val="{&quot;height&quot;:384.75,&quot;left&quot;:42.35,&quot;top&quot;:112.85,&quot;width&quot;:875.25}"/>
</p:tagLst>
</file>

<file path=ppt/tags/tag31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2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3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4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5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6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7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8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39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0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1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2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3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4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5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6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7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8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49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0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1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2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3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4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5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6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7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8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59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0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1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2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3.xml><?xml version="1.0" encoding="utf-8"?>
<p:tagLst xmlns:p="http://schemas.openxmlformats.org/presentationml/2006/main">
  <p:tag name="KSO_WM_DIAGRAM_VIRTUALLY_FRAME" val="{&quot;height&quot;:309.2,&quot;left&quot;:45.35,&quot;top&quot;:200.4,&quot;width&quot;:869.25}"/>
</p:tagLst>
</file>

<file path=ppt/tags/tag64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5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6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7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8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69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70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71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72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ags/tag73.xml><?xml version="1.0" encoding="utf-8"?>
<p:tagLst xmlns:p="http://schemas.openxmlformats.org/presentationml/2006/main">
  <p:tag name="KSO_WM_DIAGRAM_VIRTUALLY_FRAME" val="{&quot;height&quot;:367.19999999999993,&quot;left&quot;:92.16,&quot;top&quot;:128.16,&quot;width&quot;:471.6}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397AF3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自定义 61">
      <a:majorFont>
        <a:latin typeface="Arial"/>
        <a:ea typeface="汉仪雅酷黑-65J"/>
        <a:cs typeface=""/>
      </a:majorFont>
      <a:minorFont>
        <a:latin typeface="Arial"/>
        <a:ea typeface="汉仪雅酷黑-65J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3871</Words>
  <Application>WPS 演示</Application>
  <PresentationFormat/>
  <Paragraphs>624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Arial</vt:lpstr>
      <vt:lpstr>宋体</vt:lpstr>
      <vt:lpstr>Wingdings</vt:lpstr>
      <vt:lpstr>汉仪雅酷黑-65J</vt:lpstr>
      <vt:lpstr>微软雅黑</vt:lpstr>
      <vt:lpstr>Arial Unicode MS</vt:lpstr>
      <vt:lpstr>Office 主题​​</vt:lpstr>
      <vt:lpstr>御磁坚盾——国内首创超轻高强韧镁锂基电磁屏蔽材料</vt:lpstr>
      <vt:lpstr>PowerPoint 演示文稿</vt:lpstr>
      <vt:lpstr>“挑战杯”全国大学生课外学术科技作品竞赛</vt:lpstr>
      <vt:lpstr>PowerPoint 演示文稿</vt:lpstr>
      <vt:lpstr>PowerPoint 演示文稿</vt:lpstr>
      <vt:lpstr>项目概况</vt:lpstr>
      <vt:lpstr>PowerPoint 演示文稿</vt:lpstr>
      <vt:lpstr>PowerPoint 演示文稿</vt:lpstr>
      <vt:lpstr>PowerPoint 演示文稿</vt:lpstr>
      <vt:lpstr>背景与灵感</vt:lpstr>
      <vt:lpstr>PowerPoint 演示文稿</vt:lpstr>
      <vt:lpstr>PowerPoint 演示文稿</vt:lpstr>
      <vt:lpstr>PowerPoint 演示文稿</vt:lpstr>
      <vt:lpstr>创新与成果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团队介绍</vt:lpstr>
      <vt:lpstr>PowerPoint 演示文稿</vt:lpstr>
      <vt:lpstr>PowerPoint 演示文稿</vt:lpstr>
      <vt:lpstr>PowerPoint 演示文稿</vt:lpstr>
      <vt:lpstr>历程与启示</vt:lpstr>
      <vt:lpstr>PowerPoint 演示文稿</vt:lpstr>
      <vt:lpstr>PowerPoint 演示文稿</vt:lpstr>
      <vt:lpstr>致敬每一位追光的科创人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御磁坚盾——国内首创超轻高强韧镁锂基电磁屏蔽材料</dc:title>
  <dc:creator/>
  <cp:lastModifiedBy>X</cp:lastModifiedBy>
  <cp:revision>4</cp:revision>
  <dcterms:created xsi:type="dcterms:W3CDTF">2026-10-10T12:18:00Z</dcterms:created>
  <dcterms:modified xsi:type="dcterms:W3CDTF">2026-10-10T13:19:19Z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F442E59758EF437EB966A5BFF5914F8A_12</vt:lpwstr>
  </property>
</Properties>
</file>