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Layouts/slideLayout4.xml" ContentType="application/vnd.openxmlformats-officedocument.presentationml.slideLayout+xml"/>
  <Override PartName="/docProps/app.xml" ContentType="application/vnd.openxmlformats-officedocument.extended-properties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presProps" Target="presProps.xml" /><Relationship Id="rId7" Type="http://schemas.openxmlformats.org/officeDocument/2006/relationships/slide" Target="slides/slide7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9" Type="http://schemas.openxmlformats.org/officeDocument/2006/relationships/tableStyles" Target="tableStyles.xml" /><Relationship Id="rId10" Type="http://schemas.openxmlformats.org/officeDocument/2006/relationships/viewProps" Target="viewProps.xml" /><Relationship Id="rId1" Type="http://schemas.openxmlformats.org/officeDocument/2006/relationships/slide" Target="slides/slide1.xml" /><Relationship Id="rId6" Type="http://schemas.openxmlformats.org/officeDocument/2006/relationships/slide" Target="slides/slide6.xml" /><Relationship Id="rId2" Type="http://schemas.openxmlformats.org/officeDocument/2006/relationships/slide" Target="slides/slide2.xml" /><Relationship Id="rId0" Type="http://schemas.openxmlformats.org/officeDocument/2006/relationships/slideMaster" Target="slideMasters/slideMaster1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slideLayout" Target="../slideLayouts/slideLayout3.xml" /><Relationship Id="rId11" Type="http://schemas.openxmlformats.org/officeDocument/2006/relationships/theme" Target="../theme/theme1.xml" /><Relationship Id="rId8" Type="http://schemas.openxmlformats.org/officeDocument/2006/relationships/slideLayout" Target="../slideLayouts/slideLayout9.xml" /><Relationship Id="rId6" Type="http://schemas.openxmlformats.org/officeDocument/2006/relationships/slideLayout" Target="../slideLayouts/slideLayout7.xml" /><Relationship Id="rId7" Type="http://schemas.openxmlformats.org/officeDocument/2006/relationships/slideLayout" Target="../slideLayouts/slideLayout8.xml" /><Relationship Id="rId4" Type="http://schemas.openxmlformats.org/officeDocument/2006/relationships/slideLayout" Target="../slideLayouts/slideLayout5.xml" /><Relationship Id="rId9" Type="http://schemas.openxmlformats.org/officeDocument/2006/relationships/slideLayout" Target="../slideLayouts/slideLayout10.xml" /><Relationship Id="rId5" Type="http://schemas.openxmlformats.org/officeDocument/2006/relationships/slideLayout" Target="../slideLayouts/slideLayout6.xml" /><Relationship Id="rId3" Type="http://schemas.openxmlformats.org/officeDocument/2006/relationships/slideLayout" Target="../slideLayouts/slideLayout4.xml" /><Relationship Id="rId10" Type="http://schemas.openxmlformats.org/officeDocument/2006/relationships/slideLayout" Target="../slideLayouts/slideLayout11.xml" /><Relationship Id="rId1" Type="http://schemas.openxmlformats.org/officeDocument/2006/relationships/slideLayout" Target="../slideLayouts/slideLayout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0C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85455" y="0"/>
            <a:ext cx="41148" cy="6858000"/>
          </a:xfrm>
          <a:prstGeom prst="rect">
            <a:avLst/>
          </a:prstGeom>
          <a:solidFill>
            <a:srgbClr val="B08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34095" y="0"/>
            <a:ext cx="10160" cy="6858000"/>
          </a:xfrm>
          <a:prstGeom prst="rect">
            <a:avLst/>
          </a:prstGeom>
          <a:solidFill>
            <a:srgbClr val="1E3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985455" y="548640"/>
            <a:ext cx="4206240" cy="10160"/>
          </a:xfrm>
          <a:prstGeom prst="rect">
            <a:avLst/>
          </a:prstGeom>
          <a:solidFill>
            <a:srgbClr val="1E3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01023" y="0"/>
            <a:ext cx="10160" cy="6858000"/>
          </a:xfrm>
          <a:prstGeom prst="rect">
            <a:avLst/>
          </a:prstGeom>
          <a:solidFill>
            <a:srgbClr val="1E3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985455" y="1115568"/>
            <a:ext cx="4206240" cy="10160"/>
          </a:xfrm>
          <a:prstGeom prst="rect">
            <a:avLst/>
          </a:prstGeom>
          <a:solidFill>
            <a:srgbClr val="1E3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667951" y="0"/>
            <a:ext cx="10160" cy="6858000"/>
          </a:xfrm>
          <a:prstGeom prst="rect">
            <a:avLst/>
          </a:prstGeom>
          <a:solidFill>
            <a:srgbClr val="1E3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985455" y="1682496"/>
            <a:ext cx="4206240" cy="10160"/>
          </a:xfrm>
          <a:prstGeom prst="rect">
            <a:avLst/>
          </a:prstGeom>
          <a:solidFill>
            <a:srgbClr val="1E3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234879" y="0"/>
            <a:ext cx="10160" cy="6858000"/>
          </a:xfrm>
          <a:prstGeom prst="rect">
            <a:avLst/>
          </a:prstGeom>
          <a:solidFill>
            <a:srgbClr val="1E3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85455" y="2249424"/>
            <a:ext cx="4206240" cy="10160"/>
          </a:xfrm>
          <a:prstGeom prst="rect">
            <a:avLst/>
          </a:prstGeom>
          <a:solidFill>
            <a:srgbClr val="1E3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801807" y="0"/>
            <a:ext cx="10160" cy="6858000"/>
          </a:xfrm>
          <a:prstGeom prst="rect">
            <a:avLst/>
          </a:prstGeom>
          <a:solidFill>
            <a:srgbClr val="1E3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85455" y="2816352"/>
            <a:ext cx="4206240" cy="10160"/>
          </a:xfrm>
          <a:prstGeom prst="rect">
            <a:avLst/>
          </a:prstGeom>
          <a:solidFill>
            <a:srgbClr val="1E3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368735" y="0"/>
            <a:ext cx="10160" cy="6858000"/>
          </a:xfrm>
          <a:prstGeom prst="rect">
            <a:avLst/>
          </a:prstGeom>
          <a:solidFill>
            <a:srgbClr val="1E3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85455" y="3383280"/>
            <a:ext cx="4206240" cy="10160"/>
          </a:xfrm>
          <a:prstGeom prst="rect">
            <a:avLst/>
          </a:prstGeom>
          <a:solidFill>
            <a:srgbClr val="1E3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1874519"/>
            <a:ext cx="78638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“大挑”赛事介绍</a:t>
            </a: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3200400"/>
            <a:ext cx="7680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9C3D8"/>
                </a:solidFill>
                <a:latin typeface="Noto Sans CJK SC"/>
                <a:ea typeface="Noto Sans CJK SC"/>
                <a:cs typeface="Noto Sans CJK SC"/>
              </a:rPr>
              <a:t>“挑战杯”全国大学生课外学术科技作品竞赛</a:t>
            </a:r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60120" y="3977639"/>
            <a:ext cx="1463040" cy="38100"/>
          </a:xfrm>
          <a:prstGeom prst="rect">
            <a:avLst/>
          </a:prstGeom>
          <a:solidFill>
            <a:srgbClr val="B08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526280"/>
            <a:ext cx="74980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89A0"/>
                </a:solidFill>
                <a:latin typeface="Noto Sans CJK SC"/>
                <a:ea typeface="Noto Sans CJK SC"/>
                <a:cs typeface="Noto Sans CJK SC"/>
              </a:rPr>
              <a:t>国家级 A 类学科竞赛  |  共青团中央 · 中国科协 · 教育部 · 全国学联</a:t>
            </a: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45575" y="228600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2E4C6B"/>
                </a:solidFill>
                <a:latin typeface="Noto Sans CJK SC"/>
                <a:ea typeface="Noto Sans CJK SC"/>
                <a:cs typeface="Noto Sans CJK SC"/>
              </a:rPr>
              <a:t>1989</a:t>
            </a:r>
            <a:endParaRPr/>
          </a:p>
          <a:p>
            <a:pPr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B08D37"/>
                </a:solidFill>
                <a:latin typeface="Noto Sans CJK SC"/>
                <a:ea typeface="Noto Sans CJK SC"/>
                <a:cs typeface="Noto Sans CJK SC"/>
              </a:rPr>
              <a:t>创办至今</a:t>
            </a:r>
            <a:endParaRPr/>
          </a:p>
          <a:p>
            <a:pPr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6E89A0"/>
                </a:solidFill>
                <a:latin typeface="Noto Sans CJK SC"/>
                <a:ea typeface="Noto Sans CJK SC"/>
                <a:cs typeface="Noto Sans CJK SC"/>
              </a:rPr>
              <a:t>两年一届 · 奇数年举办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"/>
          <p:cNvSpPr/>
          <p:nvPr/>
        </p:nvSpPr>
        <p:spPr>
          <a:xfrm>
            <a:off x="0" y="50292"/>
            <a:ext cx="2926080" cy="20116"/>
          </a:xfrm>
          <a:prstGeom prst="rect">
            <a:avLst/>
          </a:prstGeom>
          <a:solidFill>
            <a:srgbClr val="B08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3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4"/>
          <p:cNvSpPr txBox="1"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00</a:t>
            </a:r>
            <a:endParaRPr/>
          </a:p>
        </p:txBody>
      </p:sp>
      <p:sp>
        <p:nvSpPr>
          <p:cNvPr id="27" name="TextBox 5"/>
          <p:cNvSpPr txBox="1"/>
          <p:nvPr/>
        </p:nvSpPr>
        <p:spPr>
          <a:xfrm>
            <a:off x="1371600" y="548640"/>
            <a:ext cx="101498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目  录</a:t>
            </a:r>
            <a:r>
              <a:rPr sz="1200" b="0">
                <a:solidFill>
                  <a:srgbClr val="707C88"/>
                </a:solidFill>
                <a:latin typeface="Noto Sans CJK SC"/>
                <a:ea typeface="Noto Sans CJK SC"/>
                <a:cs typeface="Noto Sans CJK SC"/>
              </a:rPr>
              <a:t>    CONTENTS</a:t>
            </a:r>
            <a:endParaRPr/>
          </a:p>
        </p:txBody>
      </p:sp>
      <p:sp>
        <p:nvSpPr>
          <p:cNvPr id="28" name="Rectangle 6"/>
          <p:cNvSpPr/>
          <p:nvPr/>
        </p:nvSpPr>
        <p:spPr>
          <a:xfrm>
            <a:off x="640080" y="1298448"/>
            <a:ext cx="10911535" cy="12700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7"/>
          <p:cNvSpPr/>
          <p:nvPr/>
        </p:nvSpPr>
        <p:spPr>
          <a:xfrm>
            <a:off x="640080" y="1298448"/>
            <a:ext cx="1371600" cy="27940"/>
          </a:xfrm>
          <a:prstGeom prst="rect">
            <a:avLst/>
          </a:prstGeom>
          <a:solidFill>
            <a:srgbClr val="B08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8"/>
          <p:cNvSpPr/>
          <p:nvPr/>
        </p:nvSpPr>
        <p:spPr>
          <a:xfrm>
            <a:off x="868680" y="1874519"/>
            <a:ext cx="566928" cy="512064"/>
          </a:xfrm>
          <a:prstGeom prst="rect">
            <a:avLst/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9"/>
          <p:cNvSpPr txBox="1"/>
          <p:nvPr/>
        </p:nvSpPr>
        <p:spPr>
          <a:xfrm>
            <a:off x="868680" y="1874519"/>
            <a:ext cx="56692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5C8B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/>
          </a:p>
        </p:txBody>
      </p:sp>
      <p:sp>
        <p:nvSpPr>
          <p:cNvPr id="32" name="TextBox 10"/>
          <p:cNvSpPr txBox="1"/>
          <p:nvPr/>
        </p:nvSpPr>
        <p:spPr>
          <a:xfrm>
            <a:off x="1627632" y="1874519"/>
            <a:ext cx="4023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基础信息</a:t>
            </a:r>
            <a:endParaRPr/>
          </a:p>
        </p:txBody>
      </p:sp>
      <p:sp>
        <p:nvSpPr>
          <p:cNvPr id="33" name="TextBox 11"/>
          <p:cNvSpPr txBox="1"/>
          <p:nvPr/>
        </p:nvSpPr>
        <p:spPr>
          <a:xfrm>
            <a:off x="5760720" y="1874519"/>
            <a:ext cx="53949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07C88"/>
                </a:solidFill>
                <a:latin typeface="Noto Sans CJK SC"/>
                <a:ea typeface="Noto Sans CJK SC"/>
                <a:cs typeface="Noto Sans CJK SC"/>
              </a:rPr>
              <a:t>全称、主办单位、创办时间与赛事定位</a:t>
            </a:r>
            <a:endParaRPr/>
          </a:p>
        </p:txBody>
      </p:sp>
      <p:sp>
        <p:nvSpPr>
          <p:cNvPr id="34" name="Rectangle 12"/>
          <p:cNvSpPr/>
          <p:nvPr/>
        </p:nvSpPr>
        <p:spPr>
          <a:xfrm>
            <a:off x="1627632" y="2478023"/>
            <a:ext cx="9509760" cy="9525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13"/>
          <p:cNvSpPr/>
          <p:nvPr/>
        </p:nvSpPr>
        <p:spPr>
          <a:xfrm>
            <a:off x="868680" y="2651759"/>
            <a:ext cx="566928" cy="512064"/>
          </a:xfrm>
          <a:prstGeom prst="rect">
            <a:avLst/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14"/>
          <p:cNvSpPr txBox="1"/>
          <p:nvPr/>
        </p:nvSpPr>
        <p:spPr>
          <a:xfrm>
            <a:off x="868680" y="2651759"/>
            <a:ext cx="56692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5C8B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/>
          </a:p>
        </p:txBody>
      </p:sp>
      <p:sp>
        <p:nvSpPr>
          <p:cNvPr id="37" name="TextBox 15"/>
          <p:cNvSpPr txBox="1"/>
          <p:nvPr/>
        </p:nvSpPr>
        <p:spPr>
          <a:xfrm>
            <a:off x="1627632" y="2651759"/>
            <a:ext cx="4023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核心对比</a:t>
            </a:r>
            <a:endParaRPr/>
          </a:p>
        </p:txBody>
      </p:sp>
      <p:sp>
        <p:nvSpPr>
          <p:cNvPr id="38" name="TextBox 16"/>
          <p:cNvSpPr txBox="1"/>
          <p:nvPr/>
        </p:nvSpPr>
        <p:spPr>
          <a:xfrm>
            <a:off x="5760720" y="2651759"/>
            <a:ext cx="53949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07C88"/>
                </a:solidFill>
                <a:latin typeface="Noto Sans CJK SC"/>
                <a:ea typeface="Noto Sans CJK SC"/>
                <a:cs typeface="Noto Sans CJK SC"/>
              </a:rPr>
              <a:t>“大挑” VS “小挑” 的四个关键维度</a:t>
            </a:r>
            <a:endParaRPr/>
          </a:p>
        </p:txBody>
      </p:sp>
      <p:sp>
        <p:nvSpPr>
          <p:cNvPr id="39" name="Rectangle 17"/>
          <p:cNvSpPr/>
          <p:nvPr/>
        </p:nvSpPr>
        <p:spPr>
          <a:xfrm>
            <a:off x="1627632" y="3255263"/>
            <a:ext cx="9509760" cy="9525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18"/>
          <p:cNvSpPr/>
          <p:nvPr/>
        </p:nvSpPr>
        <p:spPr>
          <a:xfrm>
            <a:off x="868680" y="3428999"/>
            <a:ext cx="566928" cy="512064"/>
          </a:xfrm>
          <a:prstGeom prst="rect">
            <a:avLst/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19"/>
          <p:cNvSpPr txBox="1"/>
          <p:nvPr/>
        </p:nvSpPr>
        <p:spPr>
          <a:xfrm>
            <a:off x="868680" y="3428999"/>
            <a:ext cx="56692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5C8B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/>
          </a:p>
        </p:txBody>
      </p:sp>
      <p:sp>
        <p:nvSpPr>
          <p:cNvPr id="42" name="TextBox 20"/>
          <p:cNvSpPr txBox="1"/>
          <p:nvPr/>
        </p:nvSpPr>
        <p:spPr>
          <a:xfrm>
            <a:off x="1627632" y="3428999"/>
            <a:ext cx="4023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参赛作品分类</a:t>
            </a:r>
            <a:endParaRPr/>
          </a:p>
        </p:txBody>
      </p:sp>
      <p:sp>
        <p:nvSpPr>
          <p:cNvPr id="43" name="TextBox 21"/>
          <p:cNvSpPr txBox="1"/>
          <p:nvPr/>
        </p:nvSpPr>
        <p:spPr>
          <a:xfrm>
            <a:off x="5760720" y="3428999"/>
            <a:ext cx="53949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07C88"/>
                </a:solidFill>
                <a:latin typeface="Noto Sans CJK SC"/>
                <a:ea typeface="Noto Sans CJK SC"/>
                <a:cs typeface="Noto Sans CJK SC"/>
              </a:rPr>
              <a:t>自然科学 / 哲学社会科学 / 科技发明制作</a:t>
            </a:r>
            <a:endParaRPr/>
          </a:p>
        </p:txBody>
      </p:sp>
      <p:sp>
        <p:nvSpPr>
          <p:cNvPr id="44" name="Rectangle 22"/>
          <p:cNvSpPr/>
          <p:nvPr/>
        </p:nvSpPr>
        <p:spPr>
          <a:xfrm>
            <a:off x="1627632" y="4032503"/>
            <a:ext cx="9509760" cy="9525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23"/>
          <p:cNvSpPr/>
          <p:nvPr/>
        </p:nvSpPr>
        <p:spPr>
          <a:xfrm>
            <a:off x="868680" y="4206239"/>
            <a:ext cx="566928" cy="512064"/>
          </a:xfrm>
          <a:prstGeom prst="rect">
            <a:avLst/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24"/>
          <p:cNvSpPr txBox="1"/>
          <p:nvPr/>
        </p:nvSpPr>
        <p:spPr>
          <a:xfrm>
            <a:off x="868680" y="4206239"/>
            <a:ext cx="56692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5C8B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/>
          </a:p>
        </p:txBody>
      </p:sp>
      <p:sp>
        <p:nvSpPr>
          <p:cNvPr id="47" name="TextBox 25"/>
          <p:cNvSpPr txBox="1"/>
          <p:nvPr/>
        </p:nvSpPr>
        <p:spPr>
          <a:xfrm>
            <a:off x="1627632" y="4206239"/>
            <a:ext cx="4023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赛事体系与奖项设置</a:t>
            </a:r>
            <a:endParaRPr/>
          </a:p>
        </p:txBody>
      </p:sp>
      <p:sp>
        <p:nvSpPr>
          <p:cNvPr id="48" name="TextBox 26"/>
          <p:cNvSpPr txBox="1"/>
          <p:nvPr/>
        </p:nvSpPr>
        <p:spPr>
          <a:xfrm>
            <a:off x="5760720" y="4206239"/>
            <a:ext cx="53949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07C88"/>
                </a:solidFill>
                <a:latin typeface="Noto Sans CJK SC"/>
                <a:ea typeface="Noto Sans CJK SC"/>
                <a:cs typeface="Noto Sans CJK SC"/>
              </a:rPr>
              <a:t>三级赛事层级与最高荣誉</a:t>
            </a:r>
            <a:endParaRPr/>
          </a:p>
        </p:txBody>
      </p:sp>
      <p:sp>
        <p:nvSpPr>
          <p:cNvPr id="49" name="Rectangle 27"/>
          <p:cNvSpPr/>
          <p:nvPr/>
        </p:nvSpPr>
        <p:spPr>
          <a:xfrm>
            <a:off x="1627632" y="4809743"/>
            <a:ext cx="9509760" cy="9525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28"/>
          <p:cNvSpPr/>
          <p:nvPr/>
        </p:nvSpPr>
        <p:spPr>
          <a:xfrm>
            <a:off x="868680" y="4983479"/>
            <a:ext cx="566928" cy="512064"/>
          </a:xfrm>
          <a:prstGeom prst="rect">
            <a:avLst/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29"/>
          <p:cNvSpPr txBox="1"/>
          <p:nvPr/>
        </p:nvSpPr>
        <p:spPr>
          <a:xfrm>
            <a:off x="868680" y="4983479"/>
            <a:ext cx="56692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5C8B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/>
          </a:p>
        </p:txBody>
      </p:sp>
      <p:sp>
        <p:nvSpPr>
          <p:cNvPr id="52" name="TextBox 30"/>
          <p:cNvSpPr txBox="1"/>
          <p:nvPr/>
        </p:nvSpPr>
        <p:spPr>
          <a:xfrm>
            <a:off x="1627632" y="4983479"/>
            <a:ext cx="4023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赛事含金量与价值</a:t>
            </a:r>
            <a:endParaRPr/>
          </a:p>
        </p:txBody>
      </p:sp>
      <p:sp>
        <p:nvSpPr>
          <p:cNvPr id="53" name="TextBox 31"/>
          <p:cNvSpPr txBox="1"/>
          <p:nvPr/>
        </p:nvSpPr>
        <p:spPr>
          <a:xfrm>
            <a:off x="5760720" y="4983479"/>
            <a:ext cx="53949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07C88"/>
                </a:solidFill>
                <a:latin typeface="Noto Sans CJK SC"/>
                <a:ea typeface="Noto Sans CJK SC"/>
                <a:cs typeface="Noto Sans CJK SC"/>
              </a:rPr>
              <a:t>历史底蕴 · 人才摇篮 · 高校必争</a:t>
            </a:r>
            <a:endParaRPr/>
          </a:p>
        </p:txBody>
      </p:sp>
      <p:sp>
        <p:nvSpPr>
          <p:cNvPr id="54" name="Rectangle 32"/>
          <p:cNvSpPr/>
          <p:nvPr/>
        </p:nvSpPr>
        <p:spPr>
          <a:xfrm>
            <a:off x="640080" y="6291072"/>
            <a:ext cx="10911535" cy="9525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33"/>
          <p:cNvSpPr txBox="1"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07C88"/>
                </a:solidFill>
                <a:latin typeface="Noto Sans CJK SC"/>
                <a:ea typeface="Noto Sans CJK SC"/>
                <a:cs typeface="Noto Sans CJK SC"/>
              </a:rPr>
              <a:t>“大挑”赛事介绍</a:t>
            </a:r>
            <a:endParaRPr/>
          </a:p>
        </p:txBody>
      </p:sp>
      <p:sp>
        <p:nvSpPr>
          <p:cNvPr id="56" name="TextBox 34"/>
          <p:cNvSpPr txBox="1"/>
          <p:nvPr/>
        </p:nvSpPr>
        <p:spPr>
          <a:xfrm>
            <a:off x="9448495" y="63550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07C88"/>
                </a:solidFill>
                <a:latin typeface="Noto Sans CJK SC"/>
                <a:ea typeface="Noto Sans CJK SC"/>
                <a:cs typeface="Noto Sans CJK SC"/>
              </a:rPr>
              <a:t>02 / 07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2"/>
          <p:cNvSpPr/>
          <p:nvPr/>
        </p:nvSpPr>
        <p:spPr>
          <a:xfrm>
            <a:off x="0" y="50292"/>
            <a:ext cx="2926080" cy="20116"/>
          </a:xfrm>
          <a:prstGeom prst="rect">
            <a:avLst/>
          </a:prstGeom>
          <a:solidFill>
            <a:srgbClr val="B08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3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4"/>
          <p:cNvSpPr txBox="1"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/>
          </a:p>
        </p:txBody>
      </p:sp>
      <p:sp>
        <p:nvSpPr>
          <p:cNvPr id="62" name="TextBox 5"/>
          <p:cNvSpPr txBox="1"/>
          <p:nvPr/>
        </p:nvSpPr>
        <p:spPr>
          <a:xfrm>
            <a:off x="1371600" y="548640"/>
            <a:ext cx="101498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一、基础信息</a:t>
            </a:r>
            <a:endParaRPr/>
          </a:p>
        </p:txBody>
      </p:sp>
      <p:sp>
        <p:nvSpPr>
          <p:cNvPr id="63" name="Rectangle 6"/>
          <p:cNvSpPr/>
          <p:nvPr/>
        </p:nvSpPr>
        <p:spPr>
          <a:xfrm>
            <a:off x="640080" y="1298448"/>
            <a:ext cx="10911535" cy="12700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7"/>
          <p:cNvSpPr/>
          <p:nvPr/>
        </p:nvSpPr>
        <p:spPr>
          <a:xfrm>
            <a:off x="640080" y="1298448"/>
            <a:ext cx="1371600" cy="27940"/>
          </a:xfrm>
          <a:prstGeom prst="rect">
            <a:avLst/>
          </a:prstGeom>
          <a:solidFill>
            <a:srgbClr val="B08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8"/>
          <p:cNvSpPr/>
          <p:nvPr/>
        </p:nvSpPr>
        <p:spPr>
          <a:xfrm>
            <a:off x="640080" y="1783080"/>
            <a:ext cx="10911535" cy="658368"/>
          </a:xfrm>
          <a:prstGeom prst="rect">
            <a:avLst/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9"/>
          <p:cNvSpPr/>
          <p:nvPr/>
        </p:nvSpPr>
        <p:spPr>
          <a:xfrm>
            <a:off x="640080" y="1783080"/>
            <a:ext cx="40640" cy="658368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10"/>
          <p:cNvSpPr txBox="1"/>
          <p:nvPr/>
        </p:nvSpPr>
        <p:spPr>
          <a:xfrm>
            <a:off x="960120" y="1783080"/>
            <a:ext cx="1828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5C8B"/>
                </a:solidFill>
                <a:latin typeface="Noto Sans CJK SC"/>
                <a:ea typeface="Noto Sans CJK SC"/>
                <a:cs typeface="Noto Sans CJK SC"/>
              </a:rPr>
              <a:t>全　　称</a:t>
            </a:r>
            <a:endParaRPr/>
          </a:p>
        </p:txBody>
      </p:sp>
      <p:sp>
        <p:nvSpPr>
          <p:cNvPr id="68" name="TextBox 11"/>
          <p:cNvSpPr txBox="1"/>
          <p:nvPr/>
        </p:nvSpPr>
        <p:spPr>
          <a:xfrm>
            <a:off x="2880360" y="1783080"/>
            <a:ext cx="85953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“挑战杯”全国大学生课外学术科技作品竞赛</a:t>
            </a:r>
            <a:endParaRPr/>
          </a:p>
        </p:txBody>
      </p:sp>
      <p:sp>
        <p:nvSpPr>
          <p:cNvPr id="69" name="Rectangle 12"/>
          <p:cNvSpPr/>
          <p:nvPr/>
        </p:nvSpPr>
        <p:spPr>
          <a:xfrm>
            <a:off x="640080" y="2441448"/>
            <a:ext cx="40640" cy="658368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13"/>
          <p:cNvSpPr txBox="1"/>
          <p:nvPr/>
        </p:nvSpPr>
        <p:spPr>
          <a:xfrm>
            <a:off x="960120" y="2441448"/>
            <a:ext cx="1828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5C8B"/>
                </a:solidFill>
                <a:latin typeface="Noto Sans CJK SC"/>
                <a:ea typeface="Noto Sans CJK SC"/>
                <a:cs typeface="Noto Sans CJK SC"/>
              </a:rPr>
              <a:t>主办单位</a:t>
            </a:r>
            <a:endParaRPr/>
          </a:p>
        </p:txBody>
      </p:sp>
      <p:sp>
        <p:nvSpPr>
          <p:cNvPr id="71" name="TextBox 14"/>
          <p:cNvSpPr txBox="1"/>
          <p:nvPr/>
        </p:nvSpPr>
        <p:spPr>
          <a:xfrm>
            <a:off x="2880360" y="2441448"/>
            <a:ext cx="85953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33D47"/>
                </a:solidFill>
                <a:latin typeface="Noto Sans CJK SC"/>
                <a:ea typeface="Noto Sans CJK SC"/>
                <a:cs typeface="Noto Sans CJK SC"/>
              </a:rPr>
              <a:t>共青团中央、中国科协、教育部、全国学联等</a:t>
            </a:r>
            <a:endParaRPr/>
          </a:p>
        </p:txBody>
      </p:sp>
      <p:sp>
        <p:nvSpPr>
          <p:cNvPr id="72" name="Rectangle 15"/>
          <p:cNvSpPr/>
          <p:nvPr/>
        </p:nvSpPr>
        <p:spPr>
          <a:xfrm>
            <a:off x="640080" y="3099816"/>
            <a:ext cx="10911535" cy="658368"/>
          </a:xfrm>
          <a:prstGeom prst="rect">
            <a:avLst/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16"/>
          <p:cNvSpPr/>
          <p:nvPr/>
        </p:nvSpPr>
        <p:spPr>
          <a:xfrm>
            <a:off x="640080" y="3099816"/>
            <a:ext cx="40640" cy="658368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17"/>
          <p:cNvSpPr txBox="1"/>
          <p:nvPr/>
        </p:nvSpPr>
        <p:spPr>
          <a:xfrm>
            <a:off x="960120" y="3099816"/>
            <a:ext cx="1828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5C8B"/>
                </a:solidFill>
                <a:latin typeface="Noto Sans CJK SC"/>
                <a:ea typeface="Noto Sans CJK SC"/>
                <a:cs typeface="Noto Sans CJK SC"/>
              </a:rPr>
              <a:t>创办时间</a:t>
            </a:r>
            <a:endParaRPr/>
          </a:p>
        </p:txBody>
      </p:sp>
      <p:sp>
        <p:nvSpPr>
          <p:cNvPr id="75" name="TextBox 18"/>
          <p:cNvSpPr txBox="1"/>
          <p:nvPr/>
        </p:nvSpPr>
        <p:spPr>
          <a:xfrm>
            <a:off x="2880360" y="3099816"/>
            <a:ext cx="85953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33D47"/>
                </a:solidFill>
                <a:latin typeface="Noto Sans CJK SC"/>
                <a:ea typeface="Noto Sans CJK SC"/>
                <a:cs typeface="Noto Sans CJK SC"/>
              </a:rPr>
              <a:t>1989 年</a:t>
            </a:r>
            <a:endParaRPr/>
          </a:p>
        </p:txBody>
      </p:sp>
      <p:sp>
        <p:nvSpPr>
          <p:cNvPr id="76" name="Rectangle 19"/>
          <p:cNvSpPr/>
          <p:nvPr/>
        </p:nvSpPr>
        <p:spPr>
          <a:xfrm>
            <a:off x="640080" y="3758184"/>
            <a:ext cx="40640" cy="658368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20"/>
          <p:cNvSpPr txBox="1"/>
          <p:nvPr/>
        </p:nvSpPr>
        <p:spPr>
          <a:xfrm>
            <a:off x="960120" y="3758184"/>
            <a:ext cx="1828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5C8B"/>
                </a:solidFill>
                <a:latin typeface="Noto Sans CJK SC"/>
                <a:ea typeface="Noto Sans CJK SC"/>
                <a:cs typeface="Noto Sans CJK SC"/>
              </a:rPr>
              <a:t>举办频率</a:t>
            </a:r>
            <a:endParaRPr/>
          </a:p>
        </p:txBody>
      </p:sp>
      <p:sp>
        <p:nvSpPr>
          <p:cNvPr id="78" name="TextBox 21"/>
          <p:cNvSpPr txBox="1"/>
          <p:nvPr/>
        </p:nvSpPr>
        <p:spPr>
          <a:xfrm>
            <a:off x="2880360" y="3758184"/>
            <a:ext cx="85953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33D47"/>
                </a:solidFill>
                <a:latin typeface="Noto Sans CJK SC"/>
                <a:ea typeface="Noto Sans CJK SC"/>
                <a:cs typeface="Noto Sans CJK SC"/>
              </a:rPr>
              <a:t>每两年一届（奇数年举办）</a:t>
            </a:r>
            <a:endParaRPr/>
          </a:p>
        </p:txBody>
      </p:sp>
      <p:sp>
        <p:nvSpPr>
          <p:cNvPr id="79" name="Rectangle 22"/>
          <p:cNvSpPr/>
          <p:nvPr/>
        </p:nvSpPr>
        <p:spPr>
          <a:xfrm>
            <a:off x="640080" y="4416552"/>
            <a:ext cx="10911535" cy="658368"/>
          </a:xfrm>
          <a:prstGeom prst="rect">
            <a:avLst/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23"/>
          <p:cNvSpPr/>
          <p:nvPr/>
        </p:nvSpPr>
        <p:spPr>
          <a:xfrm>
            <a:off x="640080" y="4416552"/>
            <a:ext cx="40640" cy="658368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24"/>
          <p:cNvSpPr txBox="1"/>
          <p:nvPr/>
        </p:nvSpPr>
        <p:spPr>
          <a:xfrm>
            <a:off x="960120" y="4416552"/>
            <a:ext cx="1828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5C8B"/>
                </a:solidFill>
                <a:latin typeface="Noto Sans CJK SC"/>
                <a:ea typeface="Noto Sans CJK SC"/>
                <a:cs typeface="Noto Sans CJK SC"/>
              </a:rPr>
              <a:t>赛事定位</a:t>
            </a:r>
            <a:endParaRPr/>
          </a:p>
        </p:txBody>
      </p:sp>
      <p:sp>
        <p:nvSpPr>
          <p:cNvPr id="82" name="TextBox 25"/>
          <p:cNvSpPr txBox="1"/>
          <p:nvPr/>
        </p:nvSpPr>
        <p:spPr>
          <a:xfrm>
            <a:off x="2880360" y="4416552"/>
            <a:ext cx="85953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当代大学生学术科技创新的“奥林匹克”盛会</a:t>
            </a:r>
            <a:endParaRPr/>
          </a:p>
        </p:txBody>
      </p:sp>
      <p:sp>
        <p:nvSpPr>
          <p:cNvPr id="83" name="Rectangle 26"/>
          <p:cNvSpPr/>
          <p:nvPr/>
        </p:nvSpPr>
        <p:spPr>
          <a:xfrm>
            <a:off x="640080" y="5074920"/>
            <a:ext cx="40640" cy="658368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27"/>
          <p:cNvSpPr txBox="1"/>
          <p:nvPr/>
        </p:nvSpPr>
        <p:spPr>
          <a:xfrm>
            <a:off x="960120" y="5074920"/>
            <a:ext cx="1828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5C8B"/>
                </a:solidFill>
                <a:latin typeface="Noto Sans CJK SC"/>
                <a:ea typeface="Noto Sans CJK SC"/>
                <a:cs typeface="Noto Sans CJK SC"/>
              </a:rPr>
              <a:t>赛事性质</a:t>
            </a:r>
            <a:endParaRPr/>
          </a:p>
        </p:txBody>
      </p:sp>
      <p:sp>
        <p:nvSpPr>
          <p:cNvPr id="85" name="TextBox 28"/>
          <p:cNvSpPr txBox="1"/>
          <p:nvPr/>
        </p:nvSpPr>
        <p:spPr>
          <a:xfrm>
            <a:off x="2880360" y="5074920"/>
            <a:ext cx="85953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33D47"/>
                </a:solidFill>
                <a:latin typeface="Noto Sans CJK SC"/>
                <a:ea typeface="Noto Sans CJK SC"/>
                <a:cs typeface="Noto Sans CJK SC"/>
              </a:rPr>
              <a:t>国家级 A 类学科竞赛</a:t>
            </a:r>
            <a:endParaRPr/>
          </a:p>
        </p:txBody>
      </p:sp>
      <p:sp>
        <p:nvSpPr>
          <p:cNvPr id="86" name="Rectangle 29"/>
          <p:cNvSpPr/>
          <p:nvPr/>
        </p:nvSpPr>
        <p:spPr>
          <a:xfrm>
            <a:off x="640080" y="6291072"/>
            <a:ext cx="10911535" cy="9525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30"/>
          <p:cNvSpPr txBox="1"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07C88"/>
                </a:solidFill>
                <a:latin typeface="Noto Sans CJK SC"/>
                <a:ea typeface="Noto Sans CJK SC"/>
                <a:cs typeface="Noto Sans CJK SC"/>
              </a:rPr>
              <a:t>“大挑”赛事介绍</a:t>
            </a:r>
            <a:endParaRPr/>
          </a:p>
        </p:txBody>
      </p:sp>
      <p:sp>
        <p:nvSpPr>
          <p:cNvPr id="88" name="TextBox 31"/>
          <p:cNvSpPr txBox="1"/>
          <p:nvPr/>
        </p:nvSpPr>
        <p:spPr>
          <a:xfrm>
            <a:off x="9448495" y="63550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07C88"/>
                </a:solidFill>
                <a:latin typeface="Noto Sans CJK SC"/>
                <a:ea typeface="Noto Sans CJK SC"/>
                <a:cs typeface="Noto Sans CJK SC"/>
              </a:rPr>
              <a:t>03 / 07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2"/>
          <p:cNvSpPr/>
          <p:nvPr/>
        </p:nvSpPr>
        <p:spPr>
          <a:xfrm>
            <a:off x="0" y="50292"/>
            <a:ext cx="2926080" cy="20116"/>
          </a:xfrm>
          <a:prstGeom prst="rect">
            <a:avLst/>
          </a:prstGeom>
          <a:solidFill>
            <a:srgbClr val="B08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3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4"/>
          <p:cNvSpPr txBox="1"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/>
          </a:p>
        </p:txBody>
      </p:sp>
      <p:sp>
        <p:nvSpPr>
          <p:cNvPr id="94" name="TextBox 5"/>
          <p:cNvSpPr txBox="1"/>
          <p:nvPr/>
        </p:nvSpPr>
        <p:spPr>
          <a:xfrm>
            <a:off x="1371600" y="548640"/>
            <a:ext cx="101498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二、核心对比</a:t>
            </a:r>
            <a:r>
              <a:rPr sz="1200" b="0">
                <a:solidFill>
                  <a:srgbClr val="707C88"/>
                </a:solidFill>
                <a:latin typeface="Noto Sans CJK SC"/>
                <a:ea typeface="Noto Sans CJK SC"/>
                <a:cs typeface="Noto Sans CJK SC"/>
              </a:rPr>
              <a:t>    “大挑” VS “小挑”</a:t>
            </a:r>
            <a:endParaRPr/>
          </a:p>
        </p:txBody>
      </p:sp>
      <p:sp>
        <p:nvSpPr>
          <p:cNvPr id="95" name="Rectangle 6"/>
          <p:cNvSpPr/>
          <p:nvPr/>
        </p:nvSpPr>
        <p:spPr>
          <a:xfrm>
            <a:off x="640080" y="1298448"/>
            <a:ext cx="10911535" cy="12700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7"/>
          <p:cNvSpPr/>
          <p:nvPr/>
        </p:nvSpPr>
        <p:spPr>
          <a:xfrm>
            <a:off x="640080" y="1298448"/>
            <a:ext cx="1371600" cy="27940"/>
          </a:xfrm>
          <a:prstGeom prst="rect">
            <a:avLst/>
          </a:prstGeom>
          <a:solidFill>
            <a:srgbClr val="B08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8"/>
          <p:cNvSpPr/>
          <p:nvPr/>
        </p:nvSpPr>
        <p:spPr>
          <a:xfrm>
            <a:off x="640080" y="1737360"/>
            <a:ext cx="3520440" cy="621792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"/>
          <p:cNvSpPr/>
          <p:nvPr/>
        </p:nvSpPr>
        <p:spPr>
          <a:xfrm>
            <a:off x="4160520" y="1737360"/>
            <a:ext cx="4023360" cy="621792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10"/>
          <p:cNvSpPr/>
          <p:nvPr/>
        </p:nvSpPr>
        <p:spPr>
          <a:xfrm>
            <a:off x="8183879" y="1737360"/>
            <a:ext cx="3364992" cy="621792"/>
          </a:xfrm>
          <a:prstGeom prst="rect">
            <a:avLst/>
          </a:prstGeom>
          <a:solidFill>
            <a:srgbClr val="2E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11"/>
          <p:cNvSpPr txBox="1"/>
          <p:nvPr/>
        </p:nvSpPr>
        <p:spPr>
          <a:xfrm>
            <a:off x="640080" y="1737360"/>
            <a:ext cx="35204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对比维度</a:t>
            </a:r>
            <a:endParaRPr/>
          </a:p>
        </p:txBody>
      </p:sp>
      <p:sp>
        <p:nvSpPr>
          <p:cNvPr id="101" name="TextBox 12"/>
          <p:cNvSpPr txBox="1"/>
          <p:nvPr/>
        </p:nvSpPr>
        <p:spPr>
          <a:xfrm>
            <a:off x="4160520" y="1737360"/>
            <a:ext cx="40233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“大挑”</a:t>
            </a:r>
            <a:endParaRPr/>
          </a:p>
        </p:txBody>
      </p:sp>
      <p:sp>
        <p:nvSpPr>
          <p:cNvPr id="102" name="TextBox 13"/>
          <p:cNvSpPr txBox="1"/>
          <p:nvPr/>
        </p:nvSpPr>
        <p:spPr>
          <a:xfrm>
            <a:off x="8183879" y="1737360"/>
            <a:ext cx="3364992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“小挑”</a:t>
            </a:r>
            <a:endParaRPr/>
          </a:p>
        </p:txBody>
      </p:sp>
      <p:sp>
        <p:nvSpPr>
          <p:cNvPr id="103" name="Rectangle 14"/>
          <p:cNvSpPr/>
          <p:nvPr/>
        </p:nvSpPr>
        <p:spPr>
          <a:xfrm>
            <a:off x="640080" y="2359152"/>
            <a:ext cx="10911535" cy="987552"/>
          </a:xfrm>
          <a:prstGeom prst="rect">
            <a:avLst/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5"/>
          <p:cNvSpPr/>
          <p:nvPr/>
        </p:nvSpPr>
        <p:spPr>
          <a:xfrm>
            <a:off x="4160520" y="2359152"/>
            <a:ext cx="2537460" cy="987552"/>
          </a:xfrm>
          <a:prstGeom prst="rect">
            <a:avLst/>
          </a:prstGeom>
          <a:solidFill>
            <a:srgbClr val="F4F8FB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6"/>
          <p:cNvSpPr/>
          <p:nvPr/>
        </p:nvSpPr>
        <p:spPr>
          <a:xfrm>
            <a:off x="8183879" y="2359152"/>
            <a:ext cx="3364992" cy="987552"/>
          </a:xfrm>
          <a:prstGeom prst="rect">
            <a:avLst/>
          </a:prstGeom>
          <a:solidFill>
            <a:srgbClr val="F4F8FB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7"/>
          <p:cNvSpPr/>
          <p:nvPr/>
        </p:nvSpPr>
        <p:spPr>
          <a:xfrm>
            <a:off x="640080" y="2359152"/>
            <a:ext cx="54864" cy="987552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8"/>
          <p:cNvSpPr txBox="1"/>
          <p:nvPr/>
        </p:nvSpPr>
        <p:spPr>
          <a:xfrm>
            <a:off x="777240" y="2359152"/>
            <a:ext cx="329184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5C8B"/>
                </a:solidFill>
                <a:latin typeface="Noto Sans CJK SC"/>
                <a:ea typeface="Noto Sans CJK SC"/>
                <a:cs typeface="Noto Sans CJK SC"/>
              </a:rPr>
              <a:t>官方全称</a:t>
            </a:r>
            <a:endParaRPr/>
          </a:p>
        </p:txBody>
      </p:sp>
      <p:sp>
        <p:nvSpPr>
          <p:cNvPr id="108" name="TextBox 19"/>
          <p:cNvSpPr txBox="1"/>
          <p:nvPr/>
        </p:nvSpPr>
        <p:spPr>
          <a:xfrm>
            <a:off x="4297680" y="2359152"/>
            <a:ext cx="3749039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“挑战杯”全国大学生课外学术</a:t>
            </a:r>
            <a:endParaRPr/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科技作品竞赛</a:t>
            </a:r>
            <a:endParaRPr/>
          </a:p>
        </p:txBody>
      </p:sp>
      <p:sp>
        <p:nvSpPr>
          <p:cNvPr id="109" name="TextBox 20"/>
          <p:cNvSpPr txBox="1"/>
          <p:nvPr/>
        </p:nvSpPr>
        <p:spPr>
          <a:xfrm>
            <a:off x="8321040" y="2359152"/>
            <a:ext cx="310896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“挑战杯”中国大学生</a:t>
            </a:r>
            <a:endParaRPr/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创业计划竞赛</a:t>
            </a:r>
            <a:endParaRPr/>
          </a:p>
        </p:txBody>
      </p:sp>
      <p:sp>
        <p:nvSpPr>
          <p:cNvPr id="110" name="Rectangle 21"/>
          <p:cNvSpPr/>
          <p:nvPr/>
        </p:nvSpPr>
        <p:spPr>
          <a:xfrm>
            <a:off x="640080" y="3346704"/>
            <a:ext cx="10911535" cy="9525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22"/>
          <p:cNvSpPr/>
          <p:nvPr/>
        </p:nvSpPr>
        <p:spPr>
          <a:xfrm>
            <a:off x="640080" y="3346704"/>
            <a:ext cx="10911535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23"/>
          <p:cNvSpPr/>
          <p:nvPr/>
        </p:nvSpPr>
        <p:spPr>
          <a:xfrm>
            <a:off x="4160520" y="3346704"/>
            <a:ext cx="253746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24"/>
          <p:cNvSpPr/>
          <p:nvPr/>
        </p:nvSpPr>
        <p:spPr>
          <a:xfrm>
            <a:off x="8183879" y="3346704"/>
            <a:ext cx="336499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25"/>
          <p:cNvSpPr/>
          <p:nvPr/>
        </p:nvSpPr>
        <p:spPr>
          <a:xfrm>
            <a:off x="640080" y="3346704"/>
            <a:ext cx="54864" cy="987552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26"/>
          <p:cNvSpPr txBox="1"/>
          <p:nvPr/>
        </p:nvSpPr>
        <p:spPr>
          <a:xfrm>
            <a:off x="777240" y="3346704"/>
            <a:ext cx="329184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5C8B"/>
                </a:solidFill>
                <a:latin typeface="Noto Sans CJK SC"/>
                <a:ea typeface="Noto Sans CJK SC"/>
                <a:cs typeface="Noto Sans CJK SC"/>
              </a:rPr>
              <a:t>核心侧重</a:t>
            </a:r>
            <a:endParaRPr/>
          </a:p>
        </p:txBody>
      </p:sp>
      <p:sp>
        <p:nvSpPr>
          <p:cNvPr id="116" name="TextBox 27"/>
          <p:cNvSpPr txBox="1"/>
          <p:nvPr/>
        </p:nvSpPr>
        <p:spPr>
          <a:xfrm>
            <a:off x="4297680" y="3346704"/>
            <a:ext cx="3749039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学术、科技、发明、调研</a:t>
            </a:r>
            <a:endParaRPr/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（偏科研创新）</a:t>
            </a:r>
            <a:endParaRPr/>
          </a:p>
        </p:txBody>
      </p:sp>
      <p:sp>
        <p:nvSpPr>
          <p:cNvPr id="117" name="TextBox 28"/>
          <p:cNvSpPr txBox="1"/>
          <p:nvPr/>
        </p:nvSpPr>
        <p:spPr>
          <a:xfrm>
            <a:off x="8321040" y="3346704"/>
            <a:ext cx="310896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创业计划、商业落地、盈利</a:t>
            </a:r>
            <a:endParaRPr/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（偏商业落地）</a:t>
            </a:r>
            <a:endParaRPr/>
          </a:p>
        </p:txBody>
      </p:sp>
      <p:sp>
        <p:nvSpPr>
          <p:cNvPr id="118" name="Rectangle 29"/>
          <p:cNvSpPr/>
          <p:nvPr/>
        </p:nvSpPr>
        <p:spPr>
          <a:xfrm>
            <a:off x="640080" y="4334256"/>
            <a:ext cx="10911535" cy="9525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30"/>
          <p:cNvSpPr/>
          <p:nvPr/>
        </p:nvSpPr>
        <p:spPr>
          <a:xfrm>
            <a:off x="640080" y="4334256"/>
            <a:ext cx="10911535" cy="987552"/>
          </a:xfrm>
          <a:prstGeom prst="rect">
            <a:avLst/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31"/>
          <p:cNvSpPr/>
          <p:nvPr/>
        </p:nvSpPr>
        <p:spPr>
          <a:xfrm>
            <a:off x="4160520" y="4334256"/>
            <a:ext cx="2537460" cy="987552"/>
          </a:xfrm>
          <a:prstGeom prst="rect">
            <a:avLst/>
          </a:prstGeom>
          <a:solidFill>
            <a:srgbClr val="F4F8FB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32"/>
          <p:cNvSpPr/>
          <p:nvPr/>
        </p:nvSpPr>
        <p:spPr>
          <a:xfrm>
            <a:off x="8183879" y="4334256"/>
            <a:ext cx="3364992" cy="987552"/>
          </a:xfrm>
          <a:prstGeom prst="rect">
            <a:avLst/>
          </a:prstGeom>
          <a:solidFill>
            <a:srgbClr val="F4F8FB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33"/>
          <p:cNvSpPr/>
          <p:nvPr/>
        </p:nvSpPr>
        <p:spPr>
          <a:xfrm>
            <a:off x="640080" y="4334256"/>
            <a:ext cx="54864" cy="987552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34"/>
          <p:cNvSpPr txBox="1"/>
          <p:nvPr/>
        </p:nvSpPr>
        <p:spPr>
          <a:xfrm>
            <a:off x="777240" y="4334256"/>
            <a:ext cx="329184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5C8B"/>
                </a:solidFill>
                <a:latin typeface="Noto Sans CJK SC"/>
                <a:ea typeface="Noto Sans CJK SC"/>
                <a:cs typeface="Noto Sans CJK SC"/>
              </a:rPr>
              <a:t>举办年份</a:t>
            </a:r>
            <a:endParaRPr/>
          </a:p>
        </p:txBody>
      </p:sp>
      <p:sp>
        <p:nvSpPr>
          <p:cNvPr id="124" name="TextBox 35"/>
          <p:cNvSpPr txBox="1"/>
          <p:nvPr/>
        </p:nvSpPr>
        <p:spPr>
          <a:xfrm>
            <a:off x="4297680" y="4334256"/>
            <a:ext cx="3749039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奇数年</a:t>
            </a:r>
            <a:endParaRPr/>
          </a:p>
        </p:txBody>
      </p:sp>
      <p:sp>
        <p:nvSpPr>
          <p:cNvPr id="125" name="TextBox 36"/>
          <p:cNvSpPr txBox="1"/>
          <p:nvPr/>
        </p:nvSpPr>
        <p:spPr>
          <a:xfrm>
            <a:off x="8321040" y="4334256"/>
            <a:ext cx="310896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偶数年</a:t>
            </a:r>
            <a:endParaRPr/>
          </a:p>
        </p:txBody>
      </p:sp>
      <p:sp>
        <p:nvSpPr>
          <p:cNvPr id="126" name="Rectangle 37"/>
          <p:cNvSpPr/>
          <p:nvPr/>
        </p:nvSpPr>
        <p:spPr>
          <a:xfrm>
            <a:off x="640080" y="5321808"/>
            <a:ext cx="10911535" cy="9525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38"/>
          <p:cNvSpPr/>
          <p:nvPr/>
        </p:nvSpPr>
        <p:spPr>
          <a:xfrm>
            <a:off x="640080" y="5321808"/>
            <a:ext cx="10911535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39"/>
          <p:cNvSpPr/>
          <p:nvPr/>
        </p:nvSpPr>
        <p:spPr>
          <a:xfrm>
            <a:off x="4160520" y="5321808"/>
            <a:ext cx="253746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40"/>
          <p:cNvSpPr/>
          <p:nvPr/>
        </p:nvSpPr>
        <p:spPr>
          <a:xfrm>
            <a:off x="8183879" y="5321808"/>
            <a:ext cx="336499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41"/>
          <p:cNvSpPr/>
          <p:nvPr/>
        </p:nvSpPr>
        <p:spPr>
          <a:xfrm>
            <a:off x="640080" y="5321808"/>
            <a:ext cx="54864" cy="987552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42"/>
          <p:cNvSpPr txBox="1"/>
          <p:nvPr/>
        </p:nvSpPr>
        <p:spPr>
          <a:xfrm>
            <a:off x="777240" y="5321808"/>
            <a:ext cx="329184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F5C8B"/>
                </a:solidFill>
                <a:latin typeface="Noto Sans CJK SC"/>
                <a:ea typeface="Noto Sans CJK SC"/>
                <a:cs typeface="Noto Sans CJK SC"/>
              </a:rPr>
              <a:t>展示形式</a:t>
            </a:r>
            <a:endParaRPr/>
          </a:p>
        </p:txBody>
      </p:sp>
      <p:sp>
        <p:nvSpPr>
          <p:cNvPr id="132" name="TextBox 43"/>
          <p:cNvSpPr txBox="1"/>
          <p:nvPr/>
        </p:nvSpPr>
        <p:spPr>
          <a:xfrm>
            <a:off x="4297680" y="5321808"/>
            <a:ext cx="3749039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自然科学类学术论文、哲学社会科学类</a:t>
            </a:r>
            <a:endParaRPr/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社会调查报告、科技发明制作</a:t>
            </a:r>
            <a:endParaRPr/>
          </a:p>
        </p:txBody>
      </p:sp>
      <p:sp>
        <p:nvSpPr>
          <p:cNvPr id="133" name="TextBox 44"/>
          <p:cNvSpPr txBox="1"/>
          <p:nvPr/>
        </p:nvSpPr>
        <p:spPr>
          <a:xfrm>
            <a:off x="8321040" y="5321808"/>
            <a:ext cx="310896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创业计划书、商业运营、公司实体</a:t>
            </a:r>
            <a:endParaRPr/>
          </a:p>
        </p:txBody>
      </p:sp>
      <p:sp>
        <p:nvSpPr>
          <p:cNvPr id="134" name="Rectangle 45"/>
          <p:cNvSpPr/>
          <p:nvPr/>
        </p:nvSpPr>
        <p:spPr>
          <a:xfrm>
            <a:off x="640080" y="6309360"/>
            <a:ext cx="10911535" cy="9525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46"/>
          <p:cNvSpPr/>
          <p:nvPr/>
        </p:nvSpPr>
        <p:spPr>
          <a:xfrm>
            <a:off x="640080" y="6291072"/>
            <a:ext cx="10911535" cy="9525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47"/>
          <p:cNvSpPr txBox="1"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07C88"/>
                </a:solidFill>
                <a:latin typeface="Noto Sans CJK SC"/>
                <a:ea typeface="Noto Sans CJK SC"/>
                <a:cs typeface="Noto Sans CJK SC"/>
              </a:rPr>
              <a:t>“大挑”赛事介绍</a:t>
            </a:r>
            <a:endParaRPr/>
          </a:p>
        </p:txBody>
      </p:sp>
      <p:sp>
        <p:nvSpPr>
          <p:cNvPr id="137" name="TextBox 48"/>
          <p:cNvSpPr txBox="1"/>
          <p:nvPr/>
        </p:nvSpPr>
        <p:spPr>
          <a:xfrm>
            <a:off x="9448495" y="63550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07C88"/>
                </a:solidFill>
                <a:latin typeface="Noto Sans CJK SC"/>
                <a:ea typeface="Noto Sans CJK SC"/>
                <a:cs typeface="Noto Sans CJK SC"/>
              </a:rPr>
              <a:t>04 / 07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2"/>
          <p:cNvSpPr/>
          <p:nvPr/>
        </p:nvSpPr>
        <p:spPr>
          <a:xfrm>
            <a:off x="0" y="50292"/>
            <a:ext cx="2926080" cy="20116"/>
          </a:xfrm>
          <a:prstGeom prst="rect">
            <a:avLst/>
          </a:prstGeom>
          <a:solidFill>
            <a:srgbClr val="B08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3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4"/>
          <p:cNvSpPr txBox="1"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/>
          </a:p>
        </p:txBody>
      </p:sp>
      <p:sp>
        <p:nvSpPr>
          <p:cNvPr id="143" name="TextBox 5"/>
          <p:cNvSpPr txBox="1"/>
          <p:nvPr/>
        </p:nvSpPr>
        <p:spPr>
          <a:xfrm>
            <a:off x="1371600" y="548640"/>
            <a:ext cx="101498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三、参赛作品分类</a:t>
            </a:r>
            <a:r>
              <a:rPr sz="1200" b="0">
                <a:solidFill>
                  <a:srgbClr val="707C88"/>
                </a:solidFill>
                <a:latin typeface="Noto Sans CJK SC"/>
                <a:ea typeface="Noto Sans CJK SC"/>
                <a:cs typeface="Noto Sans CJK SC"/>
              </a:rPr>
              <a:t>    （大挑）</a:t>
            </a:r>
            <a:endParaRPr/>
          </a:p>
        </p:txBody>
      </p:sp>
      <p:sp>
        <p:nvSpPr>
          <p:cNvPr id="144" name="Rectangle 6"/>
          <p:cNvSpPr/>
          <p:nvPr/>
        </p:nvSpPr>
        <p:spPr>
          <a:xfrm>
            <a:off x="640080" y="1298448"/>
            <a:ext cx="10911535" cy="12700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7"/>
          <p:cNvSpPr/>
          <p:nvPr/>
        </p:nvSpPr>
        <p:spPr>
          <a:xfrm>
            <a:off x="640080" y="1298448"/>
            <a:ext cx="1371600" cy="27940"/>
          </a:xfrm>
          <a:prstGeom prst="rect">
            <a:avLst/>
          </a:prstGeom>
          <a:solidFill>
            <a:srgbClr val="B08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8"/>
          <p:cNvSpPr/>
          <p:nvPr/>
        </p:nvSpPr>
        <p:spPr>
          <a:xfrm>
            <a:off x="640080" y="1783080"/>
            <a:ext cx="10911535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9"/>
          <p:cNvSpPr/>
          <p:nvPr/>
        </p:nvSpPr>
        <p:spPr>
          <a:xfrm>
            <a:off x="640080" y="1783080"/>
            <a:ext cx="68580" cy="1170432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ounded Rectangle 10"/>
          <p:cNvSpPr/>
          <p:nvPr/>
        </p:nvSpPr>
        <p:spPr>
          <a:xfrm>
            <a:off x="1005840" y="2039112"/>
            <a:ext cx="566928" cy="566928"/>
          </a:xfrm>
          <a:prstGeom prst="roundRect">
            <a:avLst/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1"/>
          <p:cNvSpPr txBox="1"/>
          <p:nvPr/>
        </p:nvSpPr>
        <p:spPr>
          <a:xfrm>
            <a:off x="1005840" y="203911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C8B"/>
                </a:solidFill>
                <a:latin typeface="Noto Sans CJK SC"/>
                <a:ea typeface="Noto Sans CJK SC"/>
                <a:cs typeface="Noto Sans CJK SC"/>
              </a:rPr>
              <a:t>A</a:t>
            </a:r>
            <a:endParaRPr/>
          </a:p>
        </p:txBody>
      </p:sp>
      <p:sp>
        <p:nvSpPr>
          <p:cNvPr id="150" name="TextBox 12"/>
          <p:cNvSpPr txBox="1"/>
          <p:nvPr/>
        </p:nvSpPr>
        <p:spPr>
          <a:xfrm>
            <a:off x="1828800" y="1984248"/>
            <a:ext cx="9509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自然科学类学术论文</a:t>
            </a:r>
            <a:endParaRPr/>
          </a:p>
        </p:txBody>
      </p:sp>
      <p:sp>
        <p:nvSpPr>
          <p:cNvPr id="151" name="TextBox 13"/>
          <p:cNvSpPr txBox="1"/>
          <p:nvPr/>
        </p:nvSpPr>
        <p:spPr>
          <a:xfrm>
            <a:off x="1828800" y="2404872"/>
            <a:ext cx="95097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D47"/>
                </a:solidFill>
                <a:latin typeface="Noto Sans CJK SC"/>
                <a:ea typeface="Noto Sans CJK SC"/>
                <a:cs typeface="Noto Sans CJK SC"/>
              </a:rPr>
              <a:t>涵盖机械与控制、信息技术、数理、生命科学、能源化工等方向。</a:t>
            </a:r>
            <a:endParaRPr/>
          </a:p>
        </p:txBody>
      </p:sp>
      <p:sp>
        <p:nvSpPr>
          <p:cNvPr id="152" name="Rectangle 14"/>
          <p:cNvSpPr/>
          <p:nvPr/>
        </p:nvSpPr>
        <p:spPr>
          <a:xfrm>
            <a:off x="640080" y="3172968"/>
            <a:ext cx="10911535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"/>
          <p:cNvSpPr/>
          <p:nvPr/>
        </p:nvSpPr>
        <p:spPr>
          <a:xfrm>
            <a:off x="640080" y="3172968"/>
            <a:ext cx="68580" cy="1170432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ounded Rectangle 16"/>
          <p:cNvSpPr/>
          <p:nvPr/>
        </p:nvSpPr>
        <p:spPr>
          <a:xfrm>
            <a:off x="1005840" y="3429000"/>
            <a:ext cx="566928" cy="566928"/>
          </a:xfrm>
          <a:prstGeom prst="roundRect">
            <a:avLst/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7"/>
          <p:cNvSpPr txBox="1"/>
          <p:nvPr/>
        </p:nvSpPr>
        <p:spPr>
          <a:xfrm>
            <a:off x="1005840" y="34290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C8B"/>
                </a:solidFill>
                <a:latin typeface="Noto Sans CJK SC"/>
                <a:ea typeface="Noto Sans CJK SC"/>
                <a:cs typeface="Noto Sans CJK SC"/>
              </a:rPr>
              <a:t>B</a:t>
            </a:r>
            <a:endParaRPr/>
          </a:p>
        </p:txBody>
      </p:sp>
      <p:sp>
        <p:nvSpPr>
          <p:cNvPr id="156" name="TextBox 18"/>
          <p:cNvSpPr txBox="1"/>
          <p:nvPr/>
        </p:nvSpPr>
        <p:spPr>
          <a:xfrm>
            <a:off x="1828800" y="3374136"/>
            <a:ext cx="9509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哲学社会科学类社会调查报告</a:t>
            </a:r>
            <a:endParaRPr/>
          </a:p>
        </p:txBody>
      </p:sp>
      <p:sp>
        <p:nvSpPr>
          <p:cNvPr id="157" name="TextBox 19"/>
          <p:cNvSpPr txBox="1"/>
          <p:nvPr/>
        </p:nvSpPr>
        <p:spPr>
          <a:xfrm>
            <a:off x="1828800" y="3794760"/>
            <a:ext cx="95097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D47"/>
                </a:solidFill>
                <a:latin typeface="Noto Sans CJK SC"/>
                <a:ea typeface="Noto Sans CJK SC"/>
                <a:cs typeface="Noto Sans CJK SC"/>
              </a:rPr>
              <a:t>围绕发展成就、文明文化、美丽中国、民生福祉、中国之治等方向。</a:t>
            </a:r>
            <a:endParaRPr/>
          </a:p>
        </p:txBody>
      </p:sp>
      <p:sp>
        <p:nvSpPr>
          <p:cNvPr id="158" name="Rectangle 20"/>
          <p:cNvSpPr/>
          <p:nvPr/>
        </p:nvSpPr>
        <p:spPr>
          <a:xfrm>
            <a:off x="640080" y="4562856"/>
            <a:ext cx="10911535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21"/>
          <p:cNvSpPr/>
          <p:nvPr/>
        </p:nvSpPr>
        <p:spPr>
          <a:xfrm>
            <a:off x="640080" y="4562856"/>
            <a:ext cx="68580" cy="1517904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ounded Rectangle 22"/>
          <p:cNvSpPr/>
          <p:nvPr/>
        </p:nvSpPr>
        <p:spPr>
          <a:xfrm>
            <a:off x="1005840" y="4818888"/>
            <a:ext cx="566928" cy="566928"/>
          </a:xfrm>
          <a:prstGeom prst="roundRect">
            <a:avLst/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23"/>
          <p:cNvSpPr txBox="1"/>
          <p:nvPr/>
        </p:nvSpPr>
        <p:spPr>
          <a:xfrm>
            <a:off x="1005840" y="481888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C8B"/>
                </a:solidFill>
                <a:latin typeface="Noto Sans CJK SC"/>
                <a:ea typeface="Noto Sans CJK SC"/>
                <a:cs typeface="Noto Sans CJK SC"/>
              </a:rPr>
              <a:t>C</a:t>
            </a:r>
            <a:endParaRPr/>
          </a:p>
        </p:txBody>
      </p:sp>
      <p:sp>
        <p:nvSpPr>
          <p:cNvPr id="162" name="TextBox 24"/>
          <p:cNvSpPr txBox="1"/>
          <p:nvPr/>
        </p:nvSpPr>
        <p:spPr>
          <a:xfrm>
            <a:off x="1828800" y="4764024"/>
            <a:ext cx="9509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科技发明制作</a:t>
            </a:r>
            <a:endParaRPr/>
          </a:p>
        </p:txBody>
      </p:sp>
      <p:sp>
        <p:nvSpPr>
          <p:cNvPr id="163" name="TextBox 25"/>
          <p:cNvSpPr txBox="1"/>
          <p:nvPr/>
        </p:nvSpPr>
        <p:spPr>
          <a:xfrm>
            <a:off x="1828800" y="5184648"/>
            <a:ext cx="950976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D47"/>
                </a:solidFill>
                <a:latin typeface="Noto Sans CJK SC"/>
                <a:ea typeface="Noto Sans CJK SC"/>
                <a:cs typeface="Noto Sans CJK SC"/>
              </a:rPr>
              <a:t>分为 </a:t>
            </a:r>
            <a:r>
              <a:rPr sz="1250" b="1">
                <a:solidFill>
                  <a:srgbClr val="1F5C8B"/>
                </a:solidFill>
                <a:latin typeface="Noto Sans CJK SC"/>
                <a:ea typeface="Noto Sans CJK SC"/>
                <a:cs typeface="Noto Sans CJK SC"/>
              </a:rPr>
              <a:t>A 类</a:t>
            </a:r>
            <a:r>
              <a:rPr sz="1250" b="0">
                <a:solidFill>
                  <a:srgbClr val="333D47"/>
                </a:solidFill>
                <a:latin typeface="Noto Sans CJK SC"/>
                <a:ea typeface="Noto Sans CJK SC"/>
                <a:cs typeface="Noto Sans CJK SC"/>
              </a:rPr>
              <a:t>（科技含量较高、制作投入较大的作品）和 </a:t>
            </a:r>
            <a:r>
              <a:rPr sz="1250" b="1">
                <a:solidFill>
                  <a:srgbClr val="1F5C8B"/>
                </a:solidFill>
                <a:latin typeface="Noto Sans CJK SC"/>
                <a:ea typeface="Noto Sans CJK SC"/>
                <a:cs typeface="Noto Sans CJK SC"/>
              </a:rPr>
              <a:t>B 类</a:t>
            </a:r>
            <a:r>
              <a:rPr sz="1250" b="0">
                <a:solidFill>
                  <a:srgbClr val="333D47"/>
                </a:solidFill>
                <a:latin typeface="Noto Sans CJK SC"/>
                <a:ea typeface="Noto Sans CJK SC"/>
                <a:cs typeface="Noto Sans CJK SC"/>
              </a:rPr>
              <a:t>（投入较少，为生产技术或社会生活带来便利的小发明、小制作）。</a:t>
            </a:r>
            <a:endParaRPr/>
          </a:p>
        </p:txBody>
      </p:sp>
      <p:sp>
        <p:nvSpPr>
          <p:cNvPr id="164" name="Rectangle 26"/>
          <p:cNvSpPr/>
          <p:nvPr/>
        </p:nvSpPr>
        <p:spPr>
          <a:xfrm>
            <a:off x="640080" y="6291072"/>
            <a:ext cx="10911535" cy="9525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27"/>
          <p:cNvSpPr txBox="1"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07C88"/>
                </a:solidFill>
                <a:latin typeface="Noto Sans CJK SC"/>
                <a:ea typeface="Noto Sans CJK SC"/>
                <a:cs typeface="Noto Sans CJK SC"/>
              </a:rPr>
              <a:t>“大挑”赛事介绍</a:t>
            </a:r>
            <a:endParaRPr/>
          </a:p>
        </p:txBody>
      </p:sp>
      <p:sp>
        <p:nvSpPr>
          <p:cNvPr id="166" name="TextBox 28"/>
          <p:cNvSpPr txBox="1"/>
          <p:nvPr/>
        </p:nvSpPr>
        <p:spPr>
          <a:xfrm>
            <a:off x="9448495" y="63550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07C88"/>
                </a:solidFill>
                <a:latin typeface="Noto Sans CJK SC"/>
                <a:ea typeface="Noto Sans CJK SC"/>
                <a:cs typeface="Noto Sans CJK SC"/>
              </a:rPr>
              <a:t>05 / 07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2"/>
          <p:cNvSpPr/>
          <p:nvPr/>
        </p:nvSpPr>
        <p:spPr>
          <a:xfrm>
            <a:off x="0" y="50292"/>
            <a:ext cx="2926080" cy="20116"/>
          </a:xfrm>
          <a:prstGeom prst="rect">
            <a:avLst/>
          </a:prstGeom>
          <a:solidFill>
            <a:srgbClr val="B08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3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4"/>
          <p:cNvSpPr txBox="1"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/>
          </a:p>
        </p:txBody>
      </p:sp>
      <p:sp>
        <p:nvSpPr>
          <p:cNvPr id="172" name="TextBox 5"/>
          <p:cNvSpPr txBox="1"/>
          <p:nvPr/>
        </p:nvSpPr>
        <p:spPr>
          <a:xfrm>
            <a:off x="1371600" y="548640"/>
            <a:ext cx="101498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四、赛事体系与奖项设置</a:t>
            </a:r>
            <a:endParaRPr/>
          </a:p>
        </p:txBody>
      </p:sp>
      <p:sp>
        <p:nvSpPr>
          <p:cNvPr id="173" name="Rectangle 6"/>
          <p:cNvSpPr/>
          <p:nvPr/>
        </p:nvSpPr>
        <p:spPr>
          <a:xfrm>
            <a:off x="640080" y="1298448"/>
            <a:ext cx="10911535" cy="12700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7"/>
          <p:cNvSpPr/>
          <p:nvPr/>
        </p:nvSpPr>
        <p:spPr>
          <a:xfrm>
            <a:off x="640080" y="1298448"/>
            <a:ext cx="1371600" cy="27940"/>
          </a:xfrm>
          <a:prstGeom prst="rect">
            <a:avLst/>
          </a:prstGeom>
          <a:solidFill>
            <a:srgbClr val="B08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8"/>
          <p:cNvSpPr/>
          <p:nvPr/>
        </p:nvSpPr>
        <p:spPr>
          <a:xfrm>
            <a:off x="640080" y="1783080"/>
            <a:ext cx="507492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9"/>
          <p:cNvSpPr/>
          <p:nvPr/>
        </p:nvSpPr>
        <p:spPr>
          <a:xfrm>
            <a:off x="640080" y="1783080"/>
            <a:ext cx="5074920" cy="54864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0"/>
          <p:cNvSpPr txBox="1"/>
          <p:nvPr/>
        </p:nvSpPr>
        <p:spPr>
          <a:xfrm>
            <a:off x="960120" y="178308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赛事层级</a:t>
            </a:r>
            <a:endParaRPr/>
          </a:p>
        </p:txBody>
      </p:sp>
      <p:sp>
        <p:nvSpPr>
          <p:cNvPr id="178" name="Rectangle 11"/>
          <p:cNvSpPr/>
          <p:nvPr/>
        </p:nvSpPr>
        <p:spPr>
          <a:xfrm>
            <a:off x="960120" y="2606040"/>
            <a:ext cx="4434840" cy="822960"/>
          </a:xfrm>
          <a:prstGeom prst="rect">
            <a:avLst/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2"/>
          <p:cNvSpPr/>
          <p:nvPr/>
        </p:nvSpPr>
        <p:spPr>
          <a:xfrm>
            <a:off x="960120" y="2606040"/>
            <a:ext cx="54864" cy="822960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3"/>
          <p:cNvSpPr/>
          <p:nvPr/>
        </p:nvSpPr>
        <p:spPr>
          <a:xfrm>
            <a:off x="1207008" y="2770632"/>
            <a:ext cx="457200" cy="457200"/>
          </a:xfrm>
          <a:prstGeom prst="ellipse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4"/>
          <p:cNvSpPr txBox="1"/>
          <p:nvPr/>
        </p:nvSpPr>
        <p:spPr>
          <a:xfrm>
            <a:off x="1207008" y="27706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  <a:endParaRPr/>
          </a:p>
        </p:txBody>
      </p:sp>
      <p:sp>
        <p:nvSpPr>
          <p:cNvPr id="182" name="TextBox 15"/>
          <p:cNvSpPr txBox="1"/>
          <p:nvPr/>
        </p:nvSpPr>
        <p:spPr>
          <a:xfrm>
            <a:off x="1874520" y="2734056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校级初赛</a:t>
            </a:r>
            <a:endParaRPr/>
          </a:p>
        </p:txBody>
      </p:sp>
      <p:sp>
        <p:nvSpPr>
          <p:cNvPr id="183" name="Rectangle 16"/>
          <p:cNvSpPr/>
          <p:nvPr/>
        </p:nvSpPr>
        <p:spPr>
          <a:xfrm>
            <a:off x="960120" y="3630168"/>
            <a:ext cx="4434840" cy="822960"/>
          </a:xfrm>
          <a:prstGeom prst="rect">
            <a:avLst/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7"/>
          <p:cNvSpPr/>
          <p:nvPr/>
        </p:nvSpPr>
        <p:spPr>
          <a:xfrm>
            <a:off x="960120" y="3630168"/>
            <a:ext cx="54864" cy="822960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Oval 18"/>
          <p:cNvSpPr/>
          <p:nvPr/>
        </p:nvSpPr>
        <p:spPr>
          <a:xfrm>
            <a:off x="1207008" y="3794760"/>
            <a:ext cx="457200" cy="457200"/>
          </a:xfrm>
          <a:prstGeom prst="ellipse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9"/>
          <p:cNvSpPr txBox="1"/>
          <p:nvPr/>
        </p:nvSpPr>
        <p:spPr>
          <a:xfrm>
            <a:off x="1207008" y="37947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  <a:endParaRPr/>
          </a:p>
        </p:txBody>
      </p:sp>
      <p:sp>
        <p:nvSpPr>
          <p:cNvPr id="187" name="TextBox 20"/>
          <p:cNvSpPr txBox="1"/>
          <p:nvPr/>
        </p:nvSpPr>
        <p:spPr>
          <a:xfrm>
            <a:off x="1874520" y="3758184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省级复赛</a:t>
            </a:r>
            <a:endParaRPr/>
          </a:p>
        </p:txBody>
      </p:sp>
      <p:sp>
        <p:nvSpPr>
          <p:cNvPr id="188" name="Rectangle 21"/>
          <p:cNvSpPr/>
          <p:nvPr/>
        </p:nvSpPr>
        <p:spPr>
          <a:xfrm>
            <a:off x="960120" y="4654296"/>
            <a:ext cx="4434840" cy="1024128"/>
          </a:xfrm>
          <a:prstGeom prst="rect">
            <a:avLst/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22"/>
          <p:cNvSpPr/>
          <p:nvPr/>
        </p:nvSpPr>
        <p:spPr>
          <a:xfrm>
            <a:off x="960120" y="4654296"/>
            <a:ext cx="54864" cy="1024128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Oval 23"/>
          <p:cNvSpPr/>
          <p:nvPr/>
        </p:nvSpPr>
        <p:spPr>
          <a:xfrm>
            <a:off x="1207008" y="4818888"/>
            <a:ext cx="457200" cy="457200"/>
          </a:xfrm>
          <a:prstGeom prst="ellipse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24"/>
          <p:cNvSpPr txBox="1"/>
          <p:nvPr/>
        </p:nvSpPr>
        <p:spPr>
          <a:xfrm>
            <a:off x="1207008" y="48188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  <a:endParaRPr/>
          </a:p>
        </p:txBody>
      </p:sp>
      <p:sp>
        <p:nvSpPr>
          <p:cNvPr id="192" name="TextBox 25"/>
          <p:cNvSpPr txBox="1"/>
          <p:nvPr/>
        </p:nvSpPr>
        <p:spPr>
          <a:xfrm>
            <a:off x="1874520" y="4782312"/>
            <a:ext cx="324612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全国终审决赛</a:t>
            </a:r>
            <a:endParaRPr/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707C88"/>
                </a:solidFill>
                <a:latin typeface="Noto Sans CJK SC"/>
                <a:ea typeface="Noto Sans CJK SC"/>
                <a:cs typeface="Noto Sans CJK SC"/>
              </a:rPr>
              <a:t>每届在奇数年下半年举办</a:t>
            </a:r>
            <a:endParaRPr/>
          </a:p>
        </p:txBody>
      </p:sp>
      <p:sp>
        <p:nvSpPr>
          <p:cNvPr id="193" name="Rectangle 26"/>
          <p:cNvSpPr/>
          <p:nvPr/>
        </p:nvSpPr>
        <p:spPr>
          <a:xfrm>
            <a:off x="5989320" y="1783080"/>
            <a:ext cx="5559552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27"/>
          <p:cNvSpPr/>
          <p:nvPr/>
        </p:nvSpPr>
        <p:spPr>
          <a:xfrm>
            <a:off x="5989320" y="1783080"/>
            <a:ext cx="5559552" cy="548640"/>
          </a:xfrm>
          <a:prstGeom prst="rect">
            <a:avLst/>
          </a:prstGeom>
          <a:solidFill>
            <a:srgbClr val="B08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28"/>
          <p:cNvSpPr txBox="1"/>
          <p:nvPr/>
        </p:nvSpPr>
        <p:spPr>
          <a:xfrm>
            <a:off x="6309360" y="1783080"/>
            <a:ext cx="491947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最高荣誉</a:t>
            </a:r>
            <a:endParaRPr/>
          </a:p>
        </p:txBody>
      </p:sp>
      <p:sp>
        <p:nvSpPr>
          <p:cNvPr id="196" name="Rectangle 29"/>
          <p:cNvSpPr/>
          <p:nvPr/>
        </p:nvSpPr>
        <p:spPr>
          <a:xfrm>
            <a:off x="6309360" y="2651760"/>
            <a:ext cx="4919472" cy="1005840"/>
          </a:xfrm>
          <a:prstGeom prst="rect">
            <a:avLst/>
          </a:prstGeom>
          <a:solidFill>
            <a:srgbClr val="FA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Rectangle 30"/>
          <p:cNvSpPr/>
          <p:nvPr/>
        </p:nvSpPr>
        <p:spPr>
          <a:xfrm>
            <a:off x="6309360" y="2651760"/>
            <a:ext cx="50292" cy="1005840"/>
          </a:xfrm>
          <a:prstGeom prst="rect">
            <a:avLst/>
          </a:prstGeom>
          <a:solidFill>
            <a:srgbClr val="B08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Rounded Rectangle 31"/>
          <p:cNvSpPr/>
          <p:nvPr/>
        </p:nvSpPr>
        <p:spPr>
          <a:xfrm>
            <a:off x="6556248" y="2834640"/>
            <a:ext cx="1051560" cy="310896"/>
          </a:xfrm>
          <a:prstGeom prst="roundRect">
            <a:avLst/>
          </a:prstGeom>
          <a:noFill/>
          <a:ln w="13970">
            <a:solidFill>
              <a:srgbClr val="B08D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32"/>
          <p:cNvSpPr txBox="1"/>
          <p:nvPr/>
        </p:nvSpPr>
        <p:spPr>
          <a:xfrm>
            <a:off x="6556248" y="2834640"/>
            <a:ext cx="10515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08D37"/>
                </a:solidFill>
                <a:latin typeface="Noto Sans CJK SC"/>
                <a:ea typeface="Noto Sans CJK SC"/>
                <a:cs typeface="Noto Sans CJK SC"/>
              </a:rPr>
              <a:t>流动杯</a:t>
            </a:r>
            <a:endParaRPr/>
          </a:p>
        </p:txBody>
      </p:sp>
      <p:sp>
        <p:nvSpPr>
          <p:cNvPr id="200" name="TextBox 33"/>
          <p:cNvSpPr txBox="1"/>
          <p:nvPr/>
        </p:nvSpPr>
        <p:spPr>
          <a:xfrm>
            <a:off x="6556248" y="3200400"/>
            <a:ext cx="464515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08D37"/>
                </a:solidFill>
                <a:latin typeface="Noto Sans CJK SC"/>
                <a:ea typeface="Noto Sans CJK SC"/>
                <a:cs typeface="Noto Sans CJK SC"/>
              </a:rPr>
              <a:t>“挑战杯”</a:t>
            </a:r>
            <a:endParaRPr/>
          </a:p>
        </p:txBody>
      </p:sp>
      <p:sp>
        <p:nvSpPr>
          <p:cNvPr id="201" name="TextBox 34"/>
          <p:cNvSpPr txBox="1"/>
          <p:nvPr/>
        </p:nvSpPr>
        <p:spPr>
          <a:xfrm>
            <a:off x="7744968" y="2834640"/>
            <a:ext cx="35021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07C88"/>
                </a:solidFill>
                <a:latin typeface="Noto Sans CJK SC"/>
                <a:ea typeface="Noto Sans CJK SC"/>
                <a:cs typeface="Noto Sans CJK SC"/>
              </a:rPr>
              <a:t>授予团体总分第一的高校</a:t>
            </a:r>
            <a:endParaRPr/>
          </a:p>
        </p:txBody>
      </p:sp>
      <p:sp>
        <p:nvSpPr>
          <p:cNvPr id="202" name="Rectangle 35"/>
          <p:cNvSpPr/>
          <p:nvPr/>
        </p:nvSpPr>
        <p:spPr>
          <a:xfrm>
            <a:off x="6309360" y="3858768"/>
            <a:ext cx="4919472" cy="1005840"/>
          </a:xfrm>
          <a:prstGeom prst="rect">
            <a:avLst/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ounded Rectangle 36"/>
          <p:cNvSpPr/>
          <p:nvPr/>
        </p:nvSpPr>
        <p:spPr>
          <a:xfrm>
            <a:off x="6556248" y="4041648"/>
            <a:ext cx="1280160" cy="310896"/>
          </a:xfrm>
          <a:prstGeom prst="roundRect">
            <a:avLst/>
          </a:prstGeom>
          <a:noFill/>
          <a:ln w="13970">
            <a:solidFill>
              <a:srgbClr val="1F5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37"/>
          <p:cNvSpPr txBox="1"/>
          <p:nvPr/>
        </p:nvSpPr>
        <p:spPr>
          <a:xfrm>
            <a:off x="6556248" y="4041648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5C8B"/>
                </a:solidFill>
                <a:latin typeface="Noto Sans CJK SC"/>
                <a:ea typeface="Noto Sans CJK SC"/>
                <a:cs typeface="Noto Sans CJK SC"/>
              </a:rPr>
              <a:t>团体荣誉</a:t>
            </a:r>
            <a:endParaRPr/>
          </a:p>
        </p:txBody>
      </p:sp>
      <p:sp>
        <p:nvSpPr>
          <p:cNvPr id="205" name="TextBox 38"/>
          <p:cNvSpPr txBox="1"/>
          <p:nvPr/>
        </p:nvSpPr>
        <p:spPr>
          <a:xfrm>
            <a:off x="6556248" y="4407408"/>
            <a:ext cx="464515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“优胜杯”</a:t>
            </a:r>
            <a:endParaRPr/>
          </a:p>
        </p:txBody>
      </p:sp>
      <p:sp>
        <p:nvSpPr>
          <p:cNvPr id="206" name="TextBox 39"/>
          <p:cNvSpPr txBox="1"/>
          <p:nvPr/>
        </p:nvSpPr>
        <p:spPr>
          <a:xfrm>
            <a:off x="7973568" y="4041648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07C88"/>
                </a:solidFill>
                <a:latin typeface="Noto Sans CJK SC"/>
                <a:ea typeface="Noto Sans CJK SC"/>
                <a:cs typeface="Noto Sans CJK SC"/>
              </a:rPr>
              <a:t>授予团体总分前列的高校</a:t>
            </a:r>
            <a:endParaRPr/>
          </a:p>
        </p:txBody>
      </p:sp>
      <p:sp>
        <p:nvSpPr>
          <p:cNvPr id="207" name="Rectangle 40"/>
          <p:cNvSpPr/>
          <p:nvPr/>
        </p:nvSpPr>
        <p:spPr>
          <a:xfrm>
            <a:off x="6309360" y="5065776"/>
            <a:ext cx="4919472" cy="1005840"/>
          </a:xfrm>
          <a:prstGeom prst="rect">
            <a:avLst/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ounded Rectangle 41"/>
          <p:cNvSpPr/>
          <p:nvPr/>
        </p:nvSpPr>
        <p:spPr>
          <a:xfrm>
            <a:off x="6556248" y="5248656"/>
            <a:ext cx="1280160" cy="310896"/>
          </a:xfrm>
          <a:prstGeom prst="roundRect">
            <a:avLst/>
          </a:prstGeom>
          <a:noFill/>
          <a:ln w="13970">
            <a:solidFill>
              <a:srgbClr val="1F5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42"/>
          <p:cNvSpPr txBox="1"/>
          <p:nvPr/>
        </p:nvSpPr>
        <p:spPr>
          <a:xfrm>
            <a:off x="6556248" y="5248656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5C8B"/>
                </a:solidFill>
                <a:latin typeface="Noto Sans CJK SC"/>
                <a:ea typeface="Noto Sans CJK SC"/>
                <a:cs typeface="Noto Sans CJK SC"/>
              </a:rPr>
              <a:t>单项奖</a:t>
            </a:r>
            <a:endParaRPr/>
          </a:p>
        </p:txBody>
      </p:sp>
      <p:sp>
        <p:nvSpPr>
          <p:cNvPr id="210" name="TextBox 43"/>
          <p:cNvSpPr txBox="1"/>
          <p:nvPr/>
        </p:nvSpPr>
        <p:spPr>
          <a:xfrm>
            <a:off x="6556248" y="5614416"/>
            <a:ext cx="464515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特等奖 / 一等奖 / 二等奖 / 三等奖</a:t>
            </a:r>
            <a:endParaRPr/>
          </a:p>
        </p:txBody>
      </p:sp>
      <p:sp>
        <p:nvSpPr>
          <p:cNvPr id="211" name="TextBox 44"/>
          <p:cNvSpPr txBox="1"/>
          <p:nvPr/>
        </p:nvSpPr>
        <p:spPr>
          <a:xfrm>
            <a:off x="7973568" y="5248656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07C88"/>
                </a:solidFill>
                <a:latin typeface="Noto Sans CJK SC"/>
                <a:ea typeface="Noto Sans CJK SC"/>
                <a:cs typeface="Noto Sans CJK SC"/>
              </a:rPr>
              <a:t>授予单项作品</a:t>
            </a:r>
            <a:endParaRPr/>
          </a:p>
        </p:txBody>
      </p:sp>
      <p:sp>
        <p:nvSpPr>
          <p:cNvPr id="212" name="Rectangle 45"/>
          <p:cNvSpPr/>
          <p:nvPr/>
        </p:nvSpPr>
        <p:spPr>
          <a:xfrm>
            <a:off x="6309360" y="5532120"/>
            <a:ext cx="4919472" cy="530352"/>
          </a:xfrm>
          <a:prstGeom prst="rect">
            <a:avLst/>
          </a:prstGeom>
          <a:solidFill>
            <a:srgbClr val="E8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46"/>
          <p:cNvSpPr txBox="1"/>
          <p:nvPr/>
        </p:nvSpPr>
        <p:spPr>
          <a:xfrm>
            <a:off x="6537960" y="5532120"/>
            <a:ext cx="446227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F5C8B"/>
                </a:solidFill>
                <a:latin typeface="Noto Sans CJK SC"/>
                <a:ea typeface="Noto Sans CJK SC"/>
                <a:cs typeface="Noto Sans CJK SC"/>
              </a:rPr>
              <a:t>此外还设有「揭榜挂帅」专项赛、红色专项活动、黑科技展示活动等。</a:t>
            </a:r>
            <a:endParaRPr/>
          </a:p>
        </p:txBody>
      </p:sp>
      <p:sp>
        <p:nvSpPr>
          <p:cNvPr id="214" name="Rectangle 47"/>
          <p:cNvSpPr/>
          <p:nvPr/>
        </p:nvSpPr>
        <p:spPr>
          <a:xfrm>
            <a:off x="640080" y="6291072"/>
            <a:ext cx="10911535" cy="9525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48"/>
          <p:cNvSpPr txBox="1"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07C88"/>
                </a:solidFill>
                <a:latin typeface="Noto Sans CJK SC"/>
                <a:ea typeface="Noto Sans CJK SC"/>
                <a:cs typeface="Noto Sans CJK SC"/>
              </a:rPr>
              <a:t>“大挑”赛事介绍</a:t>
            </a:r>
            <a:endParaRPr/>
          </a:p>
        </p:txBody>
      </p:sp>
      <p:sp>
        <p:nvSpPr>
          <p:cNvPr id="216" name="TextBox 49"/>
          <p:cNvSpPr txBox="1"/>
          <p:nvPr/>
        </p:nvSpPr>
        <p:spPr>
          <a:xfrm>
            <a:off x="9448495" y="63550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07C88"/>
                </a:solidFill>
                <a:latin typeface="Noto Sans CJK SC"/>
                <a:ea typeface="Noto Sans CJK SC"/>
                <a:cs typeface="Noto Sans CJK SC"/>
              </a:rPr>
              <a:t>06 / 07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2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Rectangle 2"/>
          <p:cNvSpPr/>
          <p:nvPr/>
        </p:nvSpPr>
        <p:spPr>
          <a:xfrm>
            <a:off x="0" y="50292"/>
            <a:ext cx="2926080" cy="20116"/>
          </a:xfrm>
          <a:prstGeom prst="rect">
            <a:avLst/>
          </a:prstGeom>
          <a:solidFill>
            <a:srgbClr val="B08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3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4"/>
          <p:cNvSpPr txBox="1"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/>
          </a:p>
        </p:txBody>
      </p:sp>
      <p:sp>
        <p:nvSpPr>
          <p:cNvPr id="222" name="TextBox 5"/>
          <p:cNvSpPr txBox="1"/>
          <p:nvPr/>
        </p:nvSpPr>
        <p:spPr>
          <a:xfrm>
            <a:off x="1371600" y="548640"/>
            <a:ext cx="101498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五、赛事含金量与价值</a:t>
            </a:r>
            <a:endParaRPr/>
          </a:p>
        </p:txBody>
      </p:sp>
      <p:sp>
        <p:nvSpPr>
          <p:cNvPr id="223" name="Rectangle 6"/>
          <p:cNvSpPr/>
          <p:nvPr/>
        </p:nvSpPr>
        <p:spPr>
          <a:xfrm>
            <a:off x="640080" y="1298448"/>
            <a:ext cx="10911535" cy="12700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ectangle 7"/>
          <p:cNvSpPr/>
          <p:nvPr/>
        </p:nvSpPr>
        <p:spPr>
          <a:xfrm>
            <a:off x="640080" y="1298448"/>
            <a:ext cx="1371600" cy="27940"/>
          </a:xfrm>
          <a:prstGeom prst="rect">
            <a:avLst/>
          </a:prstGeom>
          <a:solidFill>
            <a:srgbClr val="B08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Rectangle 8"/>
          <p:cNvSpPr/>
          <p:nvPr/>
        </p:nvSpPr>
        <p:spPr>
          <a:xfrm>
            <a:off x="640080" y="1783080"/>
            <a:ext cx="3511296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Rectangle 9"/>
          <p:cNvSpPr/>
          <p:nvPr/>
        </p:nvSpPr>
        <p:spPr>
          <a:xfrm>
            <a:off x="640080" y="1783080"/>
            <a:ext cx="3511296" cy="82296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Box 10"/>
          <p:cNvSpPr txBox="1"/>
          <p:nvPr/>
        </p:nvSpPr>
        <p:spPr>
          <a:xfrm>
            <a:off x="1005840" y="2103120"/>
            <a:ext cx="27797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3D3D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/>
          </a:p>
        </p:txBody>
      </p:sp>
      <p:sp>
        <p:nvSpPr>
          <p:cNvPr id="228" name="TextBox 11"/>
          <p:cNvSpPr txBox="1"/>
          <p:nvPr/>
        </p:nvSpPr>
        <p:spPr>
          <a:xfrm>
            <a:off x="1005840" y="2606040"/>
            <a:ext cx="277977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B08D37"/>
                </a:solidFill>
                <a:latin typeface="Noto Sans CJK SC"/>
                <a:ea typeface="Noto Sans CJK SC"/>
                <a:cs typeface="Noto Sans CJK SC"/>
              </a:rPr>
              <a:t>1989</a:t>
            </a:r>
            <a:endParaRPr/>
          </a:p>
        </p:txBody>
      </p:sp>
      <p:sp>
        <p:nvSpPr>
          <p:cNvPr id="229" name="TextBox 12"/>
          <p:cNvSpPr txBox="1"/>
          <p:nvPr/>
        </p:nvSpPr>
        <p:spPr>
          <a:xfrm>
            <a:off x="1005840" y="3429000"/>
            <a:ext cx="27797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历史底蕴</a:t>
            </a:r>
            <a:endParaRPr/>
          </a:p>
        </p:txBody>
      </p:sp>
      <p:sp>
        <p:nvSpPr>
          <p:cNvPr id="230" name="Rectangle 13"/>
          <p:cNvSpPr/>
          <p:nvPr/>
        </p:nvSpPr>
        <p:spPr>
          <a:xfrm>
            <a:off x="1005840" y="3931920"/>
            <a:ext cx="731520" cy="30480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TextBox 14"/>
          <p:cNvSpPr txBox="1"/>
          <p:nvPr/>
        </p:nvSpPr>
        <p:spPr>
          <a:xfrm>
            <a:off x="1005840" y="4160520"/>
            <a:ext cx="277977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D47"/>
                </a:solidFill>
                <a:latin typeface="Noto Sans CJK SC"/>
                <a:ea typeface="Noto Sans CJK SC"/>
                <a:cs typeface="Noto Sans CJK SC"/>
              </a:rPr>
              <a:t>自 1989 年创办，被誉为中国大学生科技创新创业的“奥林匹克”盛会。</a:t>
            </a:r>
            <a:endParaRPr/>
          </a:p>
        </p:txBody>
      </p:sp>
      <p:sp>
        <p:nvSpPr>
          <p:cNvPr id="232" name="Rectangle 15"/>
          <p:cNvSpPr/>
          <p:nvPr/>
        </p:nvSpPr>
        <p:spPr>
          <a:xfrm>
            <a:off x="4535424" y="1783080"/>
            <a:ext cx="3511296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Rectangle 16"/>
          <p:cNvSpPr/>
          <p:nvPr/>
        </p:nvSpPr>
        <p:spPr>
          <a:xfrm>
            <a:off x="4535424" y="1783080"/>
            <a:ext cx="3511296" cy="82296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TextBox 17"/>
          <p:cNvSpPr txBox="1"/>
          <p:nvPr/>
        </p:nvSpPr>
        <p:spPr>
          <a:xfrm>
            <a:off x="4901184" y="2103120"/>
            <a:ext cx="27797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3D3D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/>
          </a:p>
        </p:txBody>
      </p:sp>
      <p:sp>
        <p:nvSpPr>
          <p:cNvPr id="235" name="TextBox 18"/>
          <p:cNvSpPr txBox="1"/>
          <p:nvPr/>
        </p:nvSpPr>
        <p:spPr>
          <a:xfrm>
            <a:off x="4901184" y="2606040"/>
            <a:ext cx="277977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B08D37"/>
                </a:solidFill>
                <a:latin typeface="Noto Sans CJK SC"/>
                <a:ea typeface="Noto Sans CJK SC"/>
                <a:cs typeface="Noto Sans CJK SC"/>
              </a:rPr>
              <a:t>平台</a:t>
            </a:r>
            <a:endParaRPr/>
          </a:p>
        </p:txBody>
      </p:sp>
      <p:sp>
        <p:nvSpPr>
          <p:cNvPr id="236" name="TextBox 19"/>
          <p:cNvSpPr txBox="1"/>
          <p:nvPr/>
        </p:nvSpPr>
        <p:spPr>
          <a:xfrm>
            <a:off x="4901184" y="3429000"/>
            <a:ext cx="27797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人才摇篮</a:t>
            </a:r>
            <a:endParaRPr/>
          </a:p>
        </p:txBody>
      </p:sp>
      <p:sp>
        <p:nvSpPr>
          <p:cNvPr id="237" name="Rectangle 20"/>
          <p:cNvSpPr/>
          <p:nvPr/>
        </p:nvSpPr>
        <p:spPr>
          <a:xfrm>
            <a:off x="4901184" y="3931920"/>
            <a:ext cx="731520" cy="30480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TextBox 21"/>
          <p:cNvSpPr txBox="1"/>
          <p:nvPr/>
        </p:nvSpPr>
        <p:spPr>
          <a:xfrm>
            <a:off x="4901184" y="4160520"/>
            <a:ext cx="277977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D47"/>
                </a:solidFill>
                <a:latin typeface="Noto Sans CJK SC"/>
                <a:ea typeface="Noto Sans CJK SC"/>
                <a:cs typeface="Noto Sans CJK SC"/>
              </a:rPr>
              <a:t>孵化了大批高科技企业和顶尖科研人才，是高校培养拔尖创新人才的重要平台。</a:t>
            </a:r>
            <a:endParaRPr/>
          </a:p>
        </p:txBody>
      </p:sp>
      <p:sp>
        <p:nvSpPr>
          <p:cNvPr id="239" name="Rectangle 22"/>
          <p:cNvSpPr/>
          <p:nvPr/>
        </p:nvSpPr>
        <p:spPr>
          <a:xfrm>
            <a:off x="8430768" y="1783080"/>
            <a:ext cx="3511296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Rectangle 23"/>
          <p:cNvSpPr/>
          <p:nvPr/>
        </p:nvSpPr>
        <p:spPr>
          <a:xfrm>
            <a:off x="8430768" y="1783080"/>
            <a:ext cx="3511296" cy="82296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24"/>
          <p:cNvSpPr txBox="1"/>
          <p:nvPr/>
        </p:nvSpPr>
        <p:spPr>
          <a:xfrm>
            <a:off x="8796528" y="2103120"/>
            <a:ext cx="27797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3D3D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/>
          </a:p>
        </p:txBody>
      </p:sp>
      <p:sp>
        <p:nvSpPr>
          <p:cNvPr id="242" name="TextBox 25"/>
          <p:cNvSpPr txBox="1"/>
          <p:nvPr/>
        </p:nvSpPr>
        <p:spPr>
          <a:xfrm>
            <a:off x="8796528" y="2606040"/>
            <a:ext cx="277977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B08D37"/>
                </a:solidFill>
                <a:latin typeface="Noto Sans CJK SC"/>
                <a:ea typeface="Noto Sans CJK SC"/>
                <a:cs typeface="Noto Sans CJK SC"/>
              </a:rPr>
              <a:t>标尺</a:t>
            </a:r>
            <a:endParaRPr/>
          </a:p>
        </p:txBody>
      </p:sp>
      <p:sp>
        <p:nvSpPr>
          <p:cNvPr id="243" name="TextBox 26"/>
          <p:cNvSpPr txBox="1"/>
          <p:nvPr/>
        </p:nvSpPr>
        <p:spPr>
          <a:xfrm>
            <a:off x="8796528" y="3429000"/>
            <a:ext cx="277977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B45"/>
                </a:solidFill>
                <a:latin typeface="Noto Sans CJK SC"/>
                <a:ea typeface="Noto Sans CJK SC"/>
                <a:cs typeface="Noto Sans CJK SC"/>
              </a:rPr>
              <a:t>高校必争</a:t>
            </a:r>
            <a:endParaRPr/>
          </a:p>
        </p:txBody>
      </p:sp>
      <p:sp>
        <p:nvSpPr>
          <p:cNvPr id="244" name="Rectangle 27"/>
          <p:cNvSpPr/>
          <p:nvPr/>
        </p:nvSpPr>
        <p:spPr>
          <a:xfrm>
            <a:off x="8796528" y="3931920"/>
            <a:ext cx="731520" cy="30480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8"/>
          <p:cNvSpPr txBox="1"/>
          <p:nvPr/>
        </p:nvSpPr>
        <p:spPr>
          <a:xfrm>
            <a:off x="8796528" y="4160520"/>
            <a:ext cx="277977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D47"/>
                </a:solidFill>
                <a:latin typeface="Noto Sans CJK SC"/>
                <a:ea typeface="Noto Sans CJK SC"/>
                <a:cs typeface="Noto Sans CJK SC"/>
              </a:rPr>
              <a:t>斩获“优胜杯”或特等奖，代表该高校在该周期的学生科创最高水平。</a:t>
            </a:r>
            <a:endParaRPr/>
          </a:p>
        </p:txBody>
      </p:sp>
      <p:sp>
        <p:nvSpPr>
          <p:cNvPr id="246" name="Rectangle 29"/>
          <p:cNvSpPr/>
          <p:nvPr/>
        </p:nvSpPr>
        <p:spPr>
          <a:xfrm>
            <a:off x="640080" y="6291072"/>
            <a:ext cx="10911535" cy="9525"/>
          </a:xfrm>
          <a:prstGeom prst="rect">
            <a:avLst/>
          </a:prstGeom>
          <a:solidFill>
            <a:srgbClr val="D8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TextBox 30"/>
          <p:cNvSpPr txBox="1"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07C88"/>
                </a:solidFill>
                <a:latin typeface="Noto Sans CJK SC"/>
                <a:ea typeface="Noto Sans CJK SC"/>
                <a:cs typeface="Noto Sans CJK SC"/>
              </a:rPr>
              <a:t>“大挑”赛事介绍</a:t>
            </a:r>
            <a:endParaRPr/>
          </a:p>
        </p:txBody>
      </p:sp>
      <p:sp>
        <p:nvSpPr>
          <p:cNvPr id="248" name="TextBox 31"/>
          <p:cNvSpPr txBox="1"/>
          <p:nvPr/>
        </p:nvSpPr>
        <p:spPr>
          <a:xfrm>
            <a:off x="9448495" y="63550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07C88"/>
                </a:solidFill>
                <a:latin typeface="Noto Sans CJK SC"/>
                <a:ea typeface="Noto Sans CJK SC"/>
                <a:cs typeface="Noto Sans CJK SC"/>
              </a:rPr>
              <a:t>07 / 07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2026-10-09T10:04:51Z</dcterms:created>
  <dcterms:modified xsi:type="dcterms:W3CDTF">2026-10-09T10:04:51Z</dcterms:modified>
</cp:coreProperties>
</file>