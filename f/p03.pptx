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c92bc968bd4336" /><Relationship Type="http://schemas.openxmlformats.org/officeDocument/2006/relationships/extended-properties" Target="/docProps/app.xml" Id="R8c74602271de47ab" /><Relationship Type="http://schemas.openxmlformats.org/officeDocument/2006/relationships/officeDocument" Target="/ppt/presentation.xml" Id="R54d06cc943b245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d2836118324e2d"/>
  </p:sldMasterIdLst>
  <p:notesMasterIdLst>
    <p:notesMasterId xmlns:r="http://schemas.openxmlformats.org/officeDocument/2006/relationships" r:id="R2fdfcc060cf24759"/>
  </p:notesMasterIdLst>
  <p:sldIdLst>
    <p:sldId xmlns:r="http://schemas.openxmlformats.org/officeDocument/2006/relationships" id="256" r:id="R5099a026c8a24ba2"/>
    <p:sldId xmlns:r="http://schemas.openxmlformats.org/officeDocument/2006/relationships" id="257" r:id="R8ca6835553f0430e"/>
    <p:sldId xmlns:r="http://schemas.openxmlformats.org/officeDocument/2006/relationships" id="258" r:id="R5a16a340874d473b"/>
    <p:sldId xmlns:r="http://schemas.openxmlformats.org/officeDocument/2006/relationships" id="259" r:id="R4e6c7ab3f72e43d6"/>
    <p:sldId xmlns:r="http://schemas.openxmlformats.org/officeDocument/2006/relationships" id="260" r:id="Rab005cb7ba824d57"/>
    <p:sldId xmlns:r="http://schemas.openxmlformats.org/officeDocument/2006/relationships" id="261" r:id="R6f7c3381644446b1"/>
    <p:sldId xmlns:r="http://schemas.openxmlformats.org/officeDocument/2006/relationships" id="262" r:id="R29b302eaabaa46c5"/>
    <p:sldId xmlns:r="http://schemas.openxmlformats.org/officeDocument/2006/relationships" id="263" r:id="R93ea532e3674460f"/>
    <p:sldId xmlns:r="http://schemas.openxmlformats.org/officeDocument/2006/relationships" id="264" r:id="R945a937706354c50"/>
    <p:sldId xmlns:r="http://schemas.openxmlformats.org/officeDocument/2006/relationships" id="265" r:id="R9cca84bb97014f51"/>
    <p:sldId xmlns:r="http://schemas.openxmlformats.org/officeDocument/2006/relationships" id="266" r:id="R816c2aae19324010"/>
    <p:sldId xmlns:r="http://schemas.openxmlformats.org/officeDocument/2006/relationships" id="267" r:id="R971ffa0d52a8413b"/>
    <p:sldId xmlns:r="http://schemas.openxmlformats.org/officeDocument/2006/relationships" id="268" r:id="Reff210044cae48e5"/>
    <p:sldId xmlns:r="http://schemas.openxmlformats.org/officeDocument/2006/relationships" id="269" r:id="R4d83dbffbd9048df"/>
    <p:sldId xmlns:r="http://schemas.openxmlformats.org/officeDocument/2006/relationships" id="270" r:id="R45595eb85e3e47a7"/>
    <p:sldId xmlns:r="http://schemas.openxmlformats.org/officeDocument/2006/relationships" id="271" r:id="R4f108f1817454c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a30fe3bde40cf" /><Relationship Type="http://schemas.openxmlformats.org/officeDocument/2006/relationships/slideMaster" Target="/ppt/slideMasters/slideMaster1.xml" Id="R29d2836118324e2d" /><Relationship Type="http://schemas.openxmlformats.org/officeDocument/2006/relationships/notesMaster" Target="/ppt/notesMasters/notesMaster1.xml" Id="R2fdfcc060cf24759" /><Relationship Type="http://schemas.openxmlformats.org/officeDocument/2006/relationships/presProps" Target="/ppt/presProps.xml" Id="R9da4d70c33e24c64" /><Relationship Type="http://schemas.openxmlformats.org/officeDocument/2006/relationships/tableStyles" Target="/ppt/tableStyles.xml" Id="Rc77d04e607534bcd" /><Relationship Type="http://schemas.openxmlformats.org/officeDocument/2006/relationships/slide" Target="/ppt/slides/slide1.xml" Id="R5099a026c8a24ba2" /><Relationship Type="http://schemas.openxmlformats.org/officeDocument/2006/relationships/slide" Target="/ppt/slides/slide2.xml" Id="R8ca6835553f0430e" /><Relationship Type="http://schemas.openxmlformats.org/officeDocument/2006/relationships/slide" Target="/ppt/slides/slide3.xml" Id="R5a16a340874d473b" /><Relationship Type="http://schemas.openxmlformats.org/officeDocument/2006/relationships/slide" Target="/ppt/slides/slide4.xml" Id="R4e6c7ab3f72e43d6" /><Relationship Type="http://schemas.openxmlformats.org/officeDocument/2006/relationships/slide" Target="/ppt/slides/slide5.xml" Id="Rab005cb7ba824d57" /><Relationship Type="http://schemas.openxmlformats.org/officeDocument/2006/relationships/slide" Target="/ppt/slides/slide6.xml" Id="R6f7c3381644446b1" /><Relationship Type="http://schemas.openxmlformats.org/officeDocument/2006/relationships/slide" Target="/ppt/slides/slide7.xml" Id="R29b302eaabaa46c5" /><Relationship Type="http://schemas.openxmlformats.org/officeDocument/2006/relationships/slide" Target="/ppt/slides/slide8.xml" Id="R93ea532e3674460f" /><Relationship Type="http://schemas.openxmlformats.org/officeDocument/2006/relationships/slide" Target="/ppt/slides/slide9.xml" Id="R945a937706354c50" /><Relationship Type="http://schemas.openxmlformats.org/officeDocument/2006/relationships/slide" Target="/ppt/slides/slide10.xml" Id="R9cca84bb97014f51" /><Relationship Type="http://schemas.openxmlformats.org/officeDocument/2006/relationships/slide" Target="/ppt/slides/slide11.xml" Id="R816c2aae19324010" /><Relationship Type="http://schemas.openxmlformats.org/officeDocument/2006/relationships/slide" Target="/ppt/slides/slide12.xml" Id="R971ffa0d52a8413b" /><Relationship Type="http://schemas.openxmlformats.org/officeDocument/2006/relationships/slide" Target="/ppt/slides/slide13.xml" Id="Reff210044cae48e5" /><Relationship Type="http://schemas.openxmlformats.org/officeDocument/2006/relationships/slide" Target="/ppt/slides/slide14.xml" Id="R4d83dbffbd9048df" /><Relationship Type="http://schemas.openxmlformats.org/officeDocument/2006/relationships/slide" Target="/ppt/slides/slide15.xml" Id="R45595eb85e3e47a7" /><Relationship Type="http://schemas.openxmlformats.org/officeDocument/2006/relationships/slide" Target="/ppt/slides/slide16.xml" Id="R4f108f1817454c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2bfaedd33b47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f5180c2f514342" /><Relationship Type="http://schemas.openxmlformats.org/officeDocument/2006/relationships/notesMaster" Target="/ppt/notesMasters/notesMaster1.xml" Id="R4628944daa6843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ab62237b0749e3" /><Relationship Type="http://schemas.openxmlformats.org/officeDocument/2006/relationships/notesMaster" Target="/ppt/notesMasters/notesMaster1.xml" Id="R0dcf47714d3f4a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6f1a5efa6d4c6d" /><Relationship Type="http://schemas.openxmlformats.org/officeDocument/2006/relationships/notesMaster" Target="/ppt/notesMasters/notesMaster1.xml" Id="R27f3c0c89ede48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60e7609c684d0e" /><Relationship Type="http://schemas.openxmlformats.org/officeDocument/2006/relationships/notesMaster" Target="/ppt/notesMasters/notesMaster1.xml" Id="Re4603adaaed841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dbd69bde084c07" /><Relationship Type="http://schemas.openxmlformats.org/officeDocument/2006/relationships/notesMaster" Target="/ppt/notesMasters/notesMaster1.xml" Id="R943a231958764a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ea942bfc0d4a7f" /><Relationship Type="http://schemas.openxmlformats.org/officeDocument/2006/relationships/notesMaster" Target="/ppt/notesMasters/notesMaster1.xml" Id="R7024b8e0883249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08d7b10e1a4b45" /><Relationship Type="http://schemas.openxmlformats.org/officeDocument/2006/relationships/notesMaster" Target="/ppt/notesMasters/notesMaster1.xml" Id="R9cae3c0135b342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8838e083354bf2" /><Relationship Type="http://schemas.openxmlformats.org/officeDocument/2006/relationships/notesMaster" Target="/ppt/notesMasters/notesMaster1.xml" Id="R04925ad4b1184d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d83c97d88e498c" /><Relationship Type="http://schemas.openxmlformats.org/officeDocument/2006/relationships/notesMaster" Target="/ppt/notesMasters/notesMaster1.xml" Id="R376b02a2b58b44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426c1f99eb40b6" /><Relationship Type="http://schemas.openxmlformats.org/officeDocument/2006/relationships/notesMaster" Target="/ppt/notesMasters/notesMaster1.xml" Id="R562276f4bcd74a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998755562c462a" /><Relationship Type="http://schemas.openxmlformats.org/officeDocument/2006/relationships/notesMaster" Target="/ppt/notesMasters/notesMaster1.xml" Id="R38c23b62172140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e3bdc829da4d02" /><Relationship Type="http://schemas.openxmlformats.org/officeDocument/2006/relationships/notesMaster" Target="/ppt/notesMasters/notesMaster1.xml" Id="Rf37e1ef3e1f044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c8f425965942c5" /><Relationship Type="http://schemas.openxmlformats.org/officeDocument/2006/relationships/notesMaster" Target="/ppt/notesMasters/notesMaster1.xml" Id="R61326ccedc134a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7b6f60af9542d3" /><Relationship Type="http://schemas.openxmlformats.org/officeDocument/2006/relationships/notesMaster" Target="/ppt/notesMasters/notesMaster1.xml" Id="R42c8b482af364b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2518b374e74999" /><Relationship Type="http://schemas.openxmlformats.org/officeDocument/2006/relationships/notesMaster" Target="/ppt/notesMasters/notesMaster1.xml" Id="R91614a497b3a4c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fcd167ef954216" /><Relationship Type="http://schemas.openxmlformats.org/officeDocument/2006/relationships/notesMaster" Target="/ppt/notesMasters/notesMaster1.xml" Id="R98aab5eca1ca4a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封面：团队与项目名称。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https://www.chinahlj.cn/news/792743.html</a:t>
            </a:r>
          </a:p>
          <a:p xmlns:a="http://schemas.openxmlformats.org/drawingml/2006/main">
            <a:r>
              <a:t>2. https://xyh.univs.cn/a/xyh_xyh_hebgcdx/240112/1874467.shtml</a:t>
            </a:r>
          </a:p>
          <a:p xmlns:a="http://schemas.openxmlformats.org/drawingml/2006/main">
            <a:r>
              <a:t>说明：内容按公开报道筛选；未披露的个体分工、细分专业不作推测。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叙事逻辑页。后续内容依次展开：项目与问题、技术与研究、性能与专利、成果与团队、应用与下一步。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项目名称、技术定位、应用方向与关键实验周期。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https://www.chinahlj.cn/news/792743.html</a:t>
            </a:r>
          </a:p>
          <a:p xmlns:a="http://schemas.openxmlformats.org/drawingml/2006/main">
            <a:r>
              <a:t>2. https://xyh.univs.cn/a/xyh_xyh_hebgcdx/240112/1874467.shtml</a:t>
            </a:r>
          </a:p>
          <a:p xmlns:a="http://schemas.openxmlformats.org/drawingml/2006/main">
            <a:r>
              <a:t>说明：内容按公开报道筛选；未披露的个体分工、细分专业不作推测。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三重性能相互制约的问题与项目目标。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https://www.chinahlj.cn/news/792743.html</a:t>
            </a:r>
          </a:p>
          <a:p xmlns:a="http://schemas.openxmlformats.org/drawingml/2006/main">
            <a:r>
              <a:t>2. https://xyh.univs.cn/a/xyh_xyh_hebgcdx/240112/1874467.shtml</a:t>
            </a:r>
          </a:p>
          <a:p xmlns:a="http://schemas.openxmlformats.org/drawingml/2006/main">
            <a:r>
              <a:t>说明：内容按公开报道筛选；未披露的个体分工、细分专业不作推测。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三项创新、累积叠轧、配比实验和电泳沉积工艺。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https://www.chinahlj.cn/news/792743.html</a:t>
            </a:r>
          </a:p>
          <a:p xmlns:a="http://schemas.openxmlformats.org/drawingml/2006/main">
            <a:r>
              <a:t>2. https://xyh.univs.cn/a/xyh_xyh_hebgcdx/240112/1874467.shtml</a:t>
            </a:r>
          </a:p>
          <a:p xmlns:a="http://schemas.openxmlformats.org/drawingml/2006/main">
            <a:r>
              <a:t>说明：内容按公开报道筛选；未披露的个体分工、细分专业不作推测。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补充说明：项目技术路线的公开研究基础。</a:t>
            </a:r>
          </a:p>
          <a:p xmlns:a="http://schemas.openxmlformats.org/drawingml/2006/main">
            <a:r>
              <a:t>关键论文 DOI：</a:t>
            </a:r>
          </a:p>
          <a:p xmlns:a="http://schemas.openxmlformats.org/drawingml/2006/main">
            <a:r>
              <a:t>1. Mg-Li基础：10.1179/1743280414y.0000000044；10.1016/j.matchar.2022.111869；10.3390/ma16083227</a:t>
            </a:r>
          </a:p>
          <a:p xmlns:a="http://schemas.openxmlformats.org/drawingml/2006/main">
            <a:r>
              <a:t>2. EMI/ARB：10.1016/j.matchar.2019.109924；10.1007/s40195-020-01017-z；10.1016/j.matchar.2022.111888</a:t>
            </a:r>
          </a:p>
          <a:p xmlns:a="http://schemas.openxmlformats.org/drawingml/2006/main">
            <a:r>
              <a:t>3. MWCNTs/EPD：10.1016/j.jallcom.2021.160524；10.1016/j.jmapro.2021.10.040；10.1016/s1003-6326(22)66067-9</a:t>
            </a:r>
          </a:p>
          <a:p xmlns:a="http://schemas.openxmlformats.org/drawingml/2006/main">
            <a:r>
              <a:t>说明：上述属于指导教师课题组公开研究积累，部分不是本项目直接成果。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补充说明：团队学生共同署名论文。</a:t>
            </a:r>
          </a:p>
          <a:p xmlns:a="http://schemas.openxmlformats.org/drawingml/2006/main">
            <a:r>
              <a:t>完整题录与 DOI：</a:t>
            </a:r>
          </a:p>
          <a:p xmlns:a="http://schemas.openxmlformats.org/drawingml/2006/main">
            <a:r>
              <a:t>1. 10.3390/ma16083227</a:t>
            </a:r>
          </a:p>
          <a:p xmlns:a="http://schemas.openxmlformats.org/drawingml/2006/main">
            <a:r>
              <a:t>2. 10.1002/adem.202300732</a:t>
            </a:r>
          </a:p>
          <a:p xmlns:a="http://schemas.openxmlformats.org/drawingml/2006/main">
            <a:r>
              <a:t>3. 10.3389/fmats.2022.1050764</a:t>
            </a:r>
          </a:p>
          <a:p xmlns:a="http://schemas.openxmlformats.org/drawingml/2006/main">
            <a:r>
              <a:t>4. 10.1016/j.msea.2022.143563</a:t>
            </a:r>
          </a:p>
          <a:p xmlns:a="http://schemas.openxmlformats.org/drawingml/2006/main">
            <a:r>
              <a:t>5. 10.1002/adem.202200477</a:t>
            </a:r>
          </a:p>
          <a:p xmlns:a="http://schemas.openxmlformats.org/drawingml/2006/main">
            <a:r>
              <a:t>说明：官方报道的4篇SCI+1篇核心完整清单未公开；本页仅列可公开核验的部分。Google Scholar 检索受自动化访问限制，题录已用 DOI、OpenAlex 与 Crossref 交叉核验。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屏蔽效能、减重、宽波段覆盖和超薄箔材验证结果。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https://www.chinahlj.cn/news/792743.html</a:t>
            </a:r>
          </a:p>
          <a:p xmlns:a="http://schemas.openxmlformats.org/drawingml/2006/main">
            <a:r>
              <a:t>2. https://xyh.univs.cn/a/xyh_xyh_hebgcdx/240112/1874467.shtml</a:t>
            </a:r>
          </a:p>
          <a:p xmlns:a="http://schemas.openxmlformats.org/drawingml/2006/main">
            <a:r>
              <a:t>说明：内容按公开报道筛选；未披露的个体分工、细分专业不作推测。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补充说明：公开专利证据。</a:t>
            </a:r>
          </a:p>
          <a:p xmlns:a="http://schemas.openxmlformats.org/drawingml/2006/main">
            <a:r>
              <a:t>1. https://patents.google.com/patent/CN109609823A/zh</a:t>
            </a:r>
          </a:p>
          <a:p xmlns:a="http://schemas.openxmlformats.org/drawingml/2006/main">
            <a:r>
              <a:t>2. https://patents.google.com/patent/CN104498793B/zh</a:t>
            </a:r>
          </a:p>
          <a:p xmlns:a="http://schemas.openxmlformats.org/drawingml/2006/main">
            <a:r>
              <a:t>3. https://patents.google.com/patent/CN220068166U/zh</a:t>
            </a:r>
          </a:p>
          <a:p xmlns:a="http://schemas.openxmlformats.org/drawingml/2006/main">
            <a:r>
              <a:t>说明：官方报道中的1项发明专利、3项实用新型和1项软著未逐条公开，本页仅列可核验专利。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挑战杯特等奖、论文、专利、路演展示与成果转化信息。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https://www.chinahlj.cn/news/792743.html</a:t>
            </a:r>
          </a:p>
          <a:p xmlns:a="http://schemas.openxmlformats.org/drawingml/2006/main">
            <a:r>
              <a:t>2. https://xyh.univs.cn/a/xyh_xyh_hebgcdx/240112/1874467.shtml</a:t>
            </a:r>
          </a:p>
          <a:p xmlns:a="http://schemas.openxmlformats.org/drawingml/2006/main">
            <a:r>
              <a:t>说明：内容按公开报道筛选；未披露的个体分工、细分专业不作推测。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团队规模、年级结构、保研情况与指导教师。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https://www.chinahlj.cn/news/792743.html</a:t>
            </a:r>
          </a:p>
          <a:p xmlns:a="http://schemas.openxmlformats.org/drawingml/2006/main">
            <a:r>
              <a:t>2. https://xyh.univs.cn/a/xyh_xyh_hebgcdx/240112/1874467.shtml</a:t>
            </a:r>
          </a:p>
          <a:p xmlns:a="http://schemas.openxmlformats.org/drawingml/2006/main">
            <a:r>
              <a:t>说明：内容按公开报道筛选；未披露的个体分工、细分专业不作推测。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8名成员名单、团队年级结构与保研情况。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https://www.chinahlj.cn/news/792743.html</a:t>
            </a:r>
          </a:p>
          <a:p xmlns:a="http://schemas.openxmlformats.org/drawingml/2006/main">
            <a:r>
              <a:t>2. https://xyh.univs.cn/a/xyh_xyh_hebgcdx/240112/1874467.shtml</a:t>
            </a:r>
          </a:p>
          <a:p xmlns:a="http://schemas.openxmlformats.org/drawingml/2006/main">
            <a:r>
              <a:t>说明：内容按公开报道筛选；未披露的个体分工、细分专业不作推测。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负责人、可确认的实验职责线索、团队成员名单和专业口径。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https://www.chinahlj.cn/news/792743.html</a:t>
            </a:r>
          </a:p>
          <a:p xmlns:a="http://schemas.openxmlformats.org/drawingml/2006/main">
            <a:r>
              <a:t>2. https://xyh.univs.cn/a/xyh_xyh_hebgcdx/240112/1874467.shtml</a:t>
            </a:r>
          </a:p>
          <a:p xmlns:a="http://schemas.openxmlformats.org/drawingml/2006/main">
            <a:r>
              <a:t>说明：内容按公开报道筛选；未披露的个体分工、细分专业不作推测。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结论页：技术、学术和成果三条证据链共同支撑项目价值。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应用方向、下一步计划与专业实践导向。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https://www.chinahlj.cn/news/792743.html</a:t>
            </a:r>
          </a:p>
          <a:p xmlns:a="http://schemas.openxmlformats.org/drawingml/2006/main">
            <a:r>
              <a:t>2. https://xyh.univs.cn/a/xyh_xyh_hebgcdx/240112/1874467.shtml</a:t>
            </a:r>
          </a:p>
          <a:p xmlns:a="http://schemas.openxmlformats.org/drawingml/2006/main">
            <a:r>
              <a:t>说明：内容按公开报道筛选；未披露的个体分工、细分专业不作推测。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附录：核心文献与专利索引。所有条目均保留可继续检索的 DOI、公开号或原始网页链接。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414fc2f2241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68f5c6fd54a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5fa01d64d48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7620c423e4b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cb105ef8049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4fa8e096640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43C673-684E-4A7F-820B-3847075F43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15F032-DAD9-4655-B0E4-E95016F7E6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0078B5-AA9A-4C43-81AC-AEB22E1B4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D1AEAA-0778-4280-88DB-C09D286A0D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D73707-CDB5-481F-97D3-19C005E98B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F03390-6CE5-41DD-B9FD-728C010DD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2DF83C-8AFA-43AF-90A2-DFCD0CBABF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A2D6CE-49A0-445A-8767-DC62808D00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9A30E4-2255-4B54-B703-AF2FD84C56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2EF6A1-F9E6-4608-AC5C-1FDDFB73A8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18a22f80f04da9" /><Relationship Type="http://schemas.openxmlformats.org/officeDocument/2006/relationships/slideLayout" Target="/ppt/slideLayouts/slideLayout1.xml" Id="R09fab9163b3542f1" /><Relationship Type="http://schemas.openxmlformats.org/officeDocument/2006/relationships/slideLayout" Target="/ppt/slideLayouts/slideLayout2.xml" Id="R387edf0a42424d16" /><Relationship Type="http://schemas.openxmlformats.org/officeDocument/2006/relationships/slideLayout" Target="/ppt/slideLayouts/slideLayout3.xml" Id="R51b2908d046945ae" /><Relationship Type="http://schemas.openxmlformats.org/officeDocument/2006/relationships/slideLayout" Target="/ppt/slideLayouts/slideLayout4.xml" Id="R4be733d381754b6d" /><Relationship Type="http://schemas.openxmlformats.org/officeDocument/2006/relationships/slideLayout" Target="/ppt/slideLayouts/slideLayout5.xml" Id="Rf03166b628bf415c" /><Relationship Type="http://schemas.openxmlformats.org/officeDocument/2006/relationships/slideLayout" Target="/ppt/slideLayouts/slideLayout6.xml" Id="R08d2838552c040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fab9163b3542f1"/>
    <p:sldLayoutId xmlns:r="http://schemas.openxmlformats.org/officeDocument/2006/relationships" id="2147483650" r:id="R387edf0a42424d16"/>
    <p:sldLayoutId xmlns:r="http://schemas.openxmlformats.org/officeDocument/2006/relationships" id="2147483651" r:id="R51b2908d046945ae"/>
    <p:sldLayoutId xmlns:r="http://schemas.openxmlformats.org/officeDocument/2006/relationships" id="2147483652" r:id="R4be733d381754b6d"/>
    <p:sldLayoutId xmlns:r="http://schemas.openxmlformats.org/officeDocument/2006/relationships" id="2147483653" r:id="Rf03166b628bf415c"/>
    <p:sldLayoutId xmlns:r="http://schemas.openxmlformats.org/officeDocument/2006/relationships" id="2147483654" r:id="R08d2838552c040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87c217d5748cb" /><Relationship Type="http://schemas.openxmlformats.org/officeDocument/2006/relationships/image" Target="/ppt/media/image.png" Id="R1bc40b2a9aa248f8" /><Relationship Type="http://schemas.openxmlformats.org/officeDocument/2006/relationships/notesSlide" Target="/ppt/notesSlides/notesSlide1.xml" Id="R506a5ba4a7454a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7975a34844731" /><Relationship Type="http://schemas.openxmlformats.org/officeDocument/2006/relationships/notesSlide" Target="/ppt/notesSlides/notesSlide2.xml" Id="Re39e9e93b3c148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663ac34e7489a" /><Relationship Type="http://schemas.openxmlformats.org/officeDocument/2006/relationships/notesSlide" Target="/ppt/notesSlides/notesSlide3.xml" Id="R42bdc4a6146648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0ee441b844681" /><Relationship Type="http://schemas.openxmlformats.org/officeDocument/2006/relationships/notesSlide" Target="/ppt/notesSlides/notesSlide4.xml" Id="R46d642c2434746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205e9a18804c0a" /><Relationship Type="http://schemas.openxmlformats.org/officeDocument/2006/relationships/image" Target="/ppt/media/image2.png" Id="Rad594dcf25fe4f64" /><Relationship Type="http://schemas.openxmlformats.org/officeDocument/2006/relationships/notesSlide" Target="/ppt/notesSlides/notesSlide5.xml" Id="R7a00fabaf10545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bdf15c72c4e99" /><Relationship Type="http://schemas.openxmlformats.org/officeDocument/2006/relationships/notesSlide" Target="/ppt/notesSlides/notesSlide6.xml" Id="R26b31ae254294a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f876e667cf45e1" /><Relationship Type="http://schemas.openxmlformats.org/officeDocument/2006/relationships/notesSlide" Target="/ppt/notesSlides/notesSlide7.xml" Id="R0fe98d8317f746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d411bdd0e4aa7" /><Relationship Type="http://schemas.openxmlformats.org/officeDocument/2006/relationships/image" Target="/ppt/media/image3.png" Id="R9034e801f2de4827" /><Relationship Type="http://schemas.openxmlformats.org/officeDocument/2006/relationships/notesSlide" Target="/ppt/notesSlides/notesSlide8.xml" Id="R5f879522b3504b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f160c56234d97" /><Relationship Type="http://schemas.openxmlformats.org/officeDocument/2006/relationships/notesSlide" Target="/ppt/notesSlides/notesSlide9.xml" Id="R0759aea1dd4b46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5ced5d1fe4435" /><Relationship Type="http://schemas.openxmlformats.org/officeDocument/2006/relationships/notesSlide" Target="/ppt/notesSlides/notesSlide10.xml" Id="R15f626c2438e49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df0f04b1a04eb0" /><Relationship Type="http://schemas.openxmlformats.org/officeDocument/2006/relationships/image" Target="/ppt/media/image4.png" Id="R1a3de6a6a81b4ab7" /><Relationship Type="http://schemas.openxmlformats.org/officeDocument/2006/relationships/notesSlide" Target="/ppt/notesSlides/notesSlide11.xml" Id="Ra5408a418f5048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22908dc684bf1" /><Relationship Type="http://schemas.openxmlformats.org/officeDocument/2006/relationships/image" Target="/ppt/media/image5.png" Id="R7747099143dd4dd6" /><Relationship Type="http://schemas.openxmlformats.org/officeDocument/2006/relationships/notesSlide" Target="/ppt/notesSlides/notesSlide12.xml" Id="R80f455f96daf4a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1f90d24b745ca" /><Relationship Type="http://schemas.openxmlformats.org/officeDocument/2006/relationships/notesSlide" Target="/ppt/notesSlides/notesSlide13.xml" Id="R292ce1bba34248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4a83207184e2e" /><Relationship Type="http://schemas.openxmlformats.org/officeDocument/2006/relationships/notesSlide" Target="/ppt/notesSlides/notesSlide14.xml" Id="R7bdbb56b9ff240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6edf32efe4788" /><Relationship Type="http://schemas.openxmlformats.org/officeDocument/2006/relationships/notesSlide" Target="/ppt/notesSlides/notesSlide15.xml" Id="Rb9a48a412dbe48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172381f3a416c" /><Relationship Type="http://schemas.openxmlformats.org/officeDocument/2006/relationships/hyperlink" Target="https://doi.org/10.3390/ma16083227" TargetMode="External" Id="R4db2c150b6b542ce" /><Relationship Type="http://schemas.openxmlformats.org/officeDocument/2006/relationships/hyperlink" Target="https://doi.org/10.3390/ma16083227" TargetMode="External" Id="Rb273e3253c8f442d" /><Relationship Type="http://schemas.openxmlformats.org/officeDocument/2006/relationships/hyperlink" Target="https://doi.org/10.1002/adem.202300732" TargetMode="External" Id="Rd6544e13c3c6465e" /><Relationship Type="http://schemas.openxmlformats.org/officeDocument/2006/relationships/hyperlink" Target="https://doi.org/10.1002/adem.202300732" TargetMode="External" Id="R61e5cbe12ed24083" /><Relationship Type="http://schemas.openxmlformats.org/officeDocument/2006/relationships/hyperlink" Target="https://doi.org/10.3389/fmats.2022.1050764" TargetMode="External" Id="Rc0b60b2ce8514811" /><Relationship Type="http://schemas.openxmlformats.org/officeDocument/2006/relationships/hyperlink" Target="https://doi.org/10.3389/fmats.2022.1050764" TargetMode="External" Id="Rdbe08019fccc400e" /><Relationship Type="http://schemas.openxmlformats.org/officeDocument/2006/relationships/hyperlink" Target="https://doi.org/10.1016/j.msea.2022.143563" TargetMode="External" Id="R4b6e631f20f44a1b" /><Relationship Type="http://schemas.openxmlformats.org/officeDocument/2006/relationships/hyperlink" Target="https://doi.org/10.1016/j.msea.2022.143563" TargetMode="External" Id="R370936f1db9648b4" /><Relationship Type="http://schemas.openxmlformats.org/officeDocument/2006/relationships/hyperlink" Target="https://doi.org/10.1002/adem.202200477" TargetMode="External" Id="Rc4524ffa9d054545" /><Relationship Type="http://schemas.openxmlformats.org/officeDocument/2006/relationships/hyperlink" Target="https://doi.org/10.1002/adem.202200477" TargetMode="External" Id="R51cefdb0470a46ad" /><Relationship Type="http://schemas.openxmlformats.org/officeDocument/2006/relationships/hyperlink" Target="https://doi.org/10.1179/1743280414Y.0000000044" TargetMode="External" Id="Re99e0097aa664cdf" /><Relationship Type="http://schemas.openxmlformats.org/officeDocument/2006/relationships/hyperlink" Target="https://doi.org/10.1179/1743280414Y.0000000044" TargetMode="External" Id="R20c50506c56948e8" /><Relationship Type="http://schemas.openxmlformats.org/officeDocument/2006/relationships/hyperlink" Target="https://doi.org/10.1016/j.matchar.2019.109924" TargetMode="External" Id="Rcdcc7f83ad8a48e8" /><Relationship Type="http://schemas.openxmlformats.org/officeDocument/2006/relationships/hyperlink" Target="https://doi.org/10.1016/j.matchar.2019.109924" TargetMode="External" Id="Re4962ddf5cb64374" /><Relationship Type="http://schemas.openxmlformats.org/officeDocument/2006/relationships/hyperlink" Target="https://doi.org/10.1007/s40195-020-01017-z" TargetMode="External" Id="Ra809c88a293f4a57" /><Relationship Type="http://schemas.openxmlformats.org/officeDocument/2006/relationships/hyperlink" Target="https://doi.org/10.1007/s40195-020-01017-z" TargetMode="External" Id="Re2d45ef180214915" /><Relationship Type="http://schemas.openxmlformats.org/officeDocument/2006/relationships/hyperlink" Target="https://doi.org/10.1016/j.matchar.2022.111888" TargetMode="External" Id="Re2fc1e69870d4632" /><Relationship Type="http://schemas.openxmlformats.org/officeDocument/2006/relationships/hyperlink" Target="https://doi.org/10.1016/j.matchar.2022.111888" TargetMode="External" Id="R882401bff6b94b44" /><Relationship Type="http://schemas.openxmlformats.org/officeDocument/2006/relationships/hyperlink" Target="https://doi.org/10.1016/s1003-6326(22)65881-3" TargetMode="External" Id="Rd21dab9125704a65" /><Relationship Type="http://schemas.openxmlformats.org/officeDocument/2006/relationships/hyperlink" Target="https://doi.org/10.1016/s1003-6326(22)65881-3" TargetMode="External" Id="R5bd0f2f38e0c4cfe" /><Relationship Type="http://schemas.openxmlformats.org/officeDocument/2006/relationships/hyperlink" Target="https://doi.org/10.1016/j.jallcom.2021.160524" TargetMode="External" Id="Re43f0252f8e243d1" /><Relationship Type="http://schemas.openxmlformats.org/officeDocument/2006/relationships/hyperlink" Target="https://doi.org/10.1016/j.jallcom.2021.160524" TargetMode="External" Id="R0a4916ca3d834b7e" /><Relationship Type="http://schemas.openxmlformats.org/officeDocument/2006/relationships/hyperlink" Target="https://doi.org/10.1016/j.jmapro.2021.10.040" TargetMode="External" Id="R2850f25f18df4cf1" /><Relationship Type="http://schemas.openxmlformats.org/officeDocument/2006/relationships/hyperlink" Target="https://doi.org/10.1016/j.jmapro.2021.10.040" TargetMode="External" Id="Rd6b2dcba80d94507" /><Relationship Type="http://schemas.openxmlformats.org/officeDocument/2006/relationships/hyperlink" Target="https://doi.org/10.1016/s1003-6326(22)66067-9" TargetMode="External" Id="R68e41d84a63a4703" /><Relationship Type="http://schemas.openxmlformats.org/officeDocument/2006/relationships/hyperlink" Target="https://doi.org/10.1016/s1003-6326(22)66067-9" TargetMode="External" Id="Rcd78ec02782e4e52" /><Relationship Type="http://schemas.openxmlformats.org/officeDocument/2006/relationships/hyperlink" Target="https://patents.google.com/patent/CN109609823A/zh" TargetMode="External" Id="R3a8d023bb17a4453" /><Relationship Type="http://schemas.openxmlformats.org/officeDocument/2006/relationships/hyperlink" Target="https://patents.google.com/patent/CN109609823A/zh" TargetMode="External" Id="Rb9a6dfb86cc1493d" /><Relationship Type="http://schemas.openxmlformats.org/officeDocument/2006/relationships/hyperlink" Target="https://patents.google.com/patent/CN104498793B/zh" TargetMode="External" Id="Rf766eab1c70a4f09" /><Relationship Type="http://schemas.openxmlformats.org/officeDocument/2006/relationships/hyperlink" Target="https://patents.google.com/patent/CN104498793B/zh" TargetMode="External" Id="R961b45fa72be4125" /><Relationship Type="http://schemas.openxmlformats.org/officeDocument/2006/relationships/hyperlink" Target="https://patents.google.com/patent/CN220068166U/zh" TargetMode="External" Id="Rb902070c396e4fa4" /><Relationship Type="http://schemas.openxmlformats.org/officeDocument/2006/relationships/hyperlink" Target="https://patents.google.com/patent/CN220068166U/zh" TargetMode="External" Id="R0f33ce51cf544dbd" /><Relationship Type="http://schemas.openxmlformats.org/officeDocument/2006/relationships/hyperlink" Target="https://www.chinahlj.cn/news/792743.html" TargetMode="External" Id="Rd87e9f6941344791" /><Relationship Type="http://schemas.openxmlformats.org/officeDocument/2006/relationships/hyperlink" Target="https://www.chinahlj.cn/news/792743.html" TargetMode="External" Id="R0a65c48a4b0a499b" /><Relationship Type="http://schemas.openxmlformats.org/officeDocument/2006/relationships/hyperlink" Target="https://xyh.univs.cn/a/xyh_xyh_hebgcdx/240112/1874467.shtml" TargetMode="External" Id="R73e1ea06f0c74453" /><Relationship Type="http://schemas.openxmlformats.org/officeDocument/2006/relationships/hyperlink" Target="https://xyh.univs.cn/a/xyh_xyh_hebgcdx/240112/1874467.shtml" TargetMode="External" Id="R8d587dcb52634164" /><Relationship Type="http://schemas.openxmlformats.org/officeDocument/2006/relationships/hyperlink" Target="https://scholar.google.com/scholar?q=%22Ruizhi+Wu%22+%22electromagnetic+shielding%22+Mg-Li" TargetMode="External" Id="Rc58f35a7fbc24296" /><Relationship Type="http://schemas.openxmlformats.org/officeDocument/2006/relationships/hyperlink" Target="https://scholar.google.com/scholar?q=%22Ruizhi+Wu%22+%22electromagnetic+shielding%22+Mg-Li" TargetMode="External" Id="R7a5d735f060a40d6" /><Relationship Type="http://schemas.openxmlformats.org/officeDocument/2006/relationships/notesSlide" Target="/ppt/notesSlides/notesSlide16.xml" Id="R1f2962d8885744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F61EE-FE72-4859-9872-5A05AEBB3A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40b2a9aa248f8"/>
          <a:srcRect xmlns:a="http://schemas.openxmlformats.org/drawingml/2006/main" l="31266" t="0" r="312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">
            <a:extLst xmlns:a="http://schemas.openxmlformats.org/drawingml/2006/main">
              <a:ext uri="{FF2B5EF4-FFF2-40B4-BE49-F238E27FC236}">
                <a16:creationId xmlns:a16="http://schemas.microsoft.com/office/drawing/2014/main" id="{A8FE6D5C-24CE-457C-8511-8F7E75EB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">
            <a:extLst xmlns:a="http://schemas.openxmlformats.org/drawingml/2006/main">
              <a:ext uri="{FF2B5EF4-FFF2-40B4-BE49-F238E27FC236}">
                <a16:creationId xmlns:a16="http://schemas.microsoft.com/office/drawing/2014/main" id="{F6BF7585-FDAC-4FBF-B768-C3C29DF7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72000">
                <a:srgbClr val="07111F">
                  <a:alpha val="98000"/>
                </a:srgbClr>
              </a:gs>
              <a:gs pos="100000">
                <a:srgbClr val="07111F">
                  <a:alpha val="1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723F2A1-28DF-46FD-A5E5-931FB813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47625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6666943-5DC5-49C3-AB18-616E8E32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哈尔滨工程大学｜材料科学与化学工程学院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3DC4DB-2931-4322-B529-53F2CE75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御磁坚盾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ABCC1A-A5ED-434F-ABEA-D6DCA48D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超轻高强韧镁锂基电磁屏蔽材料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942D86CE-145C-4FEE-8D32-38075AE9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ECE534-750E-4757-9FA6-FD3D855B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242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7EBF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E7EBF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7EBF2"/>
                </a:solidFill>
                <a:latin typeface="Noto Sans SC"/>
                <a:ea typeface="Noto Sans SC"/>
                <a:cs typeface="Noto Sans SC"/>
              </a:rPr>
              <a:t>国内首个集超轻、高强韧、高电磁屏蔽性于一体的多功能镁锂基复合材料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2AF28DE8-1FCF-49AB-A8FC-57CCC1CA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55000"/>
            </a:srgbClr>
          </a:solidFill>
          <a:ln xmlns:a="http://schemas.openxmlformats.org/drawingml/2006/main" w="9525">
            <a:solidFill>
              <a:srgbClr val="C7A15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73F947A-13E4-4A0B-80BB-FAE25BEE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57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第十八届“挑战杯”主体赛特等奖</a:t>
            </a:r>
          </a:p>
        </p:txBody>
      </p:sp>
    </p:spTree>
    <p:extLst>
      <p:ext uri="{BB962C8B-B14F-4D97-AF65-F5344CB8AC3E}">
        <p14:creationId xmlns:p14="http://schemas.microsoft.com/office/powerpoint/2010/main" val="2141526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ule">
            <a:extLst xmlns:a="http://schemas.openxmlformats.org/drawingml/2006/main">
              <a:ext uri="{FF2B5EF4-FFF2-40B4-BE49-F238E27FC236}">
                <a16:creationId xmlns:a16="http://schemas.microsoft.com/office/drawing/2014/main" id="{07522D19-A181-4A02-8E66-0AB6E75B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A59B49-0651-4DD7-BC93-532FC13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逻辑总览：一条从需求到成果的证据链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A4CD333-7672-4456-B1BF-895B0EB1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本 PPT 按“问题—方法—证据—成果—团队—应用”展开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B43BFB-6AE2-4697-B7B4-FEA840E7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rPr>
              <a:t>02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F93FA204-E408-42CA-99F6-E072DDE5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619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960B41-438D-4AF8-9836-1FBD0AEB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F49957-2554-49F0-8D85-C3998C86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需求牵引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0A21CA1C-540A-4BEB-B165-46732AE1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A7638AE-0025-4397-80C6-99ADE8FE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23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rPr>
              <a:t>航空航天、雷达通信与信息安全设备，需要解决电磁泄露和电磁干扰。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663AD35F-4304-4760-838D-C3817477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52600"/>
            <a:ext cx="1619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7FCF916-8586-47D6-9D30-A173DC15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F40D16-1B7B-4C02-A322-A93954F6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95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矛盾识别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BF2EA363-7044-4972-AF7F-7784145B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527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AABB3CD-B30C-422A-8492-AF10AD2D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19450"/>
            <a:ext cx="123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rPr>
              <a:t>屏蔽、强度、韧性、重量与工艺可行性相互牵制，不能单项拔高。</a:t>
            </a:r>
          </a:p>
        </p:txBody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998B0C25-6B71-488C-9EBD-E31807BE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52600"/>
            <a:ext cx="1619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9525">
            <a:solidFill>
              <a:srgbClr val="C7A15A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999BF2E-3F2C-4C27-89C0-1D0276E0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B8A1084-B3AA-4970-B483-C973396E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95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技术方案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AD61A981-A413-4715-91F1-F8D7CBB2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527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F5A4DA9-0F16-414D-B72D-BB722BBD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19450"/>
            <a:ext cx="123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382B1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382B1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382B14"/>
                </a:solidFill>
                <a:latin typeface="Noto Sans SC"/>
                <a:ea typeface="Noto Sans SC"/>
                <a:cs typeface="Noto Sans SC"/>
              </a:rPr>
              <a:t>多维平行界面损耗、强塑性协同提升、纳米碳基固态复合三项创新协同。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73D27828-060C-4AF2-95D3-2FBF53F3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1619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CA5842-576C-40C3-BF47-3002AD65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DAC4CF7-8B24-4F42-91EE-9B389DA9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学术证据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945C1F27-BFD6-455B-9C7C-2123982C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B714282-8CE6-4034-AF30-F5993A08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123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rPr>
              <a:t>课题组长期研究基础与团队学生共同署名论文，支撑技术路线可追溯。</a:t>
            </a:r>
          </a:p>
        </p:txBody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28F502F9-56BF-48AE-B425-E3CCD9E3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1619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D5894D4-BD48-4CC5-80F9-E6616D0D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70FA3DA-152B-4E67-BAEF-5AFF21DA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性能验证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A99F551C-FC3F-498C-ABFE-CAFBC19B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9E8530F-AE0F-4A6F-B0FF-A153A9C7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123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rPr>
              <a:t>屏蔽效能提升15%—25%，重量降低20%，宽波段覆盖并完成超薄箔材验证。</a:t>
            </a:r>
          </a:p>
        </p:txBody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99498411-B1CD-4F77-A067-0223FBB2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52600"/>
            <a:ext cx="1619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2435CCE-FEFA-4422-86C7-ABBC6960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713EF6F-0891-4DC5-9D91-4C67419D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95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成果转化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C1296862-FBAE-4F1D-9A94-BB0B3E19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527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A932D372-D781-4C1E-999D-920A65F4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123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9D2DD"/>
                </a:solidFill>
                <a:latin typeface="Noto Sans SC"/>
                <a:ea typeface="Noto Sans SC"/>
                <a:cs typeface="Noto Sans SC"/>
              </a:rPr>
              <a:t>挑战杯特等奖、论文专利、代工合作与产业化成形验证形成闭环。</a:t>
            </a:r>
          </a:p>
        </p:txBody>
      </p:sp>
      <p:sp>
        <p:nvSpPr>
          <p:cNvPr id="35" name="rect">
            <a:extLst xmlns:a="http://schemas.openxmlformats.org/drawingml/2006/main">
              <a:ext uri="{FF2B5EF4-FFF2-40B4-BE49-F238E27FC236}">
                <a16:creationId xmlns:a16="http://schemas.microsoft.com/office/drawing/2014/main" id="{2B97461B-6012-47E8-B111-DA83BC54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D"/>
          </a:solidFill>
          <a:ln xmlns:a="http://schemas.openxmlformats.org/drawingml/2006/main" w="9525">
            <a:solidFill>
              <a:srgbClr val="E4D2AB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E095465-2EBD-46D2-A578-C4104904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67502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7502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675029"/>
                </a:solidFill>
                <a:latin typeface="Noto Sans SC"/>
                <a:ea typeface="Noto Sans SC"/>
                <a:cs typeface="Noto Sans SC"/>
              </a:rPr>
              <a:t>主线判断：项目以真实设备需求定题，以材料—工艺—结构协同破题，以论文、专利、竞赛和工程验证共同证明结果。</a:t>
            </a:r>
          </a:p>
        </p:txBody>
      </p:sp>
    </p:spTree>
    <p:extLst>
      <p:ext uri="{BB962C8B-B14F-4D97-AF65-F5344CB8AC3E}">
        <p14:creationId xmlns:p14="http://schemas.microsoft.com/office/powerpoint/2010/main" val="695865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55B58119-C55E-4A71-948B-195655F9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630D60-088E-431F-BE1E-225C2B12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项目一览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64973A-6590-4369-A5F6-6F66F0FB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03 / 16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D1AB6A66-D939-484A-8321-2D684F5F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006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F89FB90-D834-4DEA-A0D7-4F39EC21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C9E0EBA-C01C-49A0-9A44-22F8C186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项目名称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8FEF68F-DE7D-41A5-A30B-D5E9DF52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御磁坚盾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83B6163-E185-4F3A-8899-AD036FA2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9EEF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E9EEF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E9EEF5"/>
                </a:solidFill>
                <a:latin typeface="Noto Sans SC"/>
                <a:ea typeface="Noto Sans SC"/>
                <a:cs typeface="Noto Sans SC"/>
              </a:rPr>
              <a:t>国内首创超轻高强韧镁锂基电磁屏蔽材料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BE9DA1-1799-4033-B235-04F795CD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关键实验周期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B6846F-92B2-4F87-8CF8-5C88EB86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2022.08—2023.05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3B0B9DF-507C-40B0-B890-C5B65953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EBAC8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AEBAC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EBAC8"/>
                </a:solidFill>
                <a:latin typeface="Noto Sans SC"/>
                <a:ea typeface="Noto Sans SC"/>
                <a:cs typeface="Noto Sans SC"/>
              </a:rPr>
              <a:t>覆盖完整研究探索约三年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EAC1FCA6-07C5-4BA9-99BB-CB68EDC6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04950"/>
            <a:ext cx="542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827BCE18-2D27-47BF-8A9D-362F4AAE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049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7181EF4-DECD-4838-8EA7-444BEB4C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牵头单位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69A65FE-A938-4F58-9C7E-32374369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哈尔滨工程大学｜材料科学与化学工程学院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6FEDC7C8-5DDC-4AA7-9212-D74E1283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05075"/>
            <a:ext cx="542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E1BA39D1-04A9-4EB9-BE24-B2513F77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0507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153001E-6D9E-44E6-BF65-5AC851F3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6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技术定位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7E60B81-26DD-4C22-82B9-5D60F23A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38425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多维平行界面损耗 + 强塑性协同提升 + 固态复合工艺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901A733B-2858-493C-BD16-E1E8204B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542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7B182A9E-FE0E-4BE8-A9D2-007B72B0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89E4F40-6886-41BD-922C-580B2C81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6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应用方向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FF5FC59-6CC0-4B42-9703-84222AA1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航空航天、雷达通信、信息安全及民用电子设备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BCE1841C-8BB4-48AD-916A-6EB65BD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05325"/>
            <a:ext cx="542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59F5E152-6364-4064-BF75-63FF2414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0532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B5D46B4-AC26-4A1A-B6DC-69ECED7C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项目目标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603D3A3-6CE6-4987-B256-5D94E790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38675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兼顾屏蔽、强度、韧性、重量与工艺可行性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9A924B98-D0DF-4A8A-827C-B30231FB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D"/>
          </a:solidFill>
          <a:ln xmlns:a="http://schemas.openxmlformats.org/drawingml/2006/main" w="9525">
            <a:solidFill>
              <a:srgbClr val="E3D2AE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EFDF092-9889-4568-8E48-038763EA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512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A51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A512A"/>
                </a:solidFill>
                <a:latin typeface="Noto Sans SC"/>
                <a:ea typeface="Noto Sans SC"/>
                <a:cs typeface="Noto Sans SC"/>
              </a:rPr>
              <a:t>核心命题：把电磁波消解在材料内部，同时守住“轻、强、韧、可制造”四重约束</a:t>
            </a:r>
          </a:p>
        </p:txBody>
      </p:sp>
    </p:spTree>
    <p:extLst>
      <p:ext uri="{BB962C8B-B14F-4D97-AF65-F5344CB8AC3E}">
        <p14:creationId xmlns:p14="http://schemas.microsoft.com/office/powerpoint/2010/main" val="127992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FA1B4750-0A9C-4E6E-9B26-C87056C6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233285-76ED-440D-802D-8677DA3E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问题：三重性能互相牵制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474BB23-1075-416F-AD71-3041408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要让功能、结构、工艺同时达标，不能只优化其中一项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A12913-3F9A-4792-A18F-0C7F4F1D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04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BA63E0FA-64C7-4684-8ACF-FFA25D04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385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0550CB0B-760B-4A1F-BBD9-11124EB5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A2FCC5-98FB-4097-9422-4C8AD77B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功能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1ECC08C-34C8-4CF3-9AE5-12C10DC0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屏蔽性能提升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EE3B35A6-CB76-498B-8F20-5941C8BD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B80104-C41F-406F-A4A7-1AB424E7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66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传统方法往往导致材料强度下降或重量上升。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18A06704-C53A-4DF4-AB00-BBA92873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2385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23CE452C-ADDD-4C24-BEA6-F78CCC06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312F424-F539-42AD-AB3C-1FC47D31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结构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57E0C93-A339-436D-8C5E-21C583C2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强度与塑韧性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5A05FD53-B00C-4DA8-8929-D06F9EF5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0640535-A488-44E7-80EE-08CE71DB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14700"/>
            <a:ext cx="266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镁锂基材料强度提高时，塑韧性容易相应降低。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24236F0E-2AE8-450C-AEAA-4857AE91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2385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C0BF9586-1F21-483E-8164-082D3DE1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57402F1-DD7C-46BA-8396-6086DA7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工艺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866ADB6-5142-420E-93B3-EACB4C20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复合制备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BB96957C-B717-4923-B31B-FCD1CB60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85F78AA-3D31-4A90-B298-C0A1AFF1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266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传统复合工艺危险性高，且增强体分布不易均匀。</a:t>
            </a:r>
          </a:p>
        </p:txBody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4B90B584-E51A-4CEC-BDBA-3F6FC09C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CC8772B-0F16-4D58-994F-A2FBE803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目标不是单项“拔高”，而是找到性能协同的融合方案。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9B9CDAB-716D-48CD-BFCC-E968EA10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816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超轻  ×  高强韧  ×  高电磁屏蔽</a:t>
            </a:r>
          </a:p>
        </p:txBody>
      </p:sp>
    </p:spTree>
    <p:extLst>
      <p:ext uri="{BB962C8B-B14F-4D97-AF65-F5344CB8AC3E}">
        <p14:creationId xmlns:p14="http://schemas.microsoft.com/office/powerpoint/2010/main" val="6398456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108F815C-4946-46A3-8DC9-301572FA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3C7BAC-0326-4FBF-8F61-9076F24A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技术路线：三项创新协同落地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5CC87A8-8817-4361-86FC-C2E06894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从计算模型到结构设计，再到固态复合工艺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2CC0CD-E8FF-4042-B6A2-E1F10C9A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05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25D3E0E3-DB7F-4418-9625-BDFB2315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85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BAFA3FF4-103B-498C-9D38-AD6CA059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95D03C5-F304-4EAF-9508-9AA61E72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76CDBC9-30F2-4BDE-AEEB-772DDF8C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57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多维平行界面损耗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A87E620-FA61-4FFC-A7D1-55E8FD6D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71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建立电磁损耗计算模型，计算电磁波进入材料后的反射路径与损耗。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6F8D090-BFD7-4381-8333-32EE2061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3357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电磁波在平行界面间多次反射并衰减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1ABA958B-3028-4F1A-9135-87FA01D8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85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E7B86AB4-C5EA-45CA-9668-42D0607F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A347239-F29A-400A-8D95-43A1C1F8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D459E40-0FE6-4010-AB38-76ECB5DE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14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强塑性协同提升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D34D76-3ECA-46C4-BC5D-5CCE0EC5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29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采用累积叠轧工艺构筑高平行度界面；尝试超过15种合金元素配比。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44689FF-6B31-44EA-BB3E-54ED75C6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9087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纳米析出强化 + 剧烈塑性变形晶粒微细化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A3F212DE-8FFB-4901-A306-BA8ED307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685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9AC22BCD-309F-40FE-B0E3-E276B67B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4AC23F8-37B6-4720-B853-813372D0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9532E77-880A-4C13-B4D2-CB99BF32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71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纳米碳基固态复合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2EA0F8C-45D2-445B-85E7-F979254E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选择多壁碳纳米管作为增强体，采用电泳沉积实现更紧密、均匀的结合。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977DB21-BF0C-4D63-B3B5-D089E4DE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4817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多壁碳纳米管 + 电泳沉积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0337C-EFAC-47CC-B1F5-11503D8E6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94dcf25fe4f64"/>
          <a:stretch xmlns:a="http://schemas.openxmlformats.org/drawingml/2006/main"/>
        </p:blipFill>
        <p:spPr>
          <a:xfrm xmlns:a="http://schemas.openxmlformats.org/drawingml/2006/main">
            <a:off x="7867650" y="2070805"/>
            <a:ext cx="3714750" cy="2221091"/>
          </a:xfrm>
          <a:prstGeom xmlns:a="http://schemas.openxmlformats.org/drawingml/2006/main" prst="rect">
            <a:avLst/>
          </a:prstGeom>
        </p:spPr>
      </p:pic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183F1342-F56B-4A19-8F0F-8DE41F7A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50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9E579BB-1A39-4884-B688-6F1AA23A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结构设计的关键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212C357-3FDF-499D-A9A2-FA53ABA6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C7D1D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7D1D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7D1DE"/>
                </a:solidFill>
                <a:latin typeface="Noto Sans SC"/>
                <a:ea typeface="Noto Sans SC"/>
                <a:cs typeface="Noto Sans SC"/>
              </a:rPr>
              <a:t>以多壁碳纳米管作为增强体夹层，形成更均匀的固态复合结构。</a:t>
            </a:r>
          </a:p>
        </p:txBody>
      </p:sp>
    </p:spTree>
    <p:extLst>
      <p:ext uri="{BB962C8B-B14F-4D97-AF65-F5344CB8AC3E}">
        <p14:creationId xmlns:p14="http://schemas.microsoft.com/office/powerpoint/2010/main" val="1928648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AC101A7B-D835-459D-A936-3C56C48A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8F19F7-2D7B-426A-ABF5-76D864DE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研究脉络：从 Mg-Li 基体到屏蔽复合材料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2C57DA0-7A5E-47F1-9786-D28E624C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公开论文显示三条技术积累路线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92FF3C-E245-4C48-B09D-DCD6C11C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rPr>
              <a:t>06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DFF69C30-B0DA-498F-82BC-66BE424C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238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E568FAFC-4C6A-4B81-A1AD-C243312D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9707EF-0A4E-4980-8478-4C4F80DB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E65C96C-1495-492C-80C4-B9122189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Mg-Li 基体与轻量化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29175B-7366-4CFD-BF2D-EBA3F9F2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rPr>
              <a:t>2014｜综述确认 Mg-Li 密度约 1.35–1.65 g/cm³，是超轻工程金属材料。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A07E628-3E50-4CAD-868C-4718B55A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rPr>
              <a:t>2022｜低温/室温轧制提升 BCC Mg-Li 强度并解析强化机制。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A0FDAA4-719E-4774-82A9-B2BF882B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rPr>
              <a:t>2023｜多向轧制调控组织与应力分布，团队学生共同署名。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5A5814C4-491C-4380-ABE3-59D0659F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3238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D6AF920F-E2A2-4996-92B7-F701A94F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7BFC4B6-1B30-4D71-B3CA-79087066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CB4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8CB4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8CB4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F25A890-4677-4C5E-A711-E61BEB48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电磁屏蔽与 ARB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AB2FADF-A8AE-4646-B4E2-54B6371B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rPr>
              <a:t>2019｜轧制应变同时影响 Mg-9Li 的屏蔽性能与力学性能。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56B4770-52A4-4553-B417-66C9BF5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rPr>
              <a:t>2020｜累积叠轧后 Mg-9Li-3Al-1Zn 的 EMI 屏蔽显著增强。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11B10E5-739E-407E-A8DB-0ADCC5CF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rPr>
              <a:t>2022｜在 Mg-9Li-3Al-1Zn 中实现强度与屏蔽效能平衡。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3DBF66F2-D8EC-4E70-B524-647B3C7D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238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3D918CFF-E978-4862-A569-F356EE29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9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BCCF7D1-96C2-47C3-9CBE-B54FBF62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0D99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0D99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0D99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AECA4B3-E40C-4992-931F-C570CD95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MWCNTs + 固态复合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F36787E-B7E6-4E38-9E56-69325A1E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rPr>
              <a:t>2021｜Mg-Li-Zn-Gd/MWCNTs 在 X 波段兼顾高屏蔽与高强度。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C9B47F6-E4F9-423D-AA70-12133A19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rPr>
              <a:t>2021｜EPD + ARB 制备 Mg-14Li-1Al/MWCNTs 复合材料。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281B1A0-AD01-45ED-B3AA-F6E7B935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D4DCE6"/>
                </a:solidFill>
                <a:latin typeface="Noto Sans SC"/>
                <a:ea typeface="Noto Sans SC"/>
                <a:cs typeface="Noto Sans SC"/>
              </a:rPr>
              <a:t>2022｜EPD + 搅拌摩擦加工 + 冷轧提出高比强度复合路线。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83AC175A-9D28-4BC4-8F93-1F80EFE2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ADD5921-6367-4972-B9E6-B6C62073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三条公开研究线索与项目“三大创新”对应：平行界面损耗、强塑性协同提升、纳米碳基固态复合。</a:t>
            </a:r>
          </a:p>
        </p:txBody>
      </p:sp>
    </p:spTree>
    <p:extLst>
      <p:ext uri="{BB962C8B-B14F-4D97-AF65-F5344CB8AC3E}">
        <p14:creationId xmlns:p14="http://schemas.microsoft.com/office/powerpoint/2010/main" val="820731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ule">
            <a:extLst xmlns:a="http://schemas.openxmlformats.org/drawingml/2006/main">
              <a:ext uri="{FF2B5EF4-FFF2-40B4-BE49-F238E27FC236}">
                <a16:creationId xmlns:a16="http://schemas.microsoft.com/office/drawing/2014/main" id="{D076DE10-0B85-4100-B367-9670238A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98E36B-2E07-43A9-98CE-14BBA7AB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论文补充：团队学生共同署名成果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0362AA6-23D7-4A64-8505-2244830B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学术索引与 DOI 可查询的部分论文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AAA422-087F-4A57-A2B7-DB04B4E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07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4F17B95B-5FFB-4947-8451-171E5BA4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ED8DB0C2-26A6-4DD6-8157-C9C742F2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3743A3-442B-493A-A496-2164BA04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696BBA-68DE-458D-9652-DF1577BE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573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郭政佑 / 贾昊阳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李佳睿 / 刘锦洋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3CA8FF2-91E1-46FC-8E39-6CC47B5D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19250"/>
            <a:ext cx="539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High-Strength β-Phase Magnesium–Lithium Alloy Prepared by Multidirectional Rolling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210B19E-2F61-4296-91A6-65049FC8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478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Materials · 2023 · 16(8):3227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BA7A5CF-0E86-4298-A5D8-AF7EB667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335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10.3390/ma16083227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94E1A12F-C0FD-4FC8-A36C-E1D9A44A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9FDF9BC1-3A1A-4E04-9A84-DA20B660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09217B2-0F18-4993-B61E-BBF151C1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9EE4ED-E4CF-4D35-A2A7-C64ED7F2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郭政佑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A99ED99-01E2-4260-9FE3-5F1FE7A4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539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Historical Progress in Electromagnetic Interference Shielding Effectiveness of Conventional Mg Alloys Leading to Mg-Li-Based Alloys: A Review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DE72D90-18BF-44FC-94C3-5ADAF0AE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860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Advanced Engineering Materials · 2023 · 25(21):2300732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848526C-F45F-4951-86B8-DAA30408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71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10.1002/adem.202300732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17B67F5B-A20D-49B6-8F9A-410CA299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B90D4293-FFA2-40A8-AD40-1C60305F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6BA42B9-3BEE-4188-B6DD-74CDF865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AAE8934-816F-4558-BF67-F197CCB3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贾昊阳 / 郭政佑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0D7EC48-5EEE-4C4E-83CC-C5CEDF9A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95650"/>
            <a:ext cx="539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Grain refinement of Mg-14Li alloy by Sn addition and large strain rolling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60F8F6D-C84B-4DAC-859B-B8ECA867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242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Frontiers in Materials · 2022 · 9:1050764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4D6A7E3-34BB-4D86-B48F-23616F7F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10.3389/fmats.2022.1050764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59ED3423-B813-429B-87CA-6D834797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554C0EA3-239F-4DCC-9D25-CC846D1F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15700E9-833B-4630-8E22-7296516F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2AB32C0-8740-464A-8D03-DE2988B7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贾昊阳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DDDFA08-1E25-453E-BEDB-0D3ECAEB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33850"/>
            <a:ext cx="539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Insight into the increment of the formability and strength in bcc structured Mg–Li–Zn alloy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F9919E7-CF35-49FD-9AA5-206C0FF5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624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Materials Science and Engineering: A · 2022 · 850:143563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92A51ED-2893-4122-848C-69A8BB0E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48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10.1016/j.msea.2022.143563</a:t>
            </a:r>
          </a:p>
        </p:txBody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C40C5CF6-6052-4DCE-B0A6-D5298007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A33938C8-1001-4478-8C27-9CFB65D7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62DE42A1-7C2D-4499-85D5-71995A30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37BE577-AB52-4F65-8743-EB57FB8F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贾昊阳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B39487C9-593E-4942-B6D8-CBDF83D6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539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A Novel Ordered B2 Particle Strengthened Mg–Li–Zn Alloy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E35F780E-9997-4686-B44C-12F4FF7B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Advanced Engineering Materials · 2022 · 24(11):2200477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30986AD1-5A9C-4D17-A1FD-ED41FABF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10.1002/adem.202200477</a:t>
            </a:r>
          </a:p>
        </p:txBody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148197E1-1CFB-463E-BE8F-C670B694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D"/>
          </a:solidFill>
          <a:ln xmlns:a="http://schemas.openxmlformats.org/drawingml/2006/main" w="9525">
            <a:solidFill>
              <a:srgbClr val="E4D2AB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051E7B71-F28B-4327-A6BD-61CAE0FB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21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67502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75029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75029"/>
                </a:solidFill>
                <a:latin typeface="Noto Sans SC"/>
                <a:ea typeface="Noto Sans SC"/>
                <a:cs typeface="Noto Sans SC"/>
              </a:rPr>
              <a:t>公开报道称团队发表4篇SCI、1篇北大核心；完整清单未公开，本页仅列出可核验的团队学生共同署名论文。</a:t>
            </a:r>
          </a:p>
        </p:txBody>
      </p:sp>
    </p:spTree>
    <p:extLst>
      <p:ext uri="{BB962C8B-B14F-4D97-AF65-F5344CB8AC3E}">
        <p14:creationId xmlns:p14="http://schemas.microsoft.com/office/powerpoint/2010/main" val="5149811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2FC5D9AA-C6D2-41C0-B230-E9D38F47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72C5FE-B08B-416D-8917-C36C1917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性能突破：更轻，也更能屏蔽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36BF2B9-E4FC-4924-B43C-2D1C38A3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基于公开报道中的对比结果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3E5435-7CC1-4D25-A9ED-AC9A17C6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rPr>
              <a:t>08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5F08BEF6-B77F-4DB3-8F0F-E5BAAF97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19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9525">
            <a:solidFill>
              <a:srgbClr val="C7A15A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946917-02DB-472C-A76B-8F5F08D8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15%—25%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DC47BA-4D6D-418E-BF7B-0665A8A8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90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屏蔽效能提升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56FE76-5FBF-43A3-AA2A-7E8FCE75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28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B3A1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4B3A1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3A1F"/>
                </a:solidFill>
                <a:latin typeface="Noto Sans SC"/>
                <a:ea typeface="Noto Sans SC"/>
                <a:cs typeface="Noto Sans SC"/>
              </a:rPr>
              <a:t>与国外先进镁基屏蔽材料研究成果对比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8A057270-761A-45EF-82BB-B47BA300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619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632469-139A-4C3D-85EB-61F4334F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20%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9F10151-1FBA-42CE-BB6B-45059228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81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重量降低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E642D7B-74B8-404A-BE81-A83CF2C6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AAB6C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AAB6C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AB6C5"/>
                </a:solidFill>
                <a:latin typeface="Noto Sans SC"/>
                <a:ea typeface="Noto Sans SC"/>
                <a:cs typeface="Noto Sans SC"/>
              </a:rPr>
              <a:t>与同项对比结果同时实现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3B2933D6-A71C-40B5-9FC2-3A69F0C2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19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5EE69FA-F422-46D6-8395-2023889D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宽波段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EB89A6E-4AA1-4677-B288-D85E8D4F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有效屏蔽范围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67A33BA-3B5D-4940-BAB7-5882EFA4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AAB6C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AAB6C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AB6C5"/>
                </a:solidFill>
                <a:latin typeface="Noto Sans SC"/>
                <a:ea typeface="Noto Sans SC"/>
                <a:cs typeface="Noto Sans SC"/>
              </a:rPr>
              <a:t>远超现有铜、铝、铁等金属基屏蔽结构材料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4365D722-8120-4291-B605-26813E75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619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33600F4-E0D0-42CA-95F0-377FBA2F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超薄箔材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293BA6-96BA-40C6-A53E-5B19ED09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产业化成形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42105C8-95D8-4B84-A58F-A4735781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00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AAB6C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AAB6C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AB6C5"/>
                </a:solidFill>
                <a:latin typeface="Noto Sans SC"/>
                <a:ea typeface="Noto Sans SC"/>
                <a:cs typeface="Noto Sans SC"/>
              </a:rPr>
              <a:t>已实现产业化成形验证并与多家企业合作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E78A1-60BA-4724-9539-776B10D3EA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4e801f2de4827"/>
          <a:srcRect xmlns:a="http://schemas.openxmlformats.org/drawingml/2006/main" l="13991" t="0" r="139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638300"/>
            <a:ext cx="4343400" cy="3829050"/>
          </a:xfrm>
          <a:prstGeom xmlns:a="http://schemas.openxmlformats.org/drawingml/2006/main" prst="rect">
            <a:avLst/>
          </a:prstGeom>
        </p:spPr>
      </p:pic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6D9DC200-A34A-4791-B446-6362EAE0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1B6F6E9-BDB3-406F-B6A9-57827CED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657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多功能镁锂基复合材料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5017CDE-33C5-44B5-A23B-90F37569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864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同时兼顾屏蔽、结构强度与塑韧性</a:t>
            </a:r>
          </a:p>
        </p:txBody>
      </p:sp>
    </p:spTree>
    <p:extLst>
      <p:ext uri="{BB962C8B-B14F-4D97-AF65-F5344CB8AC3E}">
        <p14:creationId xmlns:p14="http://schemas.microsoft.com/office/powerpoint/2010/main" val="9098732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BDDD35D5-9194-43F3-9EBA-6A3E18EF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C47EC3-5DCB-427E-8094-154D2DA5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专利补充：从材料到屏蔽结构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F43C4AA-67FA-4DD3-984F-CF96E68E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公开专利页可查询的知识产权证据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B0DE35-56D9-4768-8E68-BAD5D54A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09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5FE62599-2DC1-486E-9DF9-7094B900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3337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63D5D691-8446-4421-A9F4-7FE80DD5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AD47B2-EDBD-48E1-A291-ED6E9998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材料专利基础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B6EC615-DF03-40C3-B6C0-F1677237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CN109609823A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404745C-D07A-4E75-B5F3-552FF883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一种具有高屏蔽性能镁锂合金及其制备方法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3B1416-0213-45AA-BCE2-B308AC00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哈尔滨工程大学｜巫瑞智等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申请 2018-12-24｜公开 2019-04-12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C651D338-7ECE-46DE-87C9-A67E367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838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556006-1E63-4EB6-99CA-6E99E301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2495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13" b="1">
                <a:solidFill>
                  <a:srgbClr val="6A512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1">
                <a:solidFill>
                  <a:srgbClr val="6A512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A512A"/>
                </a:solidFill>
                <a:latin typeface="Noto Sans SC"/>
                <a:ea typeface="Noto Sans SC"/>
                <a:cs typeface="Noto Sans SC"/>
              </a:rPr>
              <a:t>双相镁锂合金 α/β 相界面 + 轧制提升多重反射；30 MHz 屏蔽效能 102.31 dB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6D3BF850-2B2C-4190-BE2A-7DDAC466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33337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39CD0277-34B3-4CC5-98CB-003BDEA8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C13DFBF-83A7-4D71-866F-12ED4D06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工艺专利基础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D51B994-88DF-4666-BF25-7C30498B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CN104498793B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23ED6A4-D1CB-4FDD-BA50-F302AFB4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高强韧性镁锂合金及累积叠轧焊工艺制备方法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D2FD458-2F16-412B-801C-2B279E9F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哈尔滨工程大学｜巫瑞智等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申请 2015-01-04｜授权 2016-08-24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0E382F29-3A3E-4DF9-AF32-2C2F24D4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2838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61ACE5B-AFE0-4F63-9C45-A9B873AA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81500"/>
            <a:ext cx="2495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13" b="1">
                <a:solidFill>
                  <a:srgbClr val="6A512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1">
                <a:solidFill>
                  <a:srgbClr val="6A512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A512A"/>
                </a:solidFill>
                <a:latin typeface="Noto Sans SC"/>
                <a:ea typeface="Noto Sans SC"/>
                <a:cs typeface="Noto Sans SC"/>
              </a:rPr>
              <a:t>ARB 将晶粒细化至 5 μm 以下；抗拉强度 270–290 MPa、延伸率 10%–20%</a:t>
            </a:r>
          </a:p>
        </p:txBody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399B3EFA-C4B0-425A-A5BA-0ABFD15A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3337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5B524454-F26F-417D-85EC-F134F44C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ED99F13-DC2F-4959-9885-E5EB531E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团队负责人相关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FECB65F-6375-4775-A9B2-6A33DFD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CN220068166U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B82D6D3-A911-40AA-B2B1-6A346247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可更换三维点阵结构电磁屏蔽通风波导窗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17634A7-E01F-44FD-948A-7FE4CBC3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哈尔滨工程大学｜郭政佑等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申请 2023-06-13｜公开 2023-11-21</a:t>
            </a:r>
          </a:p>
        </p:txBody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09A2571F-103A-4BAA-858B-2C9218D9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2838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3983C21-EA05-4414-A0A4-9389DEC5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2495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13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面向通风波导窗的屏蔽结构优化；属于电磁屏蔽工程拓展，不是镁锂材料本体</a:t>
            </a:r>
          </a:p>
        </p:txBody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85A0B488-F781-40A1-B606-E64428B8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98230E0-93E6-43EF-BC04-F38B3DEF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结论：公开专利说明团队具备从 Mg-Li 材料、ARB 工艺到屏蔽结构件的连续知识产权积累。</a:t>
            </a:r>
          </a:p>
        </p:txBody>
      </p:sp>
    </p:spTree>
    <p:extLst>
      <p:ext uri="{BB962C8B-B14F-4D97-AF65-F5344CB8AC3E}">
        <p14:creationId xmlns:p14="http://schemas.microsoft.com/office/powerpoint/2010/main" val="8236644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944633BC-756B-46A2-BAAF-E4D363F0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B2F74E-EF02-465E-9454-2EAF8D3A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获得成就：竞赛、学术与转化同步推进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CB6BFB-4B1A-472E-99D6-FE96358E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B7C1CF"/>
                </a:solidFill>
                <a:latin typeface="Noto Sans SC"/>
                <a:ea typeface="Noto Sans SC"/>
                <a:cs typeface="Noto Sans SC"/>
              </a:rPr>
              <a:t>10 / 16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5E5991CB-5114-4082-AE33-5D250E60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762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0861D7-CF03-4D8D-88BF-FD558109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512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B512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5126"/>
                </a:solidFill>
                <a:latin typeface="Noto Sans SC"/>
                <a:ea typeface="Noto Sans SC"/>
                <a:cs typeface="Noto Sans SC"/>
              </a:rPr>
              <a:t>主体赛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FB0F8D-F7B6-4F1B-9FBE-006916FC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特等奖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9A60BAD8-0390-4A4E-B703-189672DA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2B8BA6-D1C4-4D03-85F7-EEB3A35C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第十八届“挑战杯”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全国大学生课外学术科技作品竞赛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235F1D3-A71B-4385-9FFB-984DFF22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03E2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03E2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03E20"/>
                </a:solidFill>
                <a:latin typeface="Noto Sans SC"/>
                <a:ea typeface="Noto Sans SC"/>
                <a:cs typeface="Noto Sans SC"/>
              </a:rPr>
              <a:t>从全国2000多所高校、40余万件作品中脱颖而出。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F034F4B8-3531-46D2-BB1A-553D6315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81150"/>
            <a:ext cx="581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A11729BA-405B-45DC-BB3B-BDA2D47B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811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A527C47-FC6C-4917-8CB7-00DB9347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24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学术产出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139C038-F1C5-4C15-BB62-C800EC8D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 篇 SCI + 1 篇北大核心期刊论文，其中 3 篇为学生第一作者。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C8FEFD96-D8AD-485B-B754-EBC8EE3E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581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55F62519-4CD9-46CA-8AD7-91901FF1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805EC39-6ABC-45BB-89D6-E0785150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527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知识产权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50B5379-9E6B-4A03-B5CD-05A7E43F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授权发明专利 1 项、实用新型专利 3 项、软件著作权 1 项。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E60D79D9-45B8-4906-8360-93E7244F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38550"/>
            <a:ext cx="581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77E59A1B-0B33-4530-9505-81FC122A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385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899B423-067A-4F7E-BEE2-32EB98F7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814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展示与交流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751515-B813-43FD-BAC3-806E3D3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作为主体赛全国四个高校代表之一，在闭幕式现场进行优秀项目展示；负责人参与雄安路演。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8169711F-3DE2-47FC-82D5-8D181D0B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67250"/>
            <a:ext cx="581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740B020D-178B-46E4-8A47-6BC80C7F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672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BA3D1E8-117B-4152-9D4D-AC950F90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10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成果转化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3FBCC1D-5C9B-4641-8289-1496BB16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0060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达成代工合作协议，完成超薄箔材产业化成形验证，并与多家企业开展合作。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0610D79-E11B-4E99-86D2-1B0D6AD6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055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C6D0D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6D0D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C6D0DD"/>
                </a:solidFill>
                <a:latin typeface="Noto Sans SC"/>
                <a:ea typeface="Noto Sans SC"/>
                <a:cs typeface="Noto Sans SC"/>
              </a:rPr>
              <a:t>以一项比赛为抓手，形成论文、专利、路演与工程验证的连续成果链。</a:t>
            </a:r>
          </a:p>
        </p:txBody>
      </p:sp>
    </p:spTree>
    <p:extLst>
      <p:ext uri="{BB962C8B-B14F-4D97-AF65-F5344CB8AC3E}">
        <p14:creationId xmlns:p14="http://schemas.microsoft.com/office/powerpoint/2010/main" val="11239230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718E88AB-6333-4821-9417-6133A4B0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5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CB11929-C6C6-44B6-AD2E-089B1640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14B1C73-4510-4357-8C61-F601F968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团队概览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226C0E-6620-4816-BDB5-9594CDF1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2667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一支探索三年的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本科生团队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1456646-E753-4E27-807A-20390A5E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00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8D1D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8D1D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C8D1DC"/>
                </a:solidFill>
                <a:latin typeface="Noto Sans SC"/>
                <a:ea typeface="Noto Sans SC"/>
                <a:cs typeface="Noto Sans SC"/>
              </a:rPr>
              <a:t>以真实科研问题为起点，围绕镁锂合金材料的综合性能提升持续攻关。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1BD58F-B3A6-441D-8803-D0C29C5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9F5C453-B98D-4680-97D3-3953DC0B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0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名本科生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2BD98C0-E4C9-48EB-98F2-DB51EE9B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 年探索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830C99-D168-4A07-A5A1-642B3D8F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 个硬核材料方向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43D4A-86C5-49B5-8E12-5B9F7776B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de6a6a81b4ab7"/>
          <a:srcRect xmlns:a="http://schemas.openxmlformats.org/drawingml/2006/main" l="10074" t="0" r="10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819150"/>
            <a:ext cx="7391400" cy="43053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2F6FF64-8F91-4578-994F-A9645859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76850"/>
            <a:ext cx="739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C8D1D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C8D1D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8D1DC"/>
                </a:solidFill>
                <a:latin typeface="Noto Sans SC"/>
                <a:ea typeface="Noto Sans SC"/>
                <a:cs typeface="Noto Sans SC"/>
              </a:rPr>
              <a:t>团队在科技成果展现场与指导教师合影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C8D1D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8D1DC"/>
                </a:solidFill>
                <a:latin typeface="Noto Sans SC"/>
                <a:ea typeface="Noto Sans SC"/>
                <a:cs typeface="Noto Sans SC"/>
              </a:rPr>
              <a:t>从左起：李佳睿、巫瑞智、郭政佑、贾昊阳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907CA353-AE0C-423E-949B-E9F2158E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1980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6869123-9D87-4A17-A075-8FD6A899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72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4 名大四 + 4 名大三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4C491F3E-AAB7-4778-B2BA-E6AEC5F1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01980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3E"/>
          </a:solidFill>
          <a:ln xmlns:a="http://schemas.openxmlformats.org/drawingml/2006/main" w="9525">
            <a:solidFill>
              <a:srgbClr val="38527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8F25B88-564A-4B7D-8C4F-B2C14D50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172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 名大四全部保研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4F1B39-5CE3-4ACF-BF05-7885643C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191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指导教师：巫瑞智教授</a:t>
            </a:r>
          </a:p>
        </p:txBody>
      </p:sp>
    </p:spTree>
    <p:extLst>
      <p:ext uri="{BB962C8B-B14F-4D97-AF65-F5344CB8AC3E}">
        <p14:creationId xmlns:p14="http://schemas.microsoft.com/office/powerpoint/2010/main" val="1100344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0F00D875-3C6C-4040-8788-2B8CD76F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49DFA1-B24B-4696-8AC0-9ED3378E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团队成员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81A58EF-870B-4424-96CC-088ED0BB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公开报道披露的8名本科生成员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A45FAA-91B7-49D1-AEA6-B3B2F996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12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635EB78C-3F08-4373-93BD-873CE415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FC29D6D6-D2FF-467D-98CA-7FC0E3AF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C9D4738-705E-4B2F-997B-2B0FCF5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郭政佑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BF3F44-76D1-41A6-A40C-A07A30E0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项目负责人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8E67A3CB-5B51-4A47-AD03-25ADC091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7640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EE9AEAFA-690E-4A2F-AFD4-0E8B299D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764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F690740-DFE2-4934-9AAA-194F000F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19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张弛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92277F-F6FF-4E86-8CE1-A77BA613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43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本科生成员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874E80AC-F6B6-4DCA-915D-42AB1B81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78364177-D493-4F27-85C8-4B66D2AE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2A51E40-F863-40CE-93C1-A480C37D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贾昊阳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100F6BE-74C5-471F-9DE1-AADEC01D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本科生成员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2CD3DE38-CCAB-4A9B-A3DA-FFA0EEC7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CF05AE9F-4883-494D-A229-F3BF726C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6A4F8C5-E455-4D0D-B42B-29CCEA8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90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李佳睿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9F1DC71-FB9F-43A2-9155-A82D8375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14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本科生成员</a:t>
            </a:r>
          </a:p>
        </p:txBody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1437C0A8-E793-4977-AD99-270A0A11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B23539BD-C6D6-461D-9580-A439EF4A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BF8D869-B46E-4E02-9151-8466BE72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刘锦洋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1FC8F21-9445-453C-A34D-46AB36C0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本科生成员</a:t>
            </a:r>
          </a:p>
        </p:txBody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403038EB-DBB3-42D9-98A2-E85F3C61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1950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A44839AA-99F7-4FC5-A473-EAAB77E4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19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149E601-6ABD-47CB-B42A-AA66E0A5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62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蒋筱钰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CA39CAE-20B5-424B-8121-9C170459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86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本科生成员</a:t>
            </a:r>
          </a:p>
        </p:txBody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2961F78A-55A4-4C90-B46D-8E49A3EA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2FFDE254-D1A9-40D4-974D-338934AA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4089C72-2C84-4C54-8979-7587BA78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周子晴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1155D04-8855-40E9-AA8F-E6D46BB4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本科生成员</a:t>
            </a:r>
          </a:p>
        </p:txBody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ADE9388A-AD56-4A29-9F1C-B927B2F5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9105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13F52623-F30A-4882-BA04-B6E42991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910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A3DE896B-886A-4007-8E27-4CE16EDA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33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刘奕彤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8257779D-E484-4C91-86EB-8E18A06D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577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本科生成员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DD3F24-D8D2-46C5-A90C-798EE4037B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7099143dd4dd6"/>
          <a:srcRect xmlns:a="http://schemas.openxmlformats.org/drawingml/2006/main" l="6474" t="0" r="64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676400"/>
            <a:ext cx="5276850" cy="2819400"/>
          </a:xfrm>
          <a:prstGeom xmlns:a="http://schemas.openxmlformats.org/drawingml/2006/main" prst="rect">
            <a:avLst/>
          </a:prstGeom>
        </p:spPr>
      </p:pic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F33F0650-555C-4107-9B3E-CCC7B183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52768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BDBE0873-C27E-46A1-BC5D-C53D9FD4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团队结构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1C067384-6BF6-4FC8-827C-F812E183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 名大四 + 4 名大三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14D534AF-A795-427C-BC00-7DA38FA8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72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ED6E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ED6E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CED6E1"/>
                </a:solidFill>
                <a:latin typeface="Noto Sans SC"/>
                <a:ea typeface="Noto Sans SC"/>
                <a:cs typeface="Noto Sans SC"/>
              </a:rPr>
              <a:t>4 名大四成员全部保研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88AE4BA7-5839-4334-9905-66918722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43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指导教师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巫瑞智教授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61A6D3AA-E919-4278-BE57-5509A730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419850"/>
            <a:ext cx="527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78869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88696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88696"/>
                </a:solidFill>
                <a:latin typeface="Noto Sans SC"/>
                <a:ea typeface="Noto Sans SC"/>
                <a:cs typeface="Noto Sans SC"/>
              </a:rPr>
              <a:t>成员名单按公开报道整理；照片中的部分成员身份说明以原报道为准。</a:t>
            </a:r>
          </a:p>
        </p:txBody>
      </p:sp>
    </p:spTree>
    <p:extLst>
      <p:ext uri="{BB962C8B-B14F-4D97-AF65-F5344CB8AC3E}">
        <p14:creationId xmlns:p14="http://schemas.microsoft.com/office/powerpoint/2010/main" val="4013957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B8F6D6F2-4BDA-430C-9BE9-5F2FCBC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DDE2B9-70EB-4881-9759-1325785A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成员分工与专业背景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97BD35C-6380-459B-90C3-3379B70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只呈现公开报道能够确认或明确支持的信息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3B99DC-51D4-4977-BE68-2B09B770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13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8573EA84-5BB2-45B4-A520-6944E9D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D"/>
          </a:solidFill>
          <a:ln xmlns:a="http://schemas.openxmlformats.org/drawingml/2006/main" w="9525">
            <a:solidFill>
              <a:srgbClr val="E4D2AB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05954A-053D-435D-9977-B52A08F0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950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9502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69502B"/>
                </a:solidFill>
                <a:latin typeface="Noto Sans SC"/>
                <a:ea typeface="Noto Sans SC"/>
                <a:cs typeface="Noto Sans SC"/>
              </a:rPr>
              <a:t>公开报道对负责人和部分实验分工有明确描述；其余成员的具体职责与专业细分未逐一披露，本页不作推测。</a:t>
            </a:r>
          </a:p>
        </p:txBody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780901BF-BF42-4FC7-B0E4-67EF7177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9784E1D0-F8B7-4198-B04E-E7E43D30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0638DB-9CA6-4EB1-9455-0A74F127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项目统筹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C11763C-98A2-405D-9A6D-78FD0F1B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郭政佑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180F0DB-69AD-4E48-864C-6D11902F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288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团队负责人；牵头技术路线；代表团队进行路演与成果汇报；推动代工合作。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65D5AF-DFAB-45E7-841A-44134318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765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材料科学与化学工程学院｜2020级本科生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1A5736B7-1E59-44C8-8596-16CC9DFB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3BB72ACD-3F8B-4FE9-BFC5-EE32E04B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C60BB58-C380-4D89-860A-080D144C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性能平衡与实验优化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06D35B-C832-4304-88DD-EC825824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李佳睿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C1EA512-FB0E-4317-B3E3-8691FD45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670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公开受访并解释性能协同与材料选择；参与合金配比、工艺优化等实验工作。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AE3FB55-C6A6-4BAD-90AF-E84805C1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147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材料相关方向；具体专业细分未公开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905B4AE2-7550-4247-A70D-657BB0F5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BBEFF84E-2B4E-43BF-BAB8-7B75AA8F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7A601E1-21BF-4860-9DE3-4DE75666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实验与成果形成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AF3A928-E646-46B8-A63F-EEEC884E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其余成员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E850B96-5583-4690-A9A9-64CE6670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052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张弛、贾昊阳、刘锦洋、蒋筱钰、周子晴、刘奕彤列入团队名单，参与研究、实验与竞赛协作。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DF36B80-D181-431D-B4D6-62FD84BC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529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材料/化工相关方向；个体分工与专业细分未公开</a:t>
            </a:r>
          </a:p>
        </p:txBody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51D819DB-29F5-4A15-9CFE-7ED9B74F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A67F1603-A16D-4BED-A702-99235A53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1CD7F51-55C1-46EC-94B3-E1E4A7F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科研指导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75EDC53-7C4F-4D3F-AF17-A43645DA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巫瑞智教授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40B5DCC-1890-453E-9A21-303C0455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434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以专业导论课堂引入镁锂合金方向，并在课题研究与实验推进中提供指导。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A00B41F-97E1-405A-AB5E-8B8DC10F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911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材料科学与化学工程学院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33107524-45B7-4005-A089-B488EDF5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学业表现：郭政佑综合成绩专业第一，连续3年获得国家奖学金。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7C62743-B628-4FB7-ADE2-99602C49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436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专业口径：材料科学与工程/相关材料化工方向</a:t>
            </a:r>
          </a:p>
        </p:txBody>
      </p:sp>
    </p:spTree>
    <p:extLst>
      <p:ext uri="{BB962C8B-B14F-4D97-AF65-F5344CB8AC3E}">
        <p14:creationId xmlns:p14="http://schemas.microsoft.com/office/powerpoint/2010/main" val="14008993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4C0EF73A-E520-4057-8C6E-6398DAA0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968688-F84C-42C8-A3F7-5C1C2DF8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结论：项目的核心价值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9507884-FA07-4FE0-A35A-41D66CB1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三组证据共同支撑一个清晰的工程逻辑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DAB49C-E106-4B45-AE82-70534020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14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C364AEA0-6BD3-42F6-99C1-C9923EEF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7C5D1208-0A39-4B6B-96C3-235E492F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4ECC0BE-DB53-47C8-995B-9ECC360C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F99B33-864D-4B7D-8AD3-DA00BBDD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技术闭环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ACC66F4C-85CC-44EC-B7C5-34F5DD12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0260A30-2C27-4E13-AD84-F4D0DF2F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724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面向“轻、强、韧、屏蔽、可制造”五重约束，用三项技术协同替代单项性能拔高。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2BD25593-CE9B-407A-B0E0-48C70B57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BB71F693-7196-4880-87C9-410AD536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C581324-8697-47B5-88B3-39D7DA9A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DEE54CB-89B6-4BF3-A07D-C7BCA5C1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71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学术闭环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453750F0-AC30-467E-A7D5-7A419486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90D52F1-1659-45C2-AD40-5DD6FE56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2724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从 Mg-Li 基体、电磁屏蔽与 ARB，到 MWCNTs 固态复合，形成连续研究积累。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760A2433-45D3-485F-8FF1-2D2F0768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52600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DDFD1E73-30CC-4770-83E8-87CDB624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526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9D25B34-3EC6-4460-9813-3FD3DB1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2E68D9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2A5EB4C-2490-47D4-8168-06AF3882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成果闭环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737AD8A2-751B-48FC-B4F1-DA20D9C4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15F6518-7336-4500-919F-BDC35655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48050"/>
            <a:ext cx="2724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论文、专利、特等奖、代工合作与超薄箔材产业化成形验证，共同形成结果证据链。</a:t>
            </a:r>
          </a:p>
        </p:txBody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BF3E88AF-CB96-4D9F-B80D-BBF75E6E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4650766-5C17-48BD-86A6-D6777497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核心结论：以真实设备需求为牵引，以材料—工艺—结构协同为方法，以多类成果证据完成从机理到应用的闭环。</a:t>
            </a:r>
          </a:p>
        </p:txBody>
      </p:sp>
    </p:spTree>
    <p:extLst>
      <p:ext uri="{BB962C8B-B14F-4D97-AF65-F5344CB8AC3E}">
        <p14:creationId xmlns:p14="http://schemas.microsoft.com/office/powerpoint/2010/main" val="9132392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FCAF5CFD-E2DD-4B74-B2D1-EBCE28A1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C4A8FC-26AA-439E-A47A-A6A238F9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从实验室走向工程应用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B9CE0DF-5BA6-4C1C-81A6-FAD9BA60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让材料性能服务于真实设备需求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766529-2280-4441-AFEF-BA5EEA46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15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13A62B1E-2E2D-4307-A844-974D1465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3337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5C1FDCDA-E417-48A7-AF3F-43B6B97F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78F3DE-E46A-46A6-9597-F61DBB40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航空航天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417E7C8-2DC8-4AF0-B787-888AF392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5E1F6C-F8F0-4196-A69D-A978FF2D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复杂电磁环境下的结构件与屏蔽防护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D7EB0335-2010-4DEE-8CD3-8E386A2E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3337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67ECB4EB-EF8C-46D0-A9DD-52E98C28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E7D199-9533-4862-9521-70F1EAFD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雷达通信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3307BA32-FEC4-423B-AD82-D5362B0C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98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EA3B6A0-0D6C-4DD5-B49D-7FC0FAAF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宽波段电磁屏蔽与设备稳定性</a:t>
            </a:r>
          </a:p>
        </p:txBody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E3458766-C3BD-4BE8-8F68-583E9263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3337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7EEEA612-7B15-4F7A-B2A6-73BEDF5C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110B0E3-F105-4038-85F2-66F1BEF5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民生电子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3B811980-06CF-42B8-9FC6-B59FC53B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33E4316-AB83-4AED-960B-2B7111E9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轻量化、高性能材料的消费端应用探索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836AF1-4D93-4C7F-ACED-A196EBCE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下一步</a:t>
            </a:r>
          </a:p>
        </p:txBody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53C7515E-ED5C-4ECE-9D02-7CCFB24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6E0CA7E-1454-4B70-BC2C-9A06F97D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C99C6F0-FAD3-4B82-BBA8-F417043E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继续开发更先进、更高效、更高质量的新型电磁屏蔽材料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1B160F87-5418-4BAD-9FFD-84B58408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29AE665-8687-4755-8D74-957065CD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244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A318427-A226-43CC-9AE2-F61B6CA0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053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深化工程化验证与产学研合作，拓展应用边界</a:t>
            </a:r>
          </a:p>
        </p:txBody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652EE0FD-D477-4EBC-8842-C9B768D3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52950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F23BD6E-7C53-4DBB-A8AC-237B2BDF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244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E7CC8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C894AB1-4B3B-4472-ABE4-52FB3388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053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将基础材料制造与工业互联网、新能源智能汽车等新需求衔接</a:t>
            </a:r>
          </a:p>
        </p:txBody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77055EBD-8240-46CC-8B26-E070232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D"/>
          </a:solidFill>
          <a:ln xmlns:a="http://schemas.openxmlformats.org/drawingml/2006/main" w="9525">
            <a:solidFill>
              <a:srgbClr val="E4D2AB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A6A3F66-6671-4EEB-9827-046385CB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654B2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54B24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654B24"/>
                </a:solidFill>
                <a:latin typeface="Noto Sans SC"/>
                <a:ea typeface="Noto Sans SC"/>
                <a:cs typeface="Noto Sans SC"/>
              </a:rPr>
              <a:t>把“基础材料制造行业”与国家大力倡导的“新质生产力”相结合</a:t>
            </a:r>
          </a:p>
        </p:txBody>
      </p:sp>
    </p:spTree>
    <p:extLst>
      <p:ext uri="{BB962C8B-B14F-4D97-AF65-F5344CB8AC3E}">
        <p14:creationId xmlns:p14="http://schemas.microsoft.com/office/powerpoint/2010/main" val="12843193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ule">
            <a:extLst xmlns:a="http://schemas.openxmlformats.org/drawingml/2006/main">
              <a:ext uri="{FF2B5EF4-FFF2-40B4-BE49-F238E27FC236}">
                <a16:creationId xmlns:a16="http://schemas.microsoft.com/office/drawing/2014/main" id="{168C0054-7331-4033-867B-70B8FC8F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788B28-80BB-4155-B579-0EB3E638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附录：核心论文与专利索引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D48D2A9-4899-43A6-87F8-66160AB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7A15A"/>
                </a:solidFill>
                <a:latin typeface="Noto Sans SC"/>
                <a:ea typeface="Noto Sans SC"/>
                <a:cs typeface="Noto Sans SC"/>
              </a:rPr>
              <a:t>下方条目保留 DOI 或公开号，便于继续检索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66E2B1-30A3-4257-9329-FBAE2CAD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67485"/>
                </a:solidFill>
                <a:latin typeface="Noto Sans SC"/>
                <a:ea typeface="Noto Sans SC"/>
                <a:cs typeface="Noto Sans SC"/>
              </a:rPr>
              <a:t>16 / 16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CD743C67-4EB5-41D1-A3E6-E4233676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2385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712626C7-BA67-4EDC-BCA0-F8893816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D9CD392-AC61-4716-A51F-71AF1D51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团队学生共同署名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6989076-FB00-4B67-BEF8-9A42302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4db2c150b6b542ce"/>
              </a:rPr>
              <a:t>High-Strength β-Phase Mg-Li by Multidirectional Rolling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2FB7FB0-45C2-41B0-B143-BE776770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b273e3253c8f442d"/>
              </a:rPr>
              <a:t>2023｜10.3390/ma16083227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498CCA8-BBC3-445B-9A06-DB20F61C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d6544e13c3c6465e"/>
              </a:rPr>
              <a:t>Historical Progress in EMI Shielding of Mg/Mg-Li Alloys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16ADDBE-764B-4B20-B2DE-6EDD6783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61e5cbe12ed24083"/>
              </a:rPr>
              <a:t>2023｜10.1002/adem.202300732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2D0434F-7F39-4A05-92C8-F1A566CA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c0b60b2ce8514811"/>
              </a:rPr>
              <a:t>Grain refinement of Mg-14Li by Sn addition and rolling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CF20C51-8880-4B91-9888-E6C5917C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1947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dbe08019fccc400e"/>
              </a:rPr>
              <a:t>2022｜10.3389/fmats.2022.1050764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F06EE36-3F94-4A54-8BE8-1AD1C398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4b6e631f20f44a1b"/>
              </a:rPr>
              <a:t>Formability and strength in bcc structured Mg-Li-Zn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9B466C6-BA8B-4BF2-BCFA-CF33E6DB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370936f1db9648b4"/>
              </a:rPr>
              <a:t>2022｜10.1016/j.msea.2022.143563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F42D112-87E1-4758-A847-65A08CD1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c4524ffa9d054545"/>
              </a:rPr>
              <a:t>Ordered B2 particle strengthened Mg-Li-Zn alloy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664A205-13F6-44D2-9746-35D29C1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51cefdb0470a46ad"/>
              </a:rPr>
              <a:t>2022｜10.1002/adem.202200477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B1BC66BE-E040-498D-B7E0-46187238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38300"/>
            <a:ext cx="32385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94FFFB8A-AA22-40C1-9820-CD498163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38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9B1D8FC-F7DE-45EB-8575-78893D9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050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研究基础与屏蔽路线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020625D-258B-40DD-8E81-3CE16B1E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e99e0097aa664cdf"/>
              </a:rPr>
              <a:t>Recent progress in magnesium-lithium alloys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487FA80-287A-4167-A2E2-8020D249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4317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20c50506c56948e8"/>
              </a:rPr>
              <a:t>2014｜10.1179/1743280414Y.0000000044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2F42C03-CBEB-48CB-8F32-4FFE47AA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cdcc7f83ad8a48e8"/>
              </a:rPr>
              <a:t>Rolling strain on EMI and mechanical properties of Mg-9Li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124F41E-FF56-463C-B672-60179E14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8132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e4962ddf5cb64374"/>
              </a:rPr>
              <a:t>2019｜10.1016/j.matchar.2019.109924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AB332DD-34A0-459E-8D41-D3487FA2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813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a809c88a293f4a57"/>
              </a:rPr>
              <a:t>Enhanced EMI in Mg-9Li-3Al-1Zn after ARB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206C148-89B0-4DBF-B00F-80ED76C6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1947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e2d45ef180214915"/>
              </a:rPr>
              <a:t>2020｜10.1007/s40195-020-01017-z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90AFDF6-8630-44B1-B660-0859EE43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e2fc1e69870d4632"/>
              </a:rPr>
              <a:t>Good balance between mechanical properties and EMI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87A09B2-A042-4DAA-9940-C6BFB3B0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5762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882401bff6b94b44"/>
              </a:rPr>
              <a:t>2022｜10.1016/j.matchar.2022.111888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2AA1C55-A7B2-4320-8773-33CF9180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7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d21dab9125704a65"/>
              </a:rPr>
              <a:t>EMI shielding Mg matrix materials and processings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25B1D7A-F111-4D89-81EE-2C3E2FBA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9577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5bd0f2f38e0c4cfe"/>
              </a:rPr>
              <a:t>2022｜10.1016/s1003-6326(22)65881-3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BA027D1-1997-49C8-87AC-B54AD65C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958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e43f0252f8e243d1"/>
              </a:rPr>
              <a:t>Mg-Li-Zn-Gd/MWCNTs: X-band EMI and strength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56AE3F4-89BC-498A-81B2-5B53A51C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3392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0a4916ca3d834b7e"/>
              </a:rPr>
              <a:t>2021｜10.1016/j.jallcom.2021.160524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A2F21D9-472D-4D50-83BC-10B09636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339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2850f25f18df4cf1"/>
              </a:rPr>
              <a:t>Mg-14Li-1Al/MWCNTs by EPD and ARB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D8BDD79A-2D7B-4E0F-88B7-2D91ACD0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7207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d6b2dcba80d94507"/>
              </a:rPr>
              <a:t>2021｜10.1016/j.jmapro.2021.10.040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8D5CDD02-4B13-47F0-9D37-7466CCD8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721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68e41d84a63a4703"/>
              </a:rPr>
              <a:t>High specific strength MWCNTs/Mg-14Li-1Al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B4FAFB6-4F23-48C6-8B1C-7C473E09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1022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cd78ec02782e4e52"/>
              </a:rPr>
              <a:t>2022｜10.1016/s1003-6326(22)66067-9</a:t>
            </a:r>
          </a:p>
        </p:txBody>
      </p:sp>
      <p:sp>
        <p:nvSpPr>
          <p:cNvPr id="37" name="rect">
            <a:extLst xmlns:a="http://schemas.openxmlformats.org/drawingml/2006/main">
              <a:ext uri="{FF2B5EF4-FFF2-40B4-BE49-F238E27FC236}">
                <a16:creationId xmlns:a16="http://schemas.microsoft.com/office/drawing/2014/main" id="{BABC1448-6FC8-439B-8683-9D77923B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38300"/>
            <a:ext cx="32385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2C06CB87-2D31-49E9-9F93-97A17403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38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CB7EC33-279B-4A50-B75D-65ABE702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050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42033"/>
                </a:solidFill>
                <a:latin typeface="Noto Sans SC"/>
                <a:ea typeface="Noto Sans SC"/>
                <a:cs typeface="Noto Sans SC"/>
              </a:rPr>
              <a:t>专利与公开报道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B365EF2-62F4-4FF9-AB57-F2F41ABC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050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3a8d023bb17a4453"/>
              </a:rPr>
              <a:t>高屏蔽性能镁锂合金及其制备方法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67322039-E51C-4A73-BD20-C1D07684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4317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b9a6dfb86cc1493d"/>
              </a:rPr>
              <a:t>CN109609823A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2A2909BD-2680-4D27-B3B4-D2F28E25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432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f766eab1c70a4f09"/>
              </a:rPr>
              <a:t>高强韧性镁锂合金 ARB 制备方法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86E8EFB1-2426-4DE3-AAAE-6AD30206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8132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961b45fa72be4125"/>
              </a:rPr>
              <a:t>CN104498793B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5D033AEF-2EC1-41C2-82C2-EE3D7957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813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b902070c396e4fa4"/>
              </a:rPr>
              <a:t>三维点阵电磁屏蔽通风波导窗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888C7043-9C07-4224-B3FA-939F4E5E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1947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0f33ce51cf544dbd"/>
              </a:rPr>
              <a:t>CN220068166U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D843C716-D902-42F6-B82A-9757055F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d87e9f6941344791"/>
              </a:rPr>
              <a:t>挑战杯特等奖项目报道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F96EC540-176A-4873-9CE1-8850D668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5762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0a65c48a4b0a499b"/>
              </a:rPr>
              <a:t>chinahlj.cn/news/792743.html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80C3F816-BFEB-4697-BA29-D7F1E1A2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73e1ea06f0c74453"/>
              </a:rPr>
              <a:t>挑战杯整体成果报道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CE90E549-5E60-452B-9B8B-75BB85EC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9577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8d587dcb52634164"/>
              </a:rPr>
              <a:t>xyh.univs.cn/.../1874467.shtml</a:t>
            </a:r>
          </a:p>
        </p:txBody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91808AA4-7EB0-4393-A915-55556CEB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958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142033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c58f35a7fbc24296"/>
              </a:rPr>
              <a:t>Google Scholar 检索入口</a:t>
            </a:r>
          </a:p>
        </p:txBody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FBC7AF1C-CAB5-45A4-9065-F3010C31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3392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</a:defRPr>
            </a:pPr>
            <a:r>
              <a:rPr sz="713" b="0">
                <a:solidFill>
                  <a:srgbClr val="2E68D9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7a5d735f060a40d6"/>
              </a:rPr>
              <a:t>Mg-Li + EMI shielding</a:t>
            </a:r>
          </a:p>
        </p:txBody>
      </p:sp>
      <p:sp>
        <p:nvSpPr>
          <p:cNvPr id="52" name="rect">
            <a:extLst xmlns:a="http://schemas.openxmlformats.org/drawingml/2006/main">
              <a:ext uri="{FF2B5EF4-FFF2-40B4-BE49-F238E27FC236}">
                <a16:creationId xmlns:a16="http://schemas.microsoft.com/office/drawing/2014/main" id="{42039D11-F75C-4005-A330-8FDAD994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D"/>
          </a:solidFill>
          <a:ln xmlns:a="http://schemas.openxmlformats.org/drawingml/2006/main" w="9525">
            <a:solidFill>
              <a:srgbClr val="E4D2AB"/>
            </a:solidFill>
            <a:prstDash val="solid"/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B0E5F73A-81B5-492D-96EB-013046B7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05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67502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75029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675029"/>
                </a:solidFill>
                <a:latin typeface="Noto Sans SC"/>
                <a:ea typeface="Noto Sans SC"/>
                <a:cs typeface="Noto Sans SC"/>
              </a:rPr>
              <a:t>说明：官方报道的4篇SCI+1篇北大核心完整清单未公开；附录列出可核验的公开题录、专利与报道链接。</a:t>
            </a:r>
          </a:p>
        </p:txBody>
      </p:sp>
    </p:spTree>
    <p:extLst>
      <p:ext uri="{BB962C8B-B14F-4D97-AF65-F5344CB8AC3E}">
        <p14:creationId xmlns:p14="http://schemas.microsoft.com/office/powerpoint/2010/main" val="1988984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2026-10-08T09:36:49.4960000Z</dcterms:created>
  <dcterms:modified xsi:type="dcterms:W3CDTF">2026-10-08T09:36:49.4960000Z</dcterms:modified>
</coreProperties>
</file>