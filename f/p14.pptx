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79847"/>
            <a:ext cx="18415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第十八届挑战杯　·　主体赛特等奖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1648" y="1479847"/>
            <a:ext cx="9967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2026 / 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35472"/>
            <a:ext cx="9956800" cy="25789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192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C8A870"/>
                </a:solidFill>
                <a:latin typeface="Cambria"/>
                <a:ea typeface="Noto Sans SC"/>
              </a:rPr>
              <a:t>御磁坚盾</a:t>
            </a:r>
            <a:r>
              <a:rPr sz="6200" b="1">
                <a:solidFill>
                  <a:srgbClr val="E2DCD0"/>
                </a:solidFill>
                <a:latin typeface="Cambria"/>
                <a:ea typeface="Noto Sans SC"/>
              </a:rPr>
              <a:t>——国内首创超轻高</a:t>
            </a:r>
          </a:p>
          <a:p>
            <a:pPr algn="l">
              <a:lnSpc>
                <a:spcPts val="7192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E2DCD0"/>
                </a:solidFill>
                <a:latin typeface="Cambria"/>
                <a:ea typeface="Noto Sans SC"/>
              </a:rPr>
              <a:t>强韧镁锂基电磁屏蔽材料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51039"/>
            <a:ext cx="1979513" cy="2568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DM Sans"/>
                <a:ea typeface="Noto Sans SC"/>
              </a:rPr>
              <a:t>汇报人：翔安校科创 C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8713" y="4471689"/>
            <a:ext cx="495300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6 名成员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24710"/>
            <a:ext cx="23431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/>
              </a:rPr>
              <a:t>朱雅琪</a:t>
            </a: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　资料搜集、策划书制作、推文完善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267" y="4824710"/>
            <a:ext cx="2221011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/>
              </a:rPr>
              <a:t>江佳忆</a:t>
            </a: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　PPT 完善、资料搜集、汇报答辩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0233" y="4824710"/>
            <a:ext cx="1617761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/>
              </a:rPr>
              <a:t>黄道然</a:t>
            </a: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　资料搜集、PPT 完善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33181"/>
            <a:ext cx="1376461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/>
              </a:rPr>
              <a:t>叶国为</a:t>
            </a: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　PPT 制作、汇报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7267" y="5133181"/>
            <a:ext cx="893861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/>
              </a:rPr>
              <a:t>易安</a:t>
            </a: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　PPT 制作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0233" y="5133181"/>
            <a:ext cx="8953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/>
              </a:rPr>
              <a:t>袁浩</a:t>
            </a: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　推文制作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御磁坚盾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02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44650"/>
            <a:ext cx="15240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内容导航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050" y="3316089"/>
            <a:ext cx="172739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8A870"/>
                </a:solidFill>
                <a:latin typeface="IBM Plex Mono Medium"/>
                <a:ea typeface="Noto Sans SC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2400" y="3309739"/>
            <a:ext cx="635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开场引入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103" y="3316089"/>
            <a:ext cx="12573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挑战杯赛事与项目荣誉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10384"/>
            <a:ext cx="172739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8A870"/>
                </a:solidFill>
                <a:latin typeface="IBM Plex Mono Medium"/>
                <a:ea typeface="Noto Sans SC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2400" y="3704034"/>
            <a:ext cx="78105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背景与灵感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103" y="3710384"/>
            <a:ext cx="16192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航空电磁之困与弹球游戏启发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04679"/>
            <a:ext cx="172739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8A870"/>
                </a:solidFill>
                <a:latin typeface="IBM Plex Mono Medium"/>
                <a:ea typeface="Noto Sans SC Medium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2400" y="4098329"/>
            <a:ext cx="635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项目概况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103" y="4104679"/>
            <a:ext cx="1674812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基础信息 · 项目内容 · 名师支撑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400" y="3316089"/>
            <a:ext cx="172739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8A870"/>
                </a:solidFill>
                <a:latin typeface="IBM Plex Mono Medium"/>
                <a:ea typeface="Noto Sans SC Medium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9750" y="3309739"/>
            <a:ext cx="78105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创新与成果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1529" y="3316089"/>
            <a:ext cx="2124868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三项创新 · 核心指标 · 学术成果 · 产业化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3710384"/>
            <a:ext cx="172739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8A870"/>
                </a:solidFill>
                <a:latin typeface="IBM Plex Mono Medium"/>
                <a:ea typeface="Noto Sans SC Medium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9750" y="3704034"/>
            <a:ext cx="6350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团队介绍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1529" y="3710384"/>
            <a:ext cx="1674812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八人分工 · 团队形成 · 协作传承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4104679"/>
            <a:ext cx="172739" cy="162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8A870"/>
                </a:solidFill>
                <a:latin typeface="IBM Plex Mono Medium"/>
                <a:ea typeface="Noto Sans SC Medium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9750" y="4098329"/>
            <a:ext cx="78105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历程与启示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1529" y="4104679"/>
            <a:ext cx="1466056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发展历程 · 总结与科创启示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04814"/>
            <a:ext cx="321567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5350" y="2576314"/>
            <a:ext cx="8940800" cy="20403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2DCD0"/>
                </a:solidFill>
                <a:latin typeface="Cambria"/>
                <a:ea typeface="Noto Sans SC Medium"/>
              </a:rPr>
              <a:t>“</a:t>
            </a:r>
            <a:r>
              <a:rPr sz="4800" b="0">
                <a:solidFill>
                  <a:srgbClr val="E2DCD0"/>
                </a:solidFill>
                <a:latin typeface="Cambria"/>
                <a:ea typeface="Noto Sans SC Medium"/>
              </a:rPr>
              <a:t>挑战杯</a:t>
            </a:r>
            <a:r>
              <a:rPr sz="4800" b="1">
                <a:solidFill>
                  <a:srgbClr val="E2DCD0"/>
                </a:solidFill>
                <a:latin typeface="Cambria"/>
                <a:ea typeface="Noto Sans SC Medium"/>
              </a:rPr>
              <a:t>”</a:t>
            </a:r>
            <a:r>
              <a:rPr sz="4800" b="0">
                <a:solidFill>
                  <a:srgbClr val="E2DCD0"/>
                </a:solidFill>
                <a:latin typeface="Cambria"/>
                <a:ea typeface="Noto Sans SC Medium"/>
              </a:rPr>
              <a:t>全国大学生课外学术科</a:t>
            </a:r>
          </a:p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/>
                <a:ea typeface="Noto Sans SC Medium"/>
              </a:rPr>
              <a:t>技作品竞赛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42395"/>
            <a:ext cx="5765800" cy="754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/>
              </a:rPr>
              <a:t>挑战杯，大学生科创的最高舞台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/>
              </a:rPr>
              <a:t>认识“大挑”，看懂这份荣誉的分量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04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519362"/>
            <a:ext cx="4864100" cy="2729507"/>
          </a:xfrm>
          <a:prstGeom prst="rect">
            <a:avLst/>
          </a:prstGeom>
        </p:spPr>
      </p:pic>
      <p:pic>
        <p:nvPicPr>
          <p:cNvPr id="4" name="Picture 3" descr="slide04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519362"/>
            <a:ext cx="4864100" cy="2803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开场引入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04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" y="1177528"/>
            <a:ext cx="5116413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认识</a:t>
            </a:r>
            <a:r>
              <a:rPr sz="2900" b="1">
                <a:solidFill>
                  <a:srgbClr val="1A2030"/>
                </a:solidFill>
                <a:latin typeface="Cambria"/>
                <a:ea typeface="Noto Sans SC Medium"/>
              </a:rPr>
              <a:t>“</a:t>
            </a: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大挑</a:t>
            </a:r>
            <a:r>
              <a:rPr sz="2900" b="1">
                <a:solidFill>
                  <a:srgbClr val="1A2030"/>
                </a:solidFill>
                <a:latin typeface="Cambria"/>
                <a:ea typeface="Noto Sans SC Medium"/>
              </a:rPr>
              <a:t>”</a:t>
            </a: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：赛事介绍与含金量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1466"/>
            <a:ext cx="1937841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“大挑”赛事要点——理解这份荣誉的分量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3371"/>
            <a:ext cx="18593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35" y="2118121"/>
            <a:ext cx="1117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030"/>
                </a:solidFill>
                <a:latin typeface="Cambria"/>
                <a:ea typeface="Noto Sans SC Medium"/>
              </a:rPr>
              <a:t>一、基础信息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3800" y="2207021"/>
            <a:ext cx="18593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7835" y="2118121"/>
            <a:ext cx="182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030"/>
                </a:solidFill>
                <a:latin typeface="Cambria"/>
                <a:ea typeface="Noto Sans SC Medium"/>
              </a:rPr>
              <a:t>二、赛事含金量与价值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12891"/>
            <a:ext cx="4257476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左图：“大挑”赛事基础信息　　右图：赛事含金量与价值　（素材整理自“大挑”赛事介绍）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开场引入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05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486"/>
            <a:ext cx="41021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挑战杯舞台上的御磁坚盾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32075"/>
            <a:ext cx="24257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挑战杯被誉为当代大学生科技创新的奥林匹克盛会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96530"/>
            <a:ext cx="7594600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DCD0"/>
                </a:solidFill>
                <a:latin typeface="Cambria"/>
                <a:ea typeface="Noto Sans SC Medium"/>
              </a:rPr>
              <a:t>挑战杯舞台之上，</a:t>
            </a:r>
            <a:r>
              <a:rPr sz="1800" b="0">
                <a:solidFill>
                  <a:srgbClr val="C8A870"/>
                </a:solidFill>
                <a:latin typeface="Cambria"/>
                <a:ea typeface="Noto Sans SC Medium"/>
              </a:rPr>
              <a:t>御磁坚盾</a:t>
            </a:r>
            <a:r>
              <a:rPr sz="1800" b="0">
                <a:solidFill>
                  <a:srgbClr val="E2DCD0"/>
                </a:solidFill>
                <a:latin typeface="Cambria"/>
                <a:ea typeface="Noto Sans SC Medium"/>
              </a:rPr>
              <a:t>以材料之韧守护科技之梦，点亮青年创新之光。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6560"/>
            <a:ext cx="80476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01　赛事影响力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4145160"/>
            <a:ext cx="29845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第十八届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挑战杯全国大学生课外学术科技作品竞赛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4464050"/>
            <a:ext cx="23177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全国</a:t>
            </a: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最具影响力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的大学生科创赛事之一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916560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02　团队登台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3150" y="4145160"/>
            <a:ext cx="181987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哈尔滨工程大学</a:t>
            </a: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 御磁坚盾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3150" y="4464050"/>
            <a:ext cx="20510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荣获第十八届挑战杯主体赛</a:t>
            </a:r>
            <a:r>
              <a:rPr sz="1050" b="0">
                <a:solidFill>
                  <a:srgbClr val="C8A870"/>
                </a:solidFill>
                <a:latin typeface="DM Sans"/>
                <a:ea typeface="Noto Sans SC"/>
              </a:rPr>
              <a:t>特等奖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916560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03　项目定位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4195960"/>
            <a:ext cx="3251200" cy="604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国内首个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集超轻、高强韧、高电磁屏蔽性于一体的</a:t>
            </a:r>
          </a:p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多功能镁锂基复合材料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35684"/>
            <a:ext cx="2489200" cy="8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/>
                <a:ea typeface="Noto Sans SC Medium"/>
              </a:rPr>
              <a:t>项目概况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/>
              </a:rPr>
              <a:t>八人团队，三年探索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/>
              </a:rPr>
              <a:t>从学院课堂到国家需求的完整项目画像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07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7343"/>
            <a:ext cx="22606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基础信息一览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4068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750" y="2440682"/>
            <a:ext cx="243324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御磁坚盾——超轻高强韧镁锂基电磁屏蔽材料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263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参赛赛事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5400" y="2802632"/>
            <a:ext cx="21018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第十八届挑战杯课外学术科技作品竞赛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458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参赛赛道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5400" y="3164582"/>
            <a:ext cx="4127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主体赛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653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推报学院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5400" y="3526532"/>
            <a:ext cx="13779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材料科学与化学工程学院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848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团队规模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5400" y="3888482"/>
            <a:ext cx="1999555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8 名本科生（大四 4 人、大三 4 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043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指导教师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5400" y="4250432"/>
            <a:ext cx="13779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巫瑞智、张万顺、侯乐干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238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获奖等级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5400" y="4612382"/>
            <a:ext cx="7747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主体赛特等奖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74332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研究周期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5400" y="4974332"/>
            <a:ext cx="2811164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探索约三年，2022 年 8 月至 2023 年 5 月集中实验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08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0976"/>
            <a:ext cx="41021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项目内容：面向国家需求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4914"/>
            <a:ext cx="28575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超轻高强韧镁锂基电磁屏蔽材料，面向新质生产力应用需求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2070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2500" y="2816820"/>
            <a:ext cx="2717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/>
                <a:ea typeface="Noto Sans SC Medium"/>
              </a:rPr>
              <a:t>超轻高强韧镁锂基电磁屏蔽材料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9270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价值定位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2500" y="3274020"/>
            <a:ext cx="545465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在传统基础制造业基础上，面向</a:t>
            </a: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工业互联网、新能源智能汽车</a:t>
            </a: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等新质生产力应用需求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4627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核心功能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2500" y="3749377"/>
            <a:ext cx="560070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为</a:t>
            </a: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航空航天、雷达通信</a:t>
            </a: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等设备提供电磁屏蔽防护，同时提高材料强度和韧性、降低重量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9984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应用场景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2500" y="4224734"/>
            <a:ext cx="311785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航空航天、雷达通信、信息安全、民生电子消费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95341"/>
            <a:ext cx="566439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产业化进展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2500" y="4700091"/>
            <a:ext cx="6623050" cy="2225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3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在负责人</a:t>
            </a:r>
            <a:r>
              <a:rPr sz="1150" b="0">
                <a:solidFill>
                  <a:srgbClr val="1A2030"/>
                </a:solidFill>
                <a:latin typeface="DM Sans"/>
                <a:ea typeface="Noto Sans SC"/>
              </a:rPr>
              <a:t>郭政佑</a:t>
            </a:r>
            <a:r>
              <a:rPr sz="1150" b="0">
                <a:solidFill>
                  <a:srgbClr val="5A6270"/>
                </a:solidFill>
                <a:latin typeface="DM Sans"/>
                <a:ea typeface="Noto Sans SC"/>
              </a:rPr>
              <a:t>牵头下达成代工合作协议，实现超薄箔材的产业化成形验证，同多家企业开展密切合作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项目概况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09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3010"/>
            <a:ext cx="33655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名师领航与学科支撑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0598"/>
            <a:ext cx="19939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强大导师团队与学科平台是项目坚实后盾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5353"/>
            <a:ext cx="1193800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DCD0"/>
                </a:solidFill>
                <a:latin typeface="Cambria"/>
                <a:ea typeface="Noto Sans SC Medium"/>
              </a:rPr>
              <a:t>巫瑞智教授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4234"/>
            <a:ext cx="1270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全球前 2% 顶尖科学家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3009"/>
            <a:ext cx="27672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0821" y="3478609"/>
            <a:ext cx="1016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终身成就榜入选者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53259"/>
            <a:ext cx="27672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0821" y="4208859"/>
            <a:ext cx="12573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稀土科学技术奖一等奖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83509"/>
            <a:ext cx="27672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0821" y="4939109"/>
            <a:ext cx="1972071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国际镁科学与技术 2022 年度青年奖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13759"/>
            <a:ext cx="17780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指导教师：巫瑞智、张万顺、侯乐干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7101" y="2349003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01　学科平台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7101" y="2564903"/>
            <a:ext cx="41021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6A8"/>
                </a:solidFill>
                <a:latin typeface="DM Sans"/>
                <a:ea typeface="Noto Sans SC"/>
              </a:rPr>
              <a:t>材料科学与工程学科，依托</a:t>
            </a:r>
            <a:r>
              <a:rPr sz="1100" b="0">
                <a:solidFill>
                  <a:srgbClr val="E2DCD0"/>
                </a:solidFill>
                <a:latin typeface="DM Sans"/>
                <a:ea typeface="Noto Sans SC"/>
              </a:rPr>
              <a:t>超轻材料与表面技术教育部重点实验室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7101" y="3066752"/>
            <a:ext cx="80476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02　学术影响力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7101" y="3358852"/>
            <a:ext cx="27672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/>
                <a:ea typeface="Noto Sans SC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7101" y="3981152"/>
            <a:ext cx="1093886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ESI 热点论文（篇）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7" y="3358852"/>
            <a:ext cx="50254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/>
                <a:ea typeface="Noto Sans SC Medium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7" y="3981152"/>
            <a:ext cx="10160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高被引论文（篇）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634" y="3358852"/>
            <a:ext cx="50254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/>
                <a:ea typeface="Noto Sans SC Medium"/>
              </a:rPr>
              <a:t>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4634" y="3981152"/>
            <a:ext cx="679846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个人 H 因子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42034"/>
            <a:ext cx="3098800" cy="8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/>
                <a:ea typeface="Noto Sans SC Medium"/>
              </a:rPr>
              <a:t>背景与灵感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/>
              </a:rPr>
              <a:t>灵感藏在生活的细节里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/>
              </a:rPr>
              <a:t>一个弹球小游戏，打开电磁屏蔽新思路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1_s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410321"/>
            <a:ext cx="3924300" cy="3006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背景与灵感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11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71984"/>
            <a:ext cx="41021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航空设备的电磁干扰之困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9572"/>
            <a:ext cx="11303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电磁屏蔽的困局与破局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84800" y="2212578"/>
            <a:ext cx="495300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01　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84800" y="2390378"/>
            <a:ext cx="10795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Cambria"/>
                <a:ea typeface="Noto Sans SC Medium"/>
              </a:rPr>
              <a:t>电磁屏蔽用途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4800" y="2662138"/>
            <a:ext cx="4495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解决</a:t>
            </a:r>
            <a:r>
              <a:rPr sz="1000" b="0">
                <a:solidFill>
                  <a:srgbClr val="E2DCD0"/>
                </a:solidFill>
                <a:latin typeface="DM Sans"/>
                <a:ea typeface="Noto Sans SC"/>
              </a:rPr>
              <a:t>电磁泄漏</a:t>
            </a: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与</a:t>
            </a:r>
            <a:r>
              <a:rPr sz="1000" b="0">
                <a:solidFill>
                  <a:srgbClr val="E2DCD0"/>
                </a:solidFill>
                <a:latin typeface="DM Sans"/>
                <a:ea typeface="Noto Sans SC"/>
              </a:rPr>
              <a:t>电磁干扰</a:t>
            </a: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，在信息安全、航空航天、民用设备领域都是研发重点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4800" y="3115468"/>
            <a:ext cx="495300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02　危害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4800" y="3293268"/>
            <a:ext cx="90805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Cambria"/>
                <a:ea typeface="Noto Sans SC Medium"/>
              </a:rPr>
              <a:t>电磁波危害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4800" y="3565028"/>
            <a:ext cx="3987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外层空间复杂电磁波环境会造成设备</a:t>
            </a:r>
            <a:r>
              <a:rPr sz="1000" b="0">
                <a:solidFill>
                  <a:srgbClr val="E2DCD0"/>
                </a:solidFill>
                <a:latin typeface="DM Sans"/>
                <a:ea typeface="Noto Sans SC"/>
              </a:rPr>
              <a:t>精度下降、错误操作乃至系统崩溃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4800" y="4018359"/>
            <a:ext cx="495300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03　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4800" y="4196159"/>
            <a:ext cx="10795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Cambria"/>
                <a:ea typeface="Noto Sans SC Medium"/>
              </a:rPr>
              <a:t>传统材料痛点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4800" y="4467919"/>
            <a:ext cx="5130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常用金属基屏蔽材料以铁、银、镍、铜、铝为代表，屏蔽性能优异但</a:t>
            </a:r>
            <a:r>
              <a:rPr sz="1000" b="0">
                <a:solidFill>
                  <a:srgbClr val="E2DCD0"/>
                </a:solidFill>
                <a:latin typeface="DM Sans"/>
                <a:ea typeface="Noto Sans SC"/>
              </a:rPr>
              <a:t>重量不够轻、加工性差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4800" y="4921250"/>
            <a:ext cx="495300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04　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4800" y="5099050"/>
            <a:ext cx="1079500" cy="260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Cambria"/>
                <a:ea typeface="Noto Sans SC Medium"/>
              </a:rPr>
              <a:t>镁锂合金方向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4800" y="5370810"/>
            <a:ext cx="5384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"/>
                <a:ea typeface="Noto Sans SC"/>
              </a:rPr>
              <a:t>世界上最轻的金属结构材料</a:t>
            </a: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，是理想选材，但工程应用需协同提高功能、结构、工艺三方面性能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背景与灵感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12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41797"/>
            <a:ext cx="33655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弹球游戏撞开新思路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89385"/>
            <a:ext cx="32893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如果在材料内部设置一道道墙壁，电磁波就会在反复反射中不断损耗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5741"/>
            <a:ext cx="6584255" cy="336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030"/>
                </a:solidFill>
                <a:latin typeface="Cambria"/>
                <a:ea typeface="Noto Sans SC Medium"/>
              </a:rPr>
              <a:t>灵感来自游戏，原理归于物理——让电磁波在</a:t>
            </a:r>
            <a:r>
              <a:rPr sz="1800" b="0">
                <a:solidFill>
                  <a:srgbClr val="C8A870"/>
                </a:solidFill>
                <a:latin typeface="Cambria"/>
                <a:ea typeface="Noto Sans SC Medium"/>
              </a:rPr>
              <a:t>反复反射</a:t>
            </a:r>
            <a:r>
              <a:rPr sz="1800" b="0">
                <a:solidFill>
                  <a:srgbClr val="1A2030"/>
                </a:solidFill>
                <a:latin typeface="Cambria"/>
                <a:ea typeface="Noto Sans SC Medium"/>
              </a:rPr>
              <a:t>中自然消减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84971"/>
            <a:ext cx="159414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灵感来源　生活现象 · 科学启发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3826271"/>
            <a:ext cx="28511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团队负责人</a:t>
            </a:r>
            <a:r>
              <a:rPr sz="1050" b="0">
                <a:solidFill>
                  <a:srgbClr val="1A2030"/>
                </a:solidFill>
                <a:latin typeface="DM Sans"/>
                <a:ea typeface="Noto Sans SC"/>
              </a:rPr>
              <a:t>郭政佑</a:t>
            </a: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从微信弹球小游戏中获得灵感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4145160"/>
            <a:ext cx="23177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弹球在墙壁间反复碰撞会不断消耗能量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584971"/>
            <a:ext cx="169723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科学转化　理论建模 · 可行性验证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3225" y="3826271"/>
            <a:ext cx="36512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类比到材料：在内部设置多道平行界面，增加电磁波反射次数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9575" y="4145160"/>
            <a:ext cx="39179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结合传统电磁反射损耗原理，建立多维平行界面电磁损耗计算模型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4514850"/>
            <a:ext cx="4822825" cy="604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成功计算出电磁波进入材料后的反射路径与损耗，从理论上证明设想的可行</a:t>
            </a:r>
          </a:p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3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1744662"/>
            <a:ext cx="3670300" cy="2024360"/>
          </a:xfrm>
          <a:prstGeom prst="rect">
            <a:avLst/>
          </a:prstGeom>
        </p:spPr>
      </p:pic>
      <p:pic>
        <p:nvPicPr>
          <p:cNvPr id="4" name="Picture 3" descr="slide13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50" y="4035722"/>
            <a:ext cx="3670300" cy="20340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背景与灵感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13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46918"/>
            <a:ext cx="3643213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把电磁波消灭在</a:t>
            </a:r>
            <a:r>
              <a:rPr sz="2900" b="1">
                <a:solidFill>
                  <a:srgbClr val="E2DCD0"/>
                </a:solidFill>
                <a:latin typeface="Cambria"/>
                <a:ea typeface="Noto Sans SC Medium"/>
              </a:rPr>
              <a:t>“</a:t>
            </a: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墙</a:t>
            </a:r>
            <a:r>
              <a:rPr sz="2900" b="1">
                <a:solidFill>
                  <a:srgbClr val="E2DCD0"/>
                </a:solidFill>
                <a:latin typeface="Cambria"/>
                <a:ea typeface="Noto Sans SC Medium"/>
              </a:rPr>
              <a:t>”</a:t>
            </a: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4507"/>
            <a:ext cx="27495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多维平行界面结构示意：让电磁波在反复反射中持续损耗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0800" y="3030934"/>
            <a:ext cx="749300" cy="984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500" b="0">
                <a:solidFill>
                  <a:srgbClr val="C8A870"/>
                </a:solidFill>
                <a:latin typeface="Cambria"/>
                <a:ea typeface="Noto Sans SC"/>
              </a:rPr>
              <a:t>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0800" y="3780234"/>
            <a:ext cx="6197600" cy="1031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/>
                <a:ea typeface="Noto Sans SC"/>
              </a:rPr>
              <a:t>在材料内部竖起一道道‘墙壁’，增加电磁波在‘墙壁’间的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/>
                <a:ea typeface="Noto Sans SC"/>
              </a:rPr>
              <a:t>反射次数，让它的力量逐渐减弱，难以穿透材料。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35684"/>
            <a:ext cx="3098800" cy="8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/>
              </a:rPr>
              <a:t>把电磁波消灭在墙内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/>
              </a:rPr>
              <a:t>屏蔽效能提升 15%-25%，重量降低 20%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创新与成果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15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3459"/>
            <a:ext cx="41021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三重突破破解跷跷板难题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1047"/>
            <a:ext cx="29654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功能、结构、工艺三方面性能的协同提升，如同跷跷板找平衡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9453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三大矛盾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6803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功能方面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77393"/>
            <a:ext cx="3225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传统提升屏蔽性能的方法往往使材料强度变差或重量上升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57724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结构方面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8314"/>
            <a:ext cx="2336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镁锂基材料强度提高时，塑韧性相应降低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18645"/>
            <a:ext cx="762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工艺方面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99235"/>
            <a:ext cx="2082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传统复合工艺危险性高且复合效果差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2609453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三项创新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003153"/>
            <a:ext cx="4822825" cy="428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870"/>
                </a:solidFill>
                <a:latin typeface="IBM Plex Mono Medium"/>
                <a:ea typeface="Noto Sans SC Medium"/>
              </a:rPr>
              <a:t>01</a:t>
            </a: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多维平行界面损耗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594893"/>
            <a:ext cx="4822825" cy="428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870"/>
                </a:solidFill>
                <a:latin typeface="IBM Plex Mono Medium"/>
                <a:ea typeface="Noto Sans SC Medium"/>
              </a:rPr>
              <a:t>02</a:t>
            </a: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镁锂合金强塑性协同提升技术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186634"/>
            <a:ext cx="4822825" cy="428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870"/>
                </a:solidFill>
                <a:latin typeface="IBM Plex Mono Medium"/>
                <a:ea typeface="Noto Sans SC Medium"/>
              </a:rPr>
              <a:t>03</a:t>
            </a: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纳米碳基镁锂合金固态复合工艺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6_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277864"/>
            <a:ext cx="4913610" cy="31196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16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2775"/>
            <a:ext cx="63119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创新一　跌轧造多界面，减重提升屏蔽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6960" y="2195314"/>
            <a:ext cx="9078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01　累积叠轧工艺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7310" y="2436614"/>
            <a:ext cx="41846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把材料反复擀平、切开、叠起、再擀，形成数量巨大的高平行度界面。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310" y="2806303"/>
            <a:ext cx="5004990" cy="604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调整叠轧温度参数、反复优化单次压下量，</a:t>
            </a:r>
            <a:r>
              <a:rPr sz="1050" b="0">
                <a:solidFill>
                  <a:srgbClr val="C8A870"/>
                </a:solidFill>
                <a:latin typeface="DM Sans"/>
                <a:ea typeface="Noto Sans SC"/>
              </a:rPr>
              <a:t>反复实验五次</a:t>
            </a: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后得到理想的多维平行</a:t>
            </a:r>
          </a:p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界面。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310" y="3317081"/>
            <a:ext cx="37846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有效屏蔽波段范围</a:t>
            </a:r>
            <a:r>
              <a:rPr sz="1050" b="0">
                <a:solidFill>
                  <a:srgbClr val="1A2030"/>
                </a:solidFill>
                <a:latin typeface="DM Sans"/>
                <a:ea typeface="Noto Sans SC"/>
              </a:rPr>
              <a:t>远超</a:t>
            </a: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现有铜、铝、铁等金属基屏蔽结构材料。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310" y="3820120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对比维度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9849" y="3820120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提升幅度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310" y="4048720"/>
            <a:ext cx="2082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屏蔽效能（对比国外先进镁基材料）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0352" y="4048720"/>
            <a:ext cx="92729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A870"/>
                </a:solidFill>
                <a:latin typeface="Cambria"/>
                <a:ea typeface="Noto Sans SC Medium"/>
              </a:rPr>
              <a:t>15%—25%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310" y="4518620"/>
            <a:ext cx="558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重量降低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4043" y="4512270"/>
            <a:ext cx="41185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A870"/>
                </a:solidFill>
                <a:latin typeface="Cambria"/>
                <a:ea typeface="Noto Sans SC Medium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7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511" y="1777305"/>
            <a:ext cx="4986238" cy="41207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17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8567"/>
            <a:ext cx="66802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创新二：优化合金配比，强度韧性双提升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6835"/>
            <a:ext cx="139144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镁锂合金强塑性协同提升技术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735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时间跨度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800" y="3164185"/>
            <a:ext cx="1850032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DCD0"/>
                </a:solidFill>
                <a:latin typeface="DM Sans"/>
                <a:ea typeface="Noto Sans SC"/>
              </a:rPr>
              <a:t>2022 年 8 月至 2023 年 5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3833"/>
            <a:ext cx="66962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合金元素配比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2800" y="3761283"/>
            <a:ext cx="1231900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8A870"/>
                </a:solidFill>
                <a:latin typeface="DM Sans"/>
                <a:ea typeface="Noto Sans SC"/>
              </a:rPr>
              <a:t>15 种以上</a:t>
            </a:r>
            <a:r>
              <a:rPr sz="1100" b="0">
                <a:solidFill>
                  <a:srgbClr val="8A96A8"/>
                </a:solidFill>
                <a:latin typeface="DM Sans"/>
                <a:ea typeface="Noto Sans SC"/>
              </a:rPr>
              <a:t> 优化成分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40932"/>
            <a:ext cx="2570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机理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2800" y="4358382"/>
            <a:ext cx="3764061" cy="62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DCD0"/>
                </a:solidFill>
                <a:latin typeface="DM Sans"/>
                <a:ea typeface="Noto Sans SC"/>
              </a:rPr>
              <a:t>纳米析出强化</a:t>
            </a:r>
            <a:r>
              <a:rPr sz="1100" b="0">
                <a:solidFill>
                  <a:srgbClr val="8A96A8"/>
                </a:solidFill>
                <a:latin typeface="DM Sans"/>
                <a:ea typeface="Noto Sans SC"/>
              </a:rPr>
              <a:t> 与</a:t>
            </a:r>
            <a:r>
              <a:rPr sz="1100" b="0">
                <a:solidFill>
                  <a:srgbClr val="E2DCD0"/>
                </a:solidFill>
                <a:latin typeface="DM Sans"/>
                <a:ea typeface="Noto Sans SC"/>
              </a:rPr>
              <a:t> 剧烈塑性变形晶粒微细化</a:t>
            </a:r>
            <a:r>
              <a:rPr sz="1100" b="0">
                <a:solidFill>
                  <a:srgbClr val="8A96A8"/>
                </a:solidFill>
                <a:latin typeface="DM Sans"/>
                <a:ea typeface="Noto Sans SC"/>
              </a:rPr>
              <a:t>，实现强度与塑韧</a:t>
            </a:r>
          </a:p>
          <a:p>
            <a:pPr algn="l">
              <a:lnSpc>
                <a:spcPts val="200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6A8"/>
                </a:solidFill>
                <a:latin typeface="DM Sans"/>
                <a:ea typeface="Noto Sans SC"/>
              </a:rPr>
              <a:t>性协同提升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18_compo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248693"/>
            <a:ext cx="4838700" cy="2893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创新与成果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18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89955"/>
            <a:ext cx="63119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创新三：碳管电泳复合，制备超薄屏蔽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6814"/>
            <a:ext cx="3406179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固态复合后材料的结构示意图：镁锂合金基体 + 多壁碳纳米管复合夹层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0" y="3216473"/>
            <a:ext cx="149463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纳米碳基镁锂合金固态复合工艺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470473"/>
            <a:ext cx="3217366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增强体：多壁碳纳米管——</a:t>
            </a:r>
            <a:r>
              <a:rPr sz="1050" b="0">
                <a:solidFill>
                  <a:srgbClr val="1A2030"/>
                </a:solidFill>
                <a:latin typeface="DM Sans"/>
                <a:ea typeface="Noto Sans SC"/>
              </a:rPr>
              <a:t>抗变形、高导电性、低密度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789362"/>
            <a:ext cx="21844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工艺：</a:t>
            </a:r>
            <a:r>
              <a:rPr sz="1050" b="0">
                <a:solidFill>
                  <a:srgbClr val="1A2030"/>
                </a:solidFill>
                <a:latin typeface="DM Sans"/>
                <a:ea typeface="Noto Sans SC"/>
              </a:rPr>
              <a:t>电泳沉积</a:t>
            </a: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工艺，紧密结合均匀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108251"/>
            <a:ext cx="37846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/>
              </a:rPr>
              <a:t>成果：多功能镁锂基复合材料，制备出</a:t>
            </a:r>
            <a:r>
              <a:rPr sz="1050" b="0">
                <a:solidFill>
                  <a:srgbClr val="1A2030"/>
                </a:solidFill>
                <a:latin typeface="DM Sans"/>
                <a:ea typeface="Noto Sans SC"/>
              </a:rPr>
              <a:t>超薄镁锂基电磁屏蔽箔片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创新与成果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19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4210"/>
            <a:ext cx="37338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学术成果结出累累硕果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00399"/>
            <a:ext cx="87580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五类成果数量对比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041" y="4375249"/>
            <a:ext cx="179387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/>
                <a:ea typeface="Noto Sans SC Medium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0110" y="4362549"/>
            <a:ext cx="179387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0878" y="4362549"/>
            <a:ext cx="179387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4347" y="4368899"/>
            <a:ext cx="179387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/>
                <a:ea typeface="Noto Sans SC Medium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2416" y="4362549"/>
            <a:ext cx="179387" cy="393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409" y="4673699"/>
            <a:ext cx="412551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/>
              </a:rPr>
              <a:t>SCI 论文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2303" y="4673699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/>
              </a:rPr>
              <a:t>北大核心论文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6722" y="4673699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/>
              </a:rPr>
              <a:t>授权发明专利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3841" y="4673699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/>
              </a:rPr>
              <a:t>实用新型专利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135" y="4673699"/>
            <a:ext cx="52705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/>
              </a:rPr>
              <a:t>软件著作权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45174"/>
            <a:ext cx="5150544" cy="37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发文与知识产权成果总计</a:t>
            </a:r>
          </a:p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870"/>
                </a:solidFill>
                <a:latin typeface="Cambria"/>
                <a:ea typeface="Noto Sans SC Medium"/>
              </a:rPr>
              <a:t>10</a:t>
            </a:r>
          </a:p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0544" y="2400399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成果明细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0544" y="2743299"/>
            <a:ext cx="535086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SCI 论文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544" y="2743299"/>
            <a:ext cx="1498203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4 篇，含 3 篇学生第一作者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0544" y="3105249"/>
            <a:ext cx="812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北大核心论文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544" y="3105249"/>
            <a:ext cx="2412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1 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0544" y="3467199"/>
            <a:ext cx="812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授权发明专利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544" y="3467199"/>
            <a:ext cx="2412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1 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0544" y="3829149"/>
            <a:ext cx="812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实用新型专利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544" y="3829149"/>
            <a:ext cx="274935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3 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544" y="4191099"/>
            <a:ext cx="685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/>
              </a:rPr>
              <a:t>软件著作权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544" y="4191099"/>
            <a:ext cx="2412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/>
              </a:rPr>
              <a:t>1 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0544" y="4616549"/>
            <a:ext cx="16700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8A870"/>
                </a:solidFill>
                <a:latin typeface="DM Sans"/>
                <a:ea typeface="Noto Sans SC"/>
              </a:rPr>
              <a:t>学术成果丰硕，知识产权布局完整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创新与成果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20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67804"/>
            <a:ext cx="33655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产业化迈出坚实一步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5392"/>
            <a:ext cx="296545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项目已从实验室走向产业化验证，收获多家头部企业合作意向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16403" y="1746448"/>
            <a:ext cx="66962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代工合作落地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1931" y="1746448"/>
            <a:ext cx="566439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产业化验证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4271" y="1746448"/>
            <a:ext cx="66962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头部企业关注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9798" y="1746448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转化对接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2267148"/>
            <a:ext cx="76914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第 1 步　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800" y="2444948"/>
            <a:ext cx="1193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/>
                <a:ea typeface="Noto Sans SC Medium"/>
              </a:rPr>
              <a:t>代工合作落地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" y="2743398"/>
            <a:ext cx="4114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团队负责人</a:t>
            </a:r>
            <a:r>
              <a:rPr sz="1000" b="0">
                <a:solidFill>
                  <a:srgbClr val="C8A870"/>
                </a:solidFill>
                <a:latin typeface="DM Sans"/>
                <a:ea typeface="Noto Sans SC"/>
              </a:rPr>
              <a:t>郭政佑</a:t>
            </a: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牵头达成代工合作协议，完成超薄箔材产业化成形验证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3800" y="3164978"/>
            <a:ext cx="76914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第 2 步　关注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3800" y="3349128"/>
            <a:ext cx="1193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/>
                <a:ea typeface="Noto Sans SC Medium"/>
              </a:rPr>
              <a:t>头部企业关注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800" y="3653928"/>
            <a:ext cx="4563467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第二届全国先进技术成果转化大会上，收获</a:t>
            </a:r>
            <a:r>
              <a:rPr sz="1000" b="0">
                <a:solidFill>
                  <a:srgbClr val="1A2030"/>
                </a:solidFill>
                <a:latin typeface="DM Sans"/>
                <a:ea typeface="Noto Sans SC"/>
              </a:rPr>
              <a:t> 宝钢金属、长安汽车</a:t>
            </a: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 等企业合作意向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800" y="4088209"/>
            <a:ext cx="76914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第 3 步　亮相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3800" y="4266009"/>
            <a:ext cx="1384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/>
                <a:ea typeface="Noto Sans SC Medium"/>
              </a:rPr>
              <a:t>国家级路演亮相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3800" y="4564459"/>
            <a:ext cx="5301654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工信部 2023 年专项路演（雄安站）开幕式，全场仅</a:t>
            </a:r>
            <a:r>
              <a:rPr sz="1000" b="0">
                <a:solidFill>
                  <a:srgbClr val="1A2030"/>
                </a:solidFill>
                <a:latin typeface="DM Sans"/>
                <a:ea typeface="Noto Sans SC"/>
              </a:rPr>
              <a:t> 4 个</a:t>
            </a: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 亮相项目之一，郭政佑为唯一本科生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800" y="4986039"/>
            <a:ext cx="76914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第 4 步　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3800" y="5176539"/>
            <a:ext cx="1003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/>
                <a:ea typeface="Noto Sans SC Medium"/>
              </a:rPr>
              <a:t>下一步方向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3800" y="5474989"/>
            <a:ext cx="4495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开发更先进、更高效、更高质量的新型电磁屏蔽材料，拓展民生电子消费等领域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42034"/>
            <a:ext cx="2489200" cy="8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/>
                <a:ea typeface="Noto Sans SC Medium"/>
              </a:rP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/>
              </a:rPr>
              <a:t>八名本科生，各展所长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/>
              </a:rPr>
              <a:t>从机理研究到成果整理的完整协作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22_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2372121"/>
            <a:ext cx="3162300" cy="14698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22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26083"/>
            <a:ext cx="33655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八人团队与分工总览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4636" y="1845071"/>
            <a:ext cx="169376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成员年级：大四 4 人、大三 4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083248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机理研究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201" y="4083248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成分设计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2753" y="4083248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成形复合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9304" y="4083248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表征测试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56" y="4083248"/>
            <a:ext cx="46335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成果整理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7248"/>
            <a:ext cx="2587625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团队分工覆盖上述五大环节，环环相扣（原稿信息）。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91171"/>
            <a:ext cx="36026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成　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0" y="2391171"/>
            <a:ext cx="1391443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角色与主要分工（依据原稿）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19771"/>
            <a:ext cx="43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郭政佑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0" y="2619771"/>
            <a:ext cx="5803900" cy="5249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团队负责人：统筹项目整体；提出弹球游戏灵感；建立电磁损耗模型；开展时效热处理实验；主导电泳沉</a:t>
            </a:r>
          </a:p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积工艺；牵头达成代工合作协议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75992"/>
            <a:ext cx="43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李佳睿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0" y="3175992"/>
            <a:ext cx="4087117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团队成员：参与材料成分优化与性能平衡；参与超过 15 种合金元素配比实验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37942"/>
            <a:ext cx="43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张　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0" y="3537942"/>
            <a:ext cx="16192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团队成员：北大核心论文作者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99892"/>
            <a:ext cx="43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贾昊阳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4500" y="3899892"/>
            <a:ext cx="2198092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团队成员：北大核心论文作者、SCI 一作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61842"/>
            <a:ext cx="43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刘锦洋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0" y="4261842"/>
            <a:ext cx="234315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团队成员：参与合金材料研发，专利发明人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23792"/>
            <a:ext cx="1003300" cy="7645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蒋筱钰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周子晴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/>
              </a:rPr>
              <a:t>刘奕彤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0" y="4623792"/>
            <a:ext cx="22225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团队成员：参与项目实验检测和资料整理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23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460"/>
            <a:ext cx="41021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故事的起点：一堂导论课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67049"/>
            <a:ext cx="17780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一群志同道合的伙伴，从一堂课出发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8004"/>
            <a:ext cx="28956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Cambria"/>
                <a:ea typeface="Noto Sans SC Medium"/>
              </a:rPr>
              <a:t>兴趣是最强引擎，从</a:t>
            </a:r>
            <a:r>
              <a:rPr sz="1600" b="0">
                <a:solidFill>
                  <a:srgbClr val="C8A870"/>
                </a:solidFill>
                <a:latin typeface="Cambria"/>
                <a:ea typeface="Noto Sans SC Medium"/>
              </a:rPr>
              <a:t>一堂课</a:t>
            </a:r>
            <a:r>
              <a:rPr sz="1600" b="0">
                <a:solidFill>
                  <a:srgbClr val="E2DCD0"/>
                </a:solidFill>
                <a:latin typeface="Cambria"/>
                <a:ea typeface="Noto Sans SC Medium"/>
              </a:rPr>
              <a:t>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76314"/>
            <a:ext cx="459779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阶段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8714"/>
            <a:ext cx="229195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/>
                <a:ea typeface="Noto Sans SC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11314"/>
            <a:ext cx="10033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/>
                <a:ea typeface="Noto Sans SC Medium"/>
              </a:rPr>
              <a:t>导论课初识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4366914"/>
            <a:ext cx="7175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专业导论课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92153"/>
            <a:ext cx="3225800" cy="572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大二时，郭政佑在巫瑞智教授的专业导论课上第一次接触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到</a:t>
            </a:r>
            <a:r>
              <a:rPr sz="1000" b="0">
                <a:solidFill>
                  <a:srgbClr val="C8A870"/>
                </a:solidFill>
                <a:latin typeface="DM Sans"/>
                <a:ea typeface="Noto Sans SC"/>
              </a:rPr>
              <a:t>镁锂合金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550" y="3376314"/>
            <a:ext cx="459779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阶段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550" y="3528714"/>
            <a:ext cx="229195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/>
                <a:ea typeface="Noto Sans SC Medium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550" y="4011314"/>
            <a:ext cx="812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/>
                <a:ea typeface="Noto Sans SC Medium"/>
              </a:rPr>
              <a:t>加入课题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550" y="4366914"/>
            <a:ext cx="5842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浓厚兴趣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550" y="4692153"/>
            <a:ext cx="2933700" cy="572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带着浓厚兴趣，加入巫教授带领的</a:t>
            </a:r>
            <a:r>
              <a:rPr sz="1000" b="0">
                <a:solidFill>
                  <a:srgbClr val="C8A870"/>
                </a:solidFill>
                <a:latin typeface="DM Sans"/>
                <a:ea typeface="Noto Sans SC"/>
              </a:rPr>
              <a:t>“镁锂基电磁屏蔽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A870"/>
                </a:solidFill>
                <a:latin typeface="DM Sans"/>
                <a:ea typeface="Noto Sans SC"/>
              </a:rPr>
              <a:t>材料”</a:t>
            </a: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课题研究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2600" y="3376314"/>
            <a:ext cx="459779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阶段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2600" y="3528714"/>
            <a:ext cx="229195" cy="546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/>
                <a:ea typeface="Noto Sans SC Medium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600" y="4011314"/>
            <a:ext cx="8128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/>
                <a:ea typeface="Noto Sans SC Medium"/>
              </a:rPr>
              <a:t>开启研究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600" y="4366914"/>
            <a:ext cx="5842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志同道合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2600" y="4692153"/>
            <a:ext cx="3225800" cy="5729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与一群志同道合的小伙伴，开启</a:t>
            </a:r>
            <a:r>
              <a:rPr sz="1000" b="0">
                <a:solidFill>
                  <a:srgbClr val="C8A870"/>
                </a:solidFill>
                <a:latin typeface="DM Sans"/>
                <a:ea typeface="Noto Sans SC"/>
              </a:rPr>
              <a:t>镁锂合金材料综合性能提</a:t>
            </a: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A870"/>
                </a:solidFill>
                <a:latin typeface="DM Sans"/>
                <a:ea typeface="Noto Sans SC"/>
              </a:rPr>
              <a:t>升</a:t>
            </a:r>
            <a:r>
              <a:rPr sz="1000" b="0">
                <a:solidFill>
                  <a:srgbClr val="8A96A8"/>
                </a:solidFill>
                <a:latin typeface="DM Sans"/>
                <a:ea typeface="Noto Sans SC"/>
              </a:rPr>
              <a:t>的研究之路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24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11635"/>
            <a:ext cx="37338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并肩同行，共赢的力量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223"/>
            <a:ext cx="1562100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学习与科创，是相辅相成的两翼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0178"/>
            <a:ext cx="461674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030"/>
                </a:solidFill>
                <a:latin typeface="Cambria"/>
                <a:ea typeface="Noto Sans SC Medium"/>
              </a:rPr>
              <a:t>团队行稳致远的三个关键词：</a:t>
            </a:r>
            <a:r>
              <a:rPr sz="1600" b="0">
                <a:solidFill>
                  <a:srgbClr val="C8A870"/>
                </a:solidFill>
                <a:latin typeface="Cambria"/>
                <a:ea typeface="Noto Sans SC Medium"/>
              </a:rPr>
              <a:t>协作 · 传承 · 学业基石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01839"/>
            <a:ext cx="787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/>
                <a:ea typeface="Noto Sans SC Medium"/>
              </a:rPr>
              <a:t>协作共赢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97709"/>
            <a:ext cx="3733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团队成员各展所长，从材料选择、复合制备到性能检验环环推进。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9200" y="3601839"/>
            <a:ext cx="603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/>
                <a:ea typeface="Noto Sans SC Medium"/>
              </a:rPr>
              <a:t>传帮带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9200" y="3897709"/>
            <a:ext cx="297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师兄师姐传帮带，师生接力把课题一步步做深做实。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8189"/>
            <a:ext cx="787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/>
                <a:ea typeface="Noto Sans SC Medium"/>
              </a:rPr>
              <a:t>代工合作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4060"/>
            <a:ext cx="5003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郭政佑牵头达成代工合作协议，实现超薄箔材的产业化成形验证，同多家企业密切合作。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4408189"/>
            <a:ext cx="787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/>
                <a:ea typeface="Noto Sans SC Medium"/>
              </a:rPr>
              <a:t>学业基石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9200" y="4704060"/>
            <a:ext cx="29718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/>
              </a:rPr>
              <a:t>团队一直坚信：好的学习成绩是科创道路上的基石。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35684"/>
            <a:ext cx="3098800" cy="857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/>
                <a:ea typeface="Noto Sans SC Medium"/>
              </a:rPr>
              <a:t>历程与启示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/>
              </a:rPr>
              <a:t>从起点到诞生，是持续迭代的成果</a:t>
            </a: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/>
              </a:rPr>
              <a:t>致敬每一位并肩前行的追光者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lide26_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2451596"/>
            <a:ext cx="3162300" cy="2268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历程与启示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26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45902"/>
            <a:ext cx="44704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/>
                <a:ea typeface="Noto Sans SC Medium"/>
              </a:rPr>
              <a:t>发展历程：从课堂到领奖台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50" y="1893490"/>
            <a:ext cx="2478186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2022 年 8 月—2023 年 5 月集中实验，探索约三年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3800" y="2369046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01　课堂起点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2534146"/>
            <a:ext cx="4844752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郭政佑大二在专业导论课初识镁锂合金，随后加入巫瑞智教授“镁锂基电磁屏蔽材料”课题组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3800" y="2950567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02　功能攻关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3115667"/>
            <a:ext cx="22225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反复实验五次，得到理想的多维平行界面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800" y="3532088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03　配方探索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" y="3697188"/>
            <a:ext cx="4416921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先后尝试超过 15 种合金元素配比；比例不当时成形性不足，累积叠轧“一轧就断裂”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3800" y="4113609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04　参数攻坚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3800" y="4278709"/>
            <a:ext cx="56007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不断调整叠轧温度、优化单次压下量；因实验强度大、初期参数不当，报废过一台电源、两台磁力搅拌器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3800" y="4695130"/>
            <a:ext cx="7015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05　材料诞生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800" y="4860230"/>
            <a:ext cx="4152900" cy="1882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9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270"/>
                </a:solidFill>
                <a:latin typeface="DM Sans"/>
                <a:ea typeface="Noto Sans SC"/>
              </a:rPr>
              <a:t>集超轻、高强韧、高电磁屏蔽性于一体的多功能镁锂基复合材料在实验室诞生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5600" y="4872037"/>
            <a:ext cx="2562423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/>
              </a:rPr>
              <a:t>▲ 实验攻坚中报废的电源与制备的箔材（原稿素材）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600" y="5309492"/>
            <a:ext cx="2744589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030"/>
                </a:solidFill>
                <a:latin typeface="Cambria"/>
                <a:ea typeface="Noto Sans SC Medium"/>
              </a:rPr>
              <a:t>“从起点到诞生，是持续迭代的成果。”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/>
              </a:rPr>
              <a:t>历程与启示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27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1067"/>
            <a:ext cx="189230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11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/>
                <a:ea typeface="Noto Sans SC Medium"/>
              </a:rPr>
              <a:t>总结与启示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8655"/>
            <a:ext cx="3584078" cy="1711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/>
              </a:rPr>
              <a:t>项目成功的关键因素 · 对大学生科创团队建设的启示（依据原稿内容整理）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6910"/>
            <a:ext cx="978991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项目成功的关键因素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00" y="3148210"/>
            <a:ext cx="31178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兴趣驱动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从一堂专业导论课出发，兴趣是最强引擎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3467100"/>
            <a:ext cx="43180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名师领航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巫瑞智教授团队与超轻材料与表面技术教育部重点实验室支撑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3785989"/>
            <a:ext cx="44513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分工协作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机理研究、成分设计、成形复合、表征测试、成果整理环环相扣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4104878"/>
            <a:ext cx="36512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迭代攻坚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五次修整、十五种配比，报废设备仍坚持迭代改进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2906910"/>
            <a:ext cx="118516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/>
              </a:rPr>
              <a:t>对大学生科创团队的启示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148210"/>
            <a:ext cx="39179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学业为基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学习与科创相辅相成，好的学习成绩是科创道路的基石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467100"/>
            <a:ext cx="365125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传帮带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师兄师姐传帮带、师生接力，把课题一步步做深做实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785989"/>
            <a:ext cx="35179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需求牵引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面向真实需求选题，成果才能从实验室走向产业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104878"/>
            <a:ext cx="3784600" cy="2054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1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/>
              </a:rPr>
              <a:t>坚持迭代</a:t>
            </a:r>
            <a:r>
              <a:rPr sz="1050" b="0">
                <a:solidFill>
                  <a:srgbClr val="8A96A8"/>
                </a:solidFill>
                <a:latin typeface="DM Sans"/>
                <a:ea typeface="Noto Sans SC"/>
              </a:rPr>
              <a:t>　明确分工＋长期坚持，让想法一步步变成特等奖成果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8100" y="4760317"/>
            <a:ext cx="4495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/>
                <a:ea typeface="Noto Sans SC Medium"/>
              </a:rPr>
              <a:t>御磁坚盾：以材料之韧守护科技之梦，点亮青年创新之光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第十八届挑战杯 · 主体赛特等奖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25414"/>
            <a:ext cx="833139" cy="21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220">
                <a:solidFill>
                  <a:srgbClr val="C8A870"/>
                </a:solidFill>
                <a:latin typeface="IBM Plex Mono Medium"/>
                <a:ea typeface="Noto Sans SC Medium"/>
              </a:rP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3264"/>
            <a:ext cx="7734300" cy="984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500" b="1">
                <a:solidFill>
                  <a:srgbClr val="E2DCD0"/>
                </a:solidFill>
                <a:latin typeface="Cambria"/>
                <a:ea typeface="Noto Sans SC"/>
              </a:rPr>
              <a:t>致敬每一位</a:t>
            </a:r>
            <a:r>
              <a:rPr sz="5500" b="1">
                <a:solidFill>
                  <a:srgbClr val="C8A870"/>
                </a:solidFill>
                <a:latin typeface="Cambria"/>
                <a:ea typeface="Noto Sans SC"/>
              </a:rPr>
              <a:t>追光</a:t>
            </a:r>
            <a:r>
              <a:rPr sz="5500" b="1">
                <a:solidFill>
                  <a:srgbClr val="E2DCD0"/>
                </a:solidFill>
                <a:latin typeface="Cambria"/>
                <a:ea typeface="Noto Sans SC"/>
              </a:rPr>
              <a:t>的科创人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80185"/>
            <a:ext cx="2678707" cy="1454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/>
              </a:rPr>
              <a:t>御磁坚盾　·　第十八届挑战杯　·　2026 / 10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